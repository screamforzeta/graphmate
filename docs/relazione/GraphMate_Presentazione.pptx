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0"/>
  </p:notesMasterIdLst>
  <p:sldIdLst>
    <p:sldId id="256" r:id="rId2"/>
    <p:sldId id="303" r:id="rId3"/>
    <p:sldId id="258" r:id="rId4"/>
    <p:sldId id="304" r:id="rId5"/>
    <p:sldId id="305" r:id="rId6"/>
    <p:sldId id="307" r:id="rId7"/>
    <p:sldId id="262" r:id="rId8"/>
    <p:sldId id="309" r:id="rId9"/>
    <p:sldId id="310" r:id="rId10"/>
    <p:sldId id="264" r:id="rId11"/>
    <p:sldId id="311" r:id="rId12"/>
    <p:sldId id="312" r:id="rId13"/>
    <p:sldId id="313" r:id="rId14"/>
    <p:sldId id="314" r:id="rId15"/>
    <p:sldId id="269" r:id="rId16"/>
    <p:sldId id="270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273" r:id="rId26"/>
    <p:sldId id="274" r:id="rId27"/>
    <p:sldId id="325" r:id="rId28"/>
    <p:sldId id="326" r:id="rId29"/>
    <p:sldId id="275" r:id="rId30"/>
    <p:sldId id="327" r:id="rId31"/>
    <p:sldId id="276" r:id="rId32"/>
    <p:sldId id="328" r:id="rId33"/>
    <p:sldId id="329" r:id="rId34"/>
    <p:sldId id="277" r:id="rId35"/>
    <p:sldId id="330" r:id="rId36"/>
    <p:sldId id="331" r:id="rId37"/>
    <p:sldId id="332" r:id="rId38"/>
    <p:sldId id="279" r:id="rId39"/>
    <p:sldId id="333" r:id="rId40"/>
    <p:sldId id="334" r:id="rId41"/>
    <p:sldId id="335" r:id="rId42"/>
    <p:sldId id="336" r:id="rId43"/>
    <p:sldId id="337" r:id="rId44"/>
    <p:sldId id="282" r:id="rId45"/>
    <p:sldId id="283" r:id="rId46"/>
    <p:sldId id="284" r:id="rId47"/>
    <p:sldId id="285" r:id="rId48"/>
    <p:sldId id="286" r:id="rId49"/>
    <p:sldId id="287" r:id="rId50"/>
    <p:sldId id="338" r:id="rId51"/>
    <p:sldId id="288" r:id="rId52"/>
    <p:sldId id="339" r:id="rId53"/>
    <p:sldId id="340" r:id="rId54"/>
    <p:sldId id="341" r:id="rId55"/>
    <p:sldId id="342" r:id="rId56"/>
    <p:sldId id="289" r:id="rId57"/>
    <p:sldId id="290" r:id="rId58"/>
    <p:sldId id="343" r:id="rId59"/>
    <p:sldId id="344" r:id="rId60"/>
    <p:sldId id="294" r:id="rId61"/>
    <p:sldId id="345" r:id="rId62"/>
    <p:sldId id="346" r:id="rId63"/>
    <p:sldId id="348" r:id="rId64"/>
    <p:sldId id="257" r:id="rId65"/>
    <p:sldId id="296" r:id="rId66"/>
    <p:sldId id="297" r:id="rId67"/>
    <p:sldId id="350" r:id="rId68"/>
    <p:sldId id="352" r:id="rId69"/>
  </p:sldIdLst>
  <p:sldSz cx="12192000" cy="6858000"/>
  <p:notesSz cx="6858000" cy="9144000"/>
  <p:defaultTextStyle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5102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Zappavigna" userId="71f595ae-65eb-4974-baca-71e7ba628940" providerId="ADAL" clId="{75131A81-6BD0-4AAB-9C4C-468E8C3EE93D}"/>
    <pc:docChg chg="undo custSel addSld delSld modSld sldOrd">
      <pc:chgData name="Alessandro Zappavigna" userId="71f595ae-65eb-4974-baca-71e7ba628940" providerId="ADAL" clId="{75131A81-6BD0-4AAB-9C4C-468E8C3EE93D}" dt="2026-10-17T07:16:02.263" v="427" actId="1076"/>
      <pc:docMkLst>
        <pc:docMk/>
      </pc:docMkLst>
      <pc:sldChg chg="delSp modSp mod">
        <pc:chgData name="Alessandro Zappavigna" userId="71f595ae-65eb-4974-baca-71e7ba628940" providerId="ADAL" clId="{75131A81-6BD0-4AAB-9C4C-468E8C3EE93D}" dt="2026-10-14T20:45:26.154" v="364" actId="1076"/>
        <pc:sldMkLst>
          <pc:docMk/>
          <pc:sldMk cId="0" sldId="256"/>
        </pc:sldMkLst>
        <pc:spChg chg="mod">
          <ac:chgData name="Alessandro Zappavigna" userId="71f595ae-65eb-4974-baca-71e7ba628940" providerId="ADAL" clId="{75131A81-6BD0-4AAB-9C4C-468E8C3EE93D}" dt="2026-10-14T18:53:29.995" v="0" actId="123"/>
          <ac:spMkLst>
            <pc:docMk/>
            <pc:sldMk cId="0" sldId="256"/>
            <ac:spMk id="3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45:26.154" v="364" actId="1076"/>
          <ac:spMkLst>
            <pc:docMk/>
            <pc:sldMk cId="0" sldId="256"/>
            <ac:spMk id="38" creationId="{00000000-0000-0000-0000-000000000000}"/>
          </ac:spMkLst>
        </pc:spChg>
      </pc:sldChg>
      <pc:sldChg chg="delSp mod">
        <pc:chgData name="Alessandro Zappavigna" userId="71f595ae-65eb-4974-baca-71e7ba628940" providerId="ADAL" clId="{75131A81-6BD0-4AAB-9C4C-468E8C3EE93D}" dt="2026-10-14T20:49:58.514" v="423" actId="478"/>
        <pc:sldMkLst>
          <pc:docMk/>
          <pc:sldMk cId="0" sldId="257"/>
        </pc:sldMkLst>
      </pc:sldChg>
      <pc:sldChg chg="delSp modSp mod">
        <pc:chgData name="Alessandro Zappavigna" userId="71f595ae-65eb-4974-baca-71e7ba628940" providerId="ADAL" clId="{75131A81-6BD0-4AAB-9C4C-468E8C3EE93D}" dt="2026-10-14T20:45:41.917" v="367" actId="478"/>
        <pc:sldMkLst>
          <pc:docMk/>
          <pc:sldMk cId="0" sldId="258"/>
        </pc:sldMkLst>
      </pc:sldChg>
      <pc:sldChg chg="delSp mod">
        <pc:chgData name="Alessandro Zappavigna" userId="71f595ae-65eb-4974-baca-71e7ba628940" providerId="ADAL" clId="{75131A81-6BD0-4AAB-9C4C-468E8C3EE93D}" dt="2026-10-14T20:46:11.736" v="370" actId="478"/>
        <pc:sldMkLst>
          <pc:docMk/>
          <pc:sldMk cId="0" sldId="262"/>
        </pc:sldMkLst>
      </pc:sldChg>
      <pc:sldChg chg="addSp delSp mod">
        <pc:chgData name="Alessandro Zappavigna" userId="71f595ae-65eb-4974-baca-71e7ba628940" providerId="ADAL" clId="{75131A81-6BD0-4AAB-9C4C-468E8C3EE93D}" dt="2026-10-14T20:46:22.349" v="373" actId="478"/>
        <pc:sldMkLst>
          <pc:docMk/>
          <pc:sldMk cId="0" sldId="264"/>
        </pc:sldMkLst>
      </pc:sldChg>
      <pc:sldChg chg="delSp modSp mod">
        <pc:chgData name="Alessandro Zappavigna" userId="71f595ae-65eb-4974-baca-71e7ba628940" providerId="ADAL" clId="{75131A81-6BD0-4AAB-9C4C-468E8C3EE93D}" dt="2026-10-14T20:46:55.627" v="378" actId="478"/>
        <pc:sldMkLst>
          <pc:docMk/>
          <pc:sldMk cId="0" sldId="269"/>
        </pc:sldMkLst>
        <pc:spChg chg="mod">
          <ac:chgData name="Alessandro Zappavigna" userId="71f595ae-65eb-4974-baca-71e7ba628940" providerId="ADAL" clId="{75131A81-6BD0-4AAB-9C4C-468E8C3EE93D}" dt="2026-10-14T20:12:19.925" v="105"/>
          <ac:spMkLst>
            <pc:docMk/>
            <pc:sldMk cId="0" sldId="269"/>
            <ac:spMk id="3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12:19.925" v="105"/>
          <ac:spMkLst>
            <pc:docMk/>
            <pc:sldMk cId="0" sldId="269"/>
            <ac:spMk id="4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12:19.925" v="105"/>
          <ac:spMkLst>
            <pc:docMk/>
            <pc:sldMk cId="0" sldId="269"/>
            <ac:spMk id="5" creationId="{00000000-0000-0000-0000-000000000000}"/>
          </ac:spMkLst>
        </pc:spChg>
      </pc:sldChg>
      <pc:sldChg chg="delSp modSp mod">
        <pc:chgData name="Alessandro Zappavigna" userId="71f595ae-65eb-4974-baca-71e7ba628940" providerId="ADAL" clId="{75131A81-6BD0-4AAB-9C4C-468E8C3EE93D}" dt="2026-10-14T20:46:59.579" v="379" actId="478"/>
        <pc:sldMkLst>
          <pc:docMk/>
          <pc:sldMk cId="0" sldId="270"/>
        </pc:sldMkLst>
        <pc:spChg chg="mod">
          <ac:chgData name="Alessandro Zappavigna" userId="71f595ae-65eb-4974-baca-71e7ba628940" providerId="ADAL" clId="{75131A81-6BD0-4AAB-9C4C-468E8C3EE93D}" dt="2026-10-14T20:12:19.925" v="105"/>
          <ac:spMkLst>
            <pc:docMk/>
            <pc:sldMk cId="0" sldId="270"/>
            <ac:spMk id="5" creationId="{00000000-0000-0000-0000-000000000000}"/>
          </ac:spMkLst>
        </pc:spChg>
      </pc:sldChg>
      <pc:sldChg chg="delSp modSp mod">
        <pc:chgData name="Alessandro Zappavigna" userId="71f595ae-65eb-4974-baca-71e7ba628940" providerId="ADAL" clId="{75131A81-6BD0-4AAB-9C4C-468E8C3EE93D}" dt="2026-10-14T20:47:27.214" v="387" actId="478"/>
        <pc:sldMkLst>
          <pc:docMk/>
          <pc:sldMk cId="0" sldId="273"/>
        </pc:sldMkLst>
        <pc:spChg chg="mod">
          <ac:chgData name="Alessandro Zappavigna" userId="71f595ae-65eb-4974-baca-71e7ba628940" providerId="ADAL" clId="{75131A81-6BD0-4AAB-9C4C-468E8C3EE93D}" dt="2026-10-14T20:24:54.904" v="227" actId="1076"/>
          <ac:spMkLst>
            <pc:docMk/>
            <pc:sldMk cId="0" sldId="273"/>
            <ac:spMk id="2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26:38.514" v="260" actId="1076"/>
          <ac:spMkLst>
            <pc:docMk/>
            <pc:sldMk cId="0" sldId="273"/>
            <ac:spMk id="25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25:43.521" v="240" actId="1076"/>
          <ac:spMkLst>
            <pc:docMk/>
            <pc:sldMk cId="0" sldId="273"/>
            <ac:spMk id="27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25:47.572" v="241" actId="1076"/>
          <ac:spMkLst>
            <pc:docMk/>
            <pc:sldMk cId="0" sldId="273"/>
            <ac:spMk id="28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26:32.443" v="259" actId="20577"/>
          <ac:spMkLst>
            <pc:docMk/>
            <pc:sldMk cId="0" sldId="273"/>
            <ac:spMk id="29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24:50.741" v="225" actId="1076"/>
          <ac:spMkLst>
            <pc:docMk/>
            <pc:sldMk cId="0" sldId="273"/>
            <ac:spMk id="33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25:15.234" v="233" actId="1076"/>
          <ac:spMkLst>
            <pc:docMk/>
            <pc:sldMk cId="0" sldId="273"/>
            <ac:spMk id="34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25:24.161" v="234" actId="1076"/>
          <ac:spMkLst>
            <pc:docMk/>
            <pc:sldMk cId="0" sldId="273"/>
            <ac:spMk id="35" creationId="{00000000-0000-0000-0000-000000000000}"/>
          </ac:spMkLst>
        </pc:spChg>
      </pc:sldChg>
      <pc:sldChg chg="delSp mod">
        <pc:chgData name="Alessandro Zappavigna" userId="71f595ae-65eb-4974-baca-71e7ba628940" providerId="ADAL" clId="{75131A81-6BD0-4AAB-9C4C-468E8C3EE93D}" dt="2026-10-14T20:47:30.442" v="388" actId="478"/>
        <pc:sldMkLst>
          <pc:docMk/>
          <pc:sldMk cId="0" sldId="274"/>
        </pc:sldMkLst>
      </pc:sldChg>
      <pc:sldChg chg="delSp modSp mod">
        <pc:chgData name="Alessandro Zappavigna" userId="71f595ae-65eb-4974-baca-71e7ba628940" providerId="ADAL" clId="{75131A81-6BD0-4AAB-9C4C-468E8C3EE93D}" dt="2026-10-14T20:48:22.985" v="391" actId="478"/>
        <pc:sldMkLst>
          <pc:docMk/>
          <pc:sldMk cId="0" sldId="275"/>
        </pc:sldMkLst>
        <pc:spChg chg="mod">
          <ac:chgData name="Alessandro Zappavigna" userId="71f595ae-65eb-4974-baca-71e7ba628940" providerId="ADAL" clId="{75131A81-6BD0-4AAB-9C4C-468E8C3EE93D}" dt="2026-10-14T20:28:06.116" v="263" actId="1076"/>
          <ac:spMkLst>
            <pc:docMk/>
            <pc:sldMk cId="0" sldId="275"/>
            <ac:spMk id="26" creationId="{00000000-0000-0000-0000-000000000000}"/>
          </ac:spMkLst>
        </pc:spChg>
      </pc:sldChg>
      <pc:sldChg chg="delSp modSp mod">
        <pc:chgData name="Alessandro Zappavigna" userId="71f595ae-65eb-4974-baca-71e7ba628940" providerId="ADAL" clId="{75131A81-6BD0-4AAB-9C4C-468E8C3EE93D}" dt="2026-10-14T20:48:29.536" v="393" actId="478"/>
        <pc:sldMkLst>
          <pc:docMk/>
          <pc:sldMk cId="0" sldId="276"/>
        </pc:sldMkLst>
        <pc:spChg chg="mod">
          <ac:chgData name="Alessandro Zappavigna" userId="71f595ae-65eb-4974-baca-71e7ba628940" providerId="ADAL" clId="{75131A81-6BD0-4AAB-9C4C-468E8C3EE93D}" dt="2026-10-14T20:12:25.378" v="106"/>
          <ac:spMkLst>
            <pc:docMk/>
            <pc:sldMk cId="0" sldId="276"/>
            <ac:spMk id="9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12:25.378" v="106"/>
          <ac:spMkLst>
            <pc:docMk/>
            <pc:sldMk cId="0" sldId="276"/>
            <ac:spMk id="12" creationId="{00000000-0000-0000-0000-000000000000}"/>
          </ac:spMkLst>
        </pc:spChg>
      </pc:sldChg>
      <pc:sldChg chg="delSp mod">
        <pc:chgData name="Alessandro Zappavigna" userId="71f595ae-65eb-4974-baca-71e7ba628940" providerId="ADAL" clId="{75131A81-6BD0-4AAB-9C4C-468E8C3EE93D}" dt="2026-10-14T20:48:37.723" v="396" actId="478"/>
        <pc:sldMkLst>
          <pc:docMk/>
          <pc:sldMk cId="0" sldId="277"/>
        </pc:sldMkLst>
      </pc:sldChg>
      <pc:sldChg chg="delSp modSp mod">
        <pc:chgData name="Alessandro Zappavigna" userId="71f595ae-65eb-4974-baca-71e7ba628940" providerId="ADAL" clId="{75131A81-6BD0-4AAB-9C4C-468E8C3EE93D}" dt="2026-10-14T20:48:49.041" v="400" actId="478"/>
        <pc:sldMkLst>
          <pc:docMk/>
          <pc:sldMk cId="0" sldId="279"/>
        </pc:sldMkLst>
        <pc:spChg chg="mod">
          <ac:chgData name="Alessandro Zappavigna" userId="71f595ae-65eb-4974-baca-71e7ba628940" providerId="ADAL" clId="{75131A81-6BD0-4AAB-9C4C-468E8C3EE93D}" dt="2026-10-14T20:33:16.606" v="287" actId="1076"/>
          <ac:spMkLst>
            <pc:docMk/>
            <pc:sldMk cId="0" sldId="279"/>
            <ac:spMk id="13" creationId="{00000000-0000-0000-0000-000000000000}"/>
          </ac:spMkLst>
        </pc:spChg>
      </pc:sldChg>
      <pc:sldChg chg="delSp mod">
        <pc:chgData name="Alessandro Zappavigna" userId="71f595ae-65eb-4974-baca-71e7ba628940" providerId="ADAL" clId="{75131A81-6BD0-4AAB-9C4C-468E8C3EE93D}" dt="2026-10-14T20:49:04.440" v="405" actId="478"/>
        <pc:sldMkLst>
          <pc:docMk/>
          <pc:sldMk cId="0" sldId="282"/>
        </pc:sldMkLst>
      </pc:sldChg>
      <pc:sldChg chg="delSp mod">
        <pc:chgData name="Alessandro Zappavigna" userId="71f595ae-65eb-4974-baca-71e7ba628940" providerId="ADAL" clId="{75131A81-6BD0-4AAB-9C4C-468E8C3EE93D}" dt="2026-10-14T20:49:07.037" v="406" actId="478"/>
        <pc:sldMkLst>
          <pc:docMk/>
          <pc:sldMk cId="0" sldId="283"/>
        </pc:sldMkLst>
      </pc:sldChg>
      <pc:sldChg chg="delSp mod ord">
        <pc:chgData name="Alessandro Zappavigna" userId="71f595ae-65eb-4974-baca-71e7ba628940" providerId="ADAL" clId="{75131A81-6BD0-4AAB-9C4C-468E8C3EE93D}" dt="2026-10-14T20:49:09.665" v="407" actId="478"/>
        <pc:sldMkLst>
          <pc:docMk/>
          <pc:sldMk cId="0" sldId="284"/>
        </pc:sldMkLst>
      </pc:sldChg>
      <pc:sldChg chg="delSp mod">
        <pc:chgData name="Alessandro Zappavigna" userId="71f595ae-65eb-4974-baca-71e7ba628940" providerId="ADAL" clId="{75131A81-6BD0-4AAB-9C4C-468E8C3EE93D}" dt="2026-10-14T20:49:12.115" v="408" actId="478"/>
        <pc:sldMkLst>
          <pc:docMk/>
          <pc:sldMk cId="0" sldId="285"/>
        </pc:sldMkLst>
      </pc:sldChg>
      <pc:sldChg chg="delSp mod">
        <pc:chgData name="Alessandro Zappavigna" userId="71f595ae-65eb-4974-baca-71e7ba628940" providerId="ADAL" clId="{75131A81-6BD0-4AAB-9C4C-468E8C3EE93D}" dt="2026-10-14T20:49:14.809" v="409" actId="478"/>
        <pc:sldMkLst>
          <pc:docMk/>
          <pc:sldMk cId="0" sldId="286"/>
        </pc:sldMkLst>
      </pc:sldChg>
      <pc:sldChg chg="delSp mod">
        <pc:chgData name="Alessandro Zappavigna" userId="71f595ae-65eb-4974-baca-71e7ba628940" providerId="ADAL" clId="{75131A81-6BD0-4AAB-9C4C-468E8C3EE93D}" dt="2026-10-14T20:49:17.896" v="410" actId="478"/>
        <pc:sldMkLst>
          <pc:docMk/>
          <pc:sldMk cId="0" sldId="287"/>
        </pc:sldMkLst>
      </pc:sldChg>
      <pc:sldChg chg="delSp mod">
        <pc:chgData name="Alessandro Zappavigna" userId="71f595ae-65eb-4974-baca-71e7ba628940" providerId="ADAL" clId="{75131A81-6BD0-4AAB-9C4C-468E8C3EE93D}" dt="2026-10-14T20:49:23.674" v="412" actId="478"/>
        <pc:sldMkLst>
          <pc:docMk/>
          <pc:sldMk cId="0" sldId="288"/>
        </pc:sldMkLst>
      </pc:sldChg>
      <pc:sldChg chg="delSp mod">
        <pc:chgData name="Alessandro Zappavigna" userId="71f595ae-65eb-4974-baca-71e7ba628940" providerId="ADAL" clId="{75131A81-6BD0-4AAB-9C4C-468E8C3EE93D}" dt="2026-10-14T20:49:39.184" v="417" actId="478"/>
        <pc:sldMkLst>
          <pc:docMk/>
          <pc:sldMk cId="0" sldId="289"/>
        </pc:sldMkLst>
      </pc:sldChg>
      <pc:sldChg chg="delSp mod">
        <pc:chgData name="Alessandro Zappavigna" userId="71f595ae-65eb-4974-baca-71e7ba628940" providerId="ADAL" clId="{75131A81-6BD0-4AAB-9C4C-468E8C3EE93D}" dt="2026-10-14T20:49:41.765" v="418" actId="478"/>
        <pc:sldMkLst>
          <pc:docMk/>
          <pc:sldMk cId="0" sldId="290"/>
        </pc:sldMkLst>
      </pc:sldChg>
      <pc:sldChg chg="delSp mod">
        <pc:chgData name="Alessandro Zappavigna" userId="71f595ae-65eb-4974-baca-71e7ba628940" providerId="ADAL" clId="{75131A81-6BD0-4AAB-9C4C-468E8C3EE93D}" dt="2026-10-14T20:49:47.756" v="420" actId="478"/>
        <pc:sldMkLst>
          <pc:docMk/>
          <pc:sldMk cId="0" sldId="294"/>
        </pc:sldMkLst>
      </pc:sldChg>
      <pc:sldChg chg="delSp mod">
        <pc:chgData name="Alessandro Zappavigna" userId="71f595ae-65eb-4974-baca-71e7ba628940" providerId="ADAL" clId="{75131A81-6BD0-4AAB-9C4C-468E8C3EE93D}" dt="2026-10-14T20:50:01.126" v="424" actId="478"/>
        <pc:sldMkLst>
          <pc:docMk/>
          <pc:sldMk cId="0" sldId="296"/>
        </pc:sldMkLst>
      </pc:sldChg>
      <pc:sldChg chg="delSp mod">
        <pc:chgData name="Alessandro Zappavigna" userId="71f595ae-65eb-4974-baca-71e7ba628940" providerId="ADAL" clId="{75131A81-6BD0-4AAB-9C4C-468E8C3EE93D}" dt="2026-10-14T20:50:03.969" v="425" actId="478"/>
        <pc:sldMkLst>
          <pc:docMk/>
          <pc:sldMk cId="0" sldId="297"/>
        </pc:sldMkLst>
      </pc:sldChg>
      <pc:sldChg chg="delSp mod">
        <pc:chgData name="Alessandro Zappavigna" userId="71f595ae-65eb-4974-baca-71e7ba628940" providerId="ADAL" clId="{75131A81-6BD0-4AAB-9C4C-468E8C3EE93D}" dt="2026-10-14T20:45:33.208" v="365" actId="478"/>
        <pc:sldMkLst>
          <pc:docMk/>
          <pc:sldMk cId="0" sldId="303"/>
        </pc:sldMkLst>
      </pc:sldChg>
      <pc:sldChg chg="delSp modSp mod">
        <pc:chgData name="Alessandro Zappavigna" userId="71f595ae-65eb-4974-baca-71e7ba628940" providerId="ADAL" clId="{75131A81-6BD0-4AAB-9C4C-468E8C3EE93D}" dt="2026-10-14T20:45:56.602" v="368" actId="478"/>
        <pc:sldMkLst>
          <pc:docMk/>
          <pc:sldMk cId="0" sldId="304"/>
        </pc:sldMkLst>
        <pc:spChg chg="mod">
          <ac:chgData name="Alessandro Zappavigna" userId="71f595ae-65eb-4974-baca-71e7ba628940" providerId="ADAL" clId="{75131A81-6BD0-4AAB-9C4C-468E8C3EE93D}" dt="2026-10-14T20:01:12.990" v="29" actId="20577"/>
          <ac:spMkLst>
            <pc:docMk/>
            <pc:sldMk cId="0" sldId="304"/>
            <ac:spMk id="10" creationId="{00000000-0000-0000-0000-000000000000}"/>
          </ac:spMkLst>
        </pc:spChg>
      </pc:sldChg>
      <pc:sldChg chg="delSp mod">
        <pc:chgData name="Alessandro Zappavigna" userId="71f595ae-65eb-4974-baca-71e7ba628940" providerId="ADAL" clId="{75131A81-6BD0-4AAB-9C4C-468E8C3EE93D}" dt="2026-10-14T20:45:59.725" v="369" actId="478"/>
        <pc:sldMkLst>
          <pc:docMk/>
          <pc:sldMk cId="0" sldId="305"/>
        </pc:sldMkLst>
      </pc:sldChg>
      <pc:sldChg chg="delSp mod">
        <pc:chgData name="Alessandro Zappavigna" userId="71f595ae-65eb-4974-baca-71e7ba628940" providerId="ADAL" clId="{75131A81-6BD0-4AAB-9C4C-468E8C3EE93D}" dt="2026-10-14T20:46:15.898" v="371" actId="478"/>
        <pc:sldMkLst>
          <pc:docMk/>
          <pc:sldMk cId="0" sldId="309"/>
        </pc:sldMkLst>
      </pc:sldChg>
      <pc:sldChg chg="delSp mod">
        <pc:chgData name="Alessandro Zappavigna" userId="71f595ae-65eb-4974-baca-71e7ba628940" providerId="ADAL" clId="{75131A81-6BD0-4AAB-9C4C-468E8C3EE93D}" dt="2026-10-14T20:46:18.737" v="372" actId="478"/>
        <pc:sldMkLst>
          <pc:docMk/>
          <pc:sldMk cId="0" sldId="310"/>
        </pc:sldMkLst>
      </pc:sldChg>
      <pc:sldChg chg="delSp modSp mod">
        <pc:chgData name="Alessandro Zappavigna" userId="71f595ae-65eb-4974-baca-71e7ba628940" providerId="ADAL" clId="{75131A81-6BD0-4AAB-9C4C-468E8C3EE93D}" dt="2026-10-14T20:46:25.451" v="374" actId="478"/>
        <pc:sldMkLst>
          <pc:docMk/>
          <pc:sldMk cId="0" sldId="312"/>
        </pc:sldMkLst>
        <pc:spChg chg="mod">
          <ac:chgData name="Alessandro Zappavigna" userId="71f595ae-65eb-4974-baca-71e7ba628940" providerId="ADAL" clId="{75131A81-6BD0-4AAB-9C4C-468E8C3EE93D}" dt="2026-10-14T20:12:19.925" v="105"/>
          <ac:spMkLst>
            <pc:docMk/>
            <pc:sldMk cId="0" sldId="312"/>
            <ac:spMk id="5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12:19.925" v="105"/>
          <ac:spMkLst>
            <pc:docMk/>
            <pc:sldMk cId="0" sldId="312"/>
            <ac:spMk id="10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12:25.378" v="106"/>
          <ac:spMkLst>
            <pc:docMk/>
            <pc:sldMk cId="0" sldId="312"/>
            <ac:spMk id="11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12:57.774" v="112" actId="20577"/>
          <ac:spMkLst>
            <pc:docMk/>
            <pc:sldMk cId="0" sldId="312"/>
            <ac:spMk id="15" creationId="{00000000-0000-0000-0000-000000000000}"/>
          </ac:spMkLst>
        </pc:spChg>
      </pc:sldChg>
      <pc:sldChg chg="delSp modSp mod">
        <pc:chgData name="Alessandro Zappavigna" userId="71f595ae-65eb-4974-baca-71e7ba628940" providerId="ADAL" clId="{75131A81-6BD0-4AAB-9C4C-468E8C3EE93D}" dt="2026-10-14T20:46:29.845" v="375" actId="478"/>
        <pc:sldMkLst>
          <pc:docMk/>
          <pc:sldMk cId="0" sldId="313"/>
        </pc:sldMkLst>
        <pc:spChg chg="mod">
          <ac:chgData name="Alessandro Zappavigna" userId="71f595ae-65eb-4974-baca-71e7ba628940" providerId="ADAL" clId="{75131A81-6BD0-4AAB-9C4C-468E8C3EE93D}" dt="2026-10-14T20:12:19.925" v="105"/>
          <ac:spMkLst>
            <pc:docMk/>
            <pc:sldMk cId="0" sldId="313"/>
            <ac:spMk id="5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12:19.925" v="105"/>
          <ac:spMkLst>
            <pc:docMk/>
            <pc:sldMk cId="0" sldId="313"/>
            <ac:spMk id="11" creationId="{00000000-0000-0000-0000-000000000000}"/>
          </ac:spMkLst>
        </pc:spChg>
      </pc:sldChg>
      <pc:sldChg chg="delSp modSp mod">
        <pc:chgData name="Alessandro Zappavigna" userId="71f595ae-65eb-4974-baca-71e7ba628940" providerId="ADAL" clId="{75131A81-6BD0-4AAB-9C4C-468E8C3EE93D}" dt="2026-10-14T20:46:49.308" v="376" actId="478"/>
        <pc:sldMkLst>
          <pc:docMk/>
          <pc:sldMk cId="0" sldId="314"/>
        </pc:sldMkLst>
        <pc:spChg chg="mod">
          <ac:chgData name="Alessandro Zappavigna" userId="71f595ae-65eb-4974-baca-71e7ba628940" providerId="ADAL" clId="{75131A81-6BD0-4AAB-9C4C-468E8C3EE93D}" dt="2026-10-14T20:12:25.378" v="106"/>
          <ac:spMkLst>
            <pc:docMk/>
            <pc:sldMk cId="0" sldId="314"/>
            <ac:spMk id="4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12:25.378" v="106"/>
          <ac:spMkLst>
            <pc:docMk/>
            <pc:sldMk cId="0" sldId="314"/>
            <ac:spMk id="5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12:25.378" v="106"/>
          <ac:spMkLst>
            <pc:docMk/>
            <pc:sldMk cId="0" sldId="314"/>
            <ac:spMk id="11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12:25.378" v="106"/>
          <ac:spMkLst>
            <pc:docMk/>
            <pc:sldMk cId="0" sldId="314"/>
            <ac:spMk id="16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12:25.378" v="106"/>
          <ac:spMkLst>
            <pc:docMk/>
            <pc:sldMk cId="0" sldId="314"/>
            <ac:spMk id="21" creationId="{00000000-0000-0000-0000-000000000000}"/>
          </ac:spMkLst>
        </pc:spChg>
      </pc:sldChg>
      <pc:sldChg chg="delSp modSp mod">
        <pc:chgData name="Alessandro Zappavigna" userId="71f595ae-65eb-4974-baca-71e7ba628940" providerId="ADAL" clId="{75131A81-6BD0-4AAB-9C4C-468E8C3EE93D}" dt="2026-10-14T20:47:03.022" v="380" actId="478"/>
        <pc:sldMkLst>
          <pc:docMk/>
          <pc:sldMk cId="0" sldId="316"/>
        </pc:sldMkLst>
        <pc:spChg chg="mod">
          <ac:chgData name="Alessandro Zappavigna" userId="71f595ae-65eb-4974-baca-71e7ba628940" providerId="ADAL" clId="{75131A81-6BD0-4AAB-9C4C-468E8C3EE93D}" dt="2026-10-14T20:20:11.781" v="219" actId="1036"/>
          <ac:spMkLst>
            <pc:docMk/>
            <pc:sldMk cId="0" sldId="316"/>
            <ac:spMk id="2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20:00.314" v="217" actId="20577"/>
          <ac:spMkLst>
            <pc:docMk/>
            <pc:sldMk cId="0" sldId="316"/>
            <ac:spMk id="4" creationId="{00000000-0000-0000-0000-000000000000}"/>
          </ac:spMkLst>
        </pc:spChg>
      </pc:sldChg>
      <pc:sldChg chg="delSp modSp mod">
        <pc:chgData name="Alessandro Zappavigna" userId="71f595ae-65eb-4974-baca-71e7ba628940" providerId="ADAL" clId="{75131A81-6BD0-4AAB-9C4C-468E8C3EE93D}" dt="2026-10-17T07:16:02.263" v="427" actId="1076"/>
        <pc:sldMkLst>
          <pc:docMk/>
          <pc:sldMk cId="0" sldId="317"/>
        </pc:sldMkLst>
        <pc:spChg chg="mod">
          <ac:chgData name="Alessandro Zappavigna" userId="71f595ae-65eb-4974-baca-71e7ba628940" providerId="ADAL" clId="{75131A81-6BD0-4AAB-9C4C-468E8C3EE93D}" dt="2026-10-17T07:16:02.263" v="427" actId="1076"/>
          <ac:spMkLst>
            <pc:docMk/>
            <pc:sldMk cId="0" sldId="317"/>
            <ac:spMk id="2" creationId="{00000000-0000-0000-0000-000000000000}"/>
          </ac:spMkLst>
        </pc:spChg>
      </pc:sldChg>
      <pc:sldChg chg="delSp mod">
        <pc:chgData name="Alessandro Zappavigna" userId="71f595ae-65eb-4974-baca-71e7ba628940" providerId="ADAL" clId="{75131A81-6BD0-4AAB-9C4C-468E8C3EE93D}" dt="2026-10-14T20:47:10.044" v="382" actId="478"/>
        <pc:sldMkLst>
          <pc:docMk/>
          <pc:sldMk cId="0" sldId="318"/>
        </pc:sldMkLst>
      </pc:sldChg>
      <pc:sldChg chg="delSp modSp mod">
        <pc:chgData name="Alessandro Zappavigna" userId="71f595ae-65eb-4974-baca-71e7ba628940" providerId="ADAL" clId="{75131A81-6BD0-4AAB-9C4C-468E8C3EE93D}" dt="2026-10-14T20:47:13.723" v="383" actId="478"/>
        <pc:sldMkLst>
          <pc:docMk/>
          <pc:sldMk cId="0" sldId="319"/>
        </pc:sldMkLst>
        <pc:spChg chg="mod">
          <ac:chgData name="Alessandro Zappavigna" userId="71f595ae-65eb-4974-baca-71e7ba628940" providerId="ADAL" clId="{75131A81-6BD0-4AAB-9C4C-468E8C3EE93D}" dt="2026-10-14T20:12:25.378" v="106"/>
          <ac:spMkLst>
            <pc:docMk/>
            <pc:sldMk cId="0" sldId="319"/>
            <ac:spMk id="5" creationId="{00000000-0000-0000-0000-000000000000}"/>
          </ac:spMkLst>
        </pc:spChg>
        <pc:spChg chg="mod">
          <ac:chgData name="Alessandro Zappavigna" userId="71f595ae-65eb-4974-baca-71e7ba628940" providerId="ADAL" clId="{75131A81-6BD0-4AAB-9C4C-468E8C3EE93D}" dt="2026-10-14T20:12:19.925" v="105"/>
          <ac:spMkLst>
            <pc:docMk/>
            <pc:sldMk cId="0" sldId="319"/>
            <ac:spMk id="15" creationId="{00000000-0000-0000-0000-000000000000}"/>
          </ac:spMkLst>
        </pc:spChg>
      </pc:sldChg>
      <pc:sldChg chg="delSp mod">
        <pc:chgData name="Alessandro Zappavigna" userId="71f595ae-65eb-4974-baca-71e7ba628940" providerId="ADAL" clId="{75131A81-6BD0-4AAB-9C4C-468E8C3EE93D}" dt="2026-10-14T20:47:17.293" v="384" actId="478"/>
        <pc:sldMkLst>
          <pc:docMk/>
          <pc:sldMk cId="0" sldId="320"/>
        </pc:sldMkLst>
      </pc:sldChg>
      <pc:sldChg chg="delSp mod">
        <pc:chgData name="Alessandro Zappavigna" userId="71f595ae-65eb-4974-baca-71e7ba628940" providerId="ADAL" clId="{75131A81-6BD0-4AAB-9C4C-468E8C3EE93D}" dt="2026-10-14T20:47:20.691" v="385" actId="478"/>
        <pc:sldMkLst>
          <pc:docMk/>
          <pc:sldMk cId="0" sldId="321"/>
        </pc:sldMkLst>
      </pc:sldChg>
      <pc:sldChg chg="delSp mod">
        <pc:chgData name="Alessandro Zappavigna" userId="71f595ae-65eb-4974-baca-71e7ba628940" providerId="ADAL" clId="{75131A81-6BD0-4AAB-9C4C-468E8C3EE93D}" dt="2026-10-14T20:47:23.559" v="386" actId="478"/>
        <pc:sldMkLst>
          <pc:docMk/>
          <pc:sldMk cId="0" sldId="322"/>
        </pc:sldMkLst>
      </pc:sldChg>
      <pc:sldChg chg="delSp mod">
        <pc:chgData name="Alessandro Zappavigna" userId="71f595ae-65eb-4974-baca-71e7ba628940" providerId="ADAL" clId="{75131A81-6BD0-4AAB-9C4C-468E8C3EE93D}" dt="2026-10-14T20:47:36.697" v="389" actId="478"/>
        <pc:sldMkLst>
          <pc:docMk/>
          <pc:sldMk cId="0" sldId="325"/>
        </pc:sldMkLst>
      </pc:sldChg>
      <pc:sldChg chg="delSp mod">
        <pc:chgData name="Alessandro Zappavigna" userId="71f595ae-65eb-4974-baca-71e7ba628940" providerId="ADAL" clId="{75131A81-6BD0-4AAB-9C4C-468E8C3EE93D}" dt="2026-10-14T20:47:40.089" v="390" actId="478"/>
        <pc:sldMkLst>
          <pc:docMk/>
          <pc:sldMk cId="0" sldId="326"/>
        </pc:sldMkLst>
      </pc:sldChg>
      <pc:sldChg chg="delSp mod">
        <pc:chgData name="Alessandro Zappavigna" userId="71f595ae-65eb-4974-baca-71e7ba628940" providerId="ADAL" clId="{75131A81-6BD0-4AAB-9C4C-468E8C3EE93D}" dt="2026-10-14T20:48:26.630" v="392" actId="478"/>
        <pc:sldMkLst>
          <pc:docMk/>
          <pc:sldMk cId="0" sldId="327"/>
        </pc:sldMkLst>
      </pc:sldChg>
      <pc:sldChg chg="delSp modSp mod">
        <pc:chgData name="Alessandro Zappavigna" userId="71f595ae-65eb-4974-baca-71e7ba628940" providerId="ADAL" clId="{75131A81-6BD0-4AAB-9C4C-468E8C3EE93D}" dt="2026-10-14T20:48:32.355" v="394" actId="478"/>
        <pc:sldMkLst>
          <pc:docMk/>
          <pc:sldMk cId="0" sldId="328"/>
        </pc:sldMkLst>
        <pc:spChg chg="mod">
          <ac:chgData name="Alessandro Zappavigna" userId="71f595ae-65eb-4974-baca-71e7ba628940" providerId="ADAL" clId="{75131A81-6BD0-4AAB-9C4C-468E8C3EE93D}" dt="2026-10-14T20:12:25.378" v="106"/>
          <ac:spMkLst>
            <pc:docMk/>
            <pc:sldMk cId="0" sldId="328"/>
            <ac:spMk id="15" creationId="{00000000-0000-0000-0000-000000000000}"/>
          </ac:spMkLst>
        </pc:spChg>
      </pc:sldChg>
      <pc:sldChg chg="delSp mod">
        <pc:chgData name="Alessandro Zappavigna" userId="71f595ae-65eb-4974-baca-71e7ba628940" providerId="ADAL" clId="{75131A81-6BD0-4AAB-9C4C-468E8C3EE93D}" dt="2026-10-14T20:48:35.109" v="395" actId="478"/>
        <pc:sldMkLst>
          <pc:docMk/>
          <pc:sldMk cId="0" sldId="329"/>
        </pc:sldMkLst>
      </pc:sldChg>
      <pc:sldChg chg="delSp mod">
        <pc:chgData name="Alessandro Zappavigna" userId="71f595ae-65eb-4974-baca-71e7ba628940" providerId="ADAL" clId="{75131A81-6BD0-4AAB-9C4C-468E8C3EE93D}" dt="2026-10-14T20:48:40.330" v="397" actId="478"/>
        <pc:sldMkLst>
          <pc:docMk/>
          <pc:sldMk cId="0" sldId="330"/>
        </pc:sldMkLst>
      </pc:sldChg>
      <pc:sldChg chg="addSp delSp modSp mod">
        <pc:chgData name="Alessandro Zappavigna" userId="71f595ae-65eb-4974-baca-71e7ba628940" providerId="ADAL" clId="{75131A81-6BD0-4AAB-9C4C-468E8C3EE93D}" dt="2026-10-14T20:48:43.010" v="398" actId="478"/>
        <pc:sldMkLst>
          <pc:docMk/>
          <pc:sldMk cId="0" sldId="331"/>
        </pc:sldMkLst>
      </pc:sldChg>
      <pc:sldChg chg="delSp mod">
        <pc:chgData name="Alessandro Zappavigna" userId="71f595ae-65eb-4974-baca-71e7ba628940" providerId="ADAL" clId="{75131A81-6BD0-4AAB-9C4C-468E8C3EE93D}" dt="2026-10-14T20:48:46.052" v="399" actId="478"/>
        <pc:sldMkLst>
          <pc:docMk/>
          <pc:sldMk cId="0" sldId="332"/>
        </pc:sldMkLst>
      </pc:sldChg>
      <pc:sldChg chg="delSp mod">
        <pc:chgData name="Alessandro Zappavigna" userId="71f595ae-65eb-4974-baca-71e7ba628940" providerId="ADAL" clId="{75131A81-6BD0-4AAB-9C4C-468E8C3EE93D}" dt="2026-10-14T20:48:52.366" v="401" actId="478"/>
        <pc:sldMkLst>
          <pc:docMk/>
          <pc:sldMk cId="0" sldId="333"/>
        </pc:sldMkLst>
      </pc:sldChg>
      <pc:sldChg chg="delSp mod">
        <pc:chgData name="Alessandro Zappavigna" userId="71f595ae-65eb-4974-baca-71e7ba628940" providerId="ADAL" clId="{75131A81-6BD0-4AAB-9C4C-468E8C3EE93D}" dt="2026-10-14T20:48:55.096" v="402" actId="478"/>
        <pc:sldMkLst>
          <pc:docMk/>
          <pc:sldMk cId="0" sldId="334"/>
        </pc:sldMkLst>
      </pc:sldChg>
      <pc:sldChg chg="delSp mod">
        <pc:chgData name="Alessandro Zappavigna" userId="71f595ae-65eb-4974-baca-71e7ba628940" providerId="ADAL" clId="{75131A81-6BD0-4AAB-9C4C-468E8C3EE93D}" dt="2026-10-14T20:48:57.806" v="403" actId="478"/>
        <pc:sldMkLst>
          <pc:docMk/>
          <pc:sldMk cId="0" sldId="335"/>
        </pc:sldMkLst>
      </pc:sldChg>
      <pc:sldChg chg="delSp mod">
        <pc:chgData name="Alessandro Zappavigna" userId="71f595ae-65eb-4974-baca-71e7ba628940" providerId="ADAL" clId="{75131A81-6BD0-4AAB-9C4C-468E8C3EE93D}" dt="2026-10-14T20:49:00.238" v="404" actId="478"/>
        <pc:sldMkLst>
          <pc:docMk/>
          <pc:sldMk cId="0" sldId="336"/>
        </pc:sldMkLst>
      </pc:sldChg>
      <pc:sldChg chg="delSp mod">
        <pc:chgData name="Alessandro Zappavigna" userId="71f595ae-65eb-4974-baca-71e7ba628940" providerId="ADAL" clId="{75131A81-6BD0-4AAB-9C4C-468E8C3EE93D}" dt="2026-10-14T20:49:21.010" v="411" actId="478"/>
        <pc:sldMkLst>
          <pc:docMk/>
          <pc:sldMk cId="0" sldId="338"/>
        </pc:sldMkLst>
      </pc:sldChg>
      <pc:sldChg chg="delSp mod">
        <pc:chgData name="Alessandro Zappavigna" userId="71f595ae-65eb-4974-baca-71e7ba628940" providerId="ADAL" clId="{75131A81-6BD0-4AAB-9C4C-468E8C3EE93D}" dt="2026-10-14T20:49:26.104" v="413" actId="478"/>
        <pc:sldMkLst>
          <pc:docMk/>
          <pc:sldMk cId="0" sldId="339"/>
        </pc:sldMkLst>
      </pc:sldChg>
      <pc:sldChg chg="delSp mod">
        <pc:chgData name="Alessandro Zappavigna" userId="71f595ae-65eb-4974-baca-71e7ba628940" providerId="ADAL" clId="{75131A81-6BD0-4AAB-9C4C-468E8C3EE93D}" dt="2026-10-14T20:49:28.937" v="414" actId="478"/>
        <pc:sldMkLst>
          <pc:docMk/>
          <pc:sldMk cId="0" sldId="340"/>
        </pc:sldMkLst>
      </pc:sldChg>
      <pc:sldChg chg="delSp mod">
        <pc:chgData name="Alessandro Zappavigna" userId="71f595ae-65eb-4974-baca-71e7ba628940" providerId="ADAL" clId="{75131A81-6BD0-4AAB-9C4C-468E8C3EE93D}" dt="2026-10-14T20:49:32.811" v="415" actId="478"/>
        <pc:sldMkLst>
          <pc:docMk/>
          <pc:sldMk cId="0" sldId="341"/>
        </pc:sldMkLst>
      </pc:sldChg>
      <pc:sldChg chg="delSp mod">
        <pc:chgData name="Alessandro Zappavigna" userId="71f595ae-65eb-4974-baca-71e7ba628940" providerId="ADAL" clId="{75131A81-6BD0-4AAB-9C4C-468E8C3EE93D}" dt="2026-10-14T20:49:35.777" v="416" actId="478"/>
        <pc:sldMkLst>
          <pc:docMk/>
          <pc:sldMk cId="0" sldId="342"/>
        </pc:sldMkLst>
      </pc:sldChg>
      <pc:sldChg chg="delSp mod">
        <pc:chgData name="Alessandro Zappavigna" userId="71f595ae-65eb-4974-baca-71e7ba628940" providerId="ADAL" clId="{75131A81-6BD0-4AAB-9C4C-468E8C3EE93D}" dt="2026-10-14T20:49:44.676" v="419" actId="478"/>
        <pc:sldMkLst>
          <pc:docMk/>
          <pc:sldMk cId="0" sldId="344"/>
        </pc:sldMkLst>
      </pc:sldChg>
      <pc:sldChg chg="delSp mod">
        <pc:chgData name="Alessandro Zappavigna" userId="71f595ae-65eb-4974-baca-71e7ba628940" providerId="ADAL" clId="{75131A81-6BD0-4AAB-9C4C-468E8C3EE93D}" dt="2026-10-14T20:49:50.475" v="421" actId="478"/>
        <pc:sldMkLst>
          <pc:docMk/>
          <pc:sldMk cId="0" sldId="345"/>
        </pc:sldMkLst>
      </pc:sldChg>
      <pc:sldChg chg="delSp mod">
        <pc:chgData name="Alessandro Zappavigna" userId="71f595ae-65eb-4974-baca-71e7ba628940" providerId="ADAL" clId="{75131A81-6BD0-4AAB-9C4C-468E8C3EE93D}" dt="2026-10-14T20:49:53.966" v="422" actId="478"/>
        <pc:sldMkLst>
          <pc:docMk/>
          <pc:sldMk cId="0" sldId="346"/>
        </pc:sldMkLst>
      </pc:sldChg>
      <pc:sldChg chg="delSp mod">
        <pc:chgData name="Alessandro Zappavigna" userId="71f595ae-65eb-4974-baca-71e7ba628940" providerId="ADAL" clId="{75131A81-6BD0-4AAB-9C4C-468E8C3EE93D}" dt="2026-10-14T20:50:06.444" v="426" actId="478"/>
        <pc:sldMkLst>
          <pc:docMk/>
          <pc:sldMk cId="0" sldId="350"/>
        </pc:sldMkLst>
      </pc:sldChg>
      <pc:sldChg chg="delSp mod">
        <pc:chgData name="Alessandro Zappavigna" userId="71f595ae-65eb-4974-baca-71e7ba628940" providerId="ADAL" clId="{75131A81-6BD0-4AAB-9C4C-468E8C3EE93D}" dt="2026-10-14T20:44:30.897" v="295" actId="478"/>
        <pc:sldMkLst>
          <pc:docMk/>
          <pc:sldMk cId="0" sldId="35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9441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Aprire con il problema: come trasformare una posizione scacchistica in una decisione apprendibile. Non anticipare i risultati.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Un puzzle richiede più che riconoscere pezzi: serve capire mosse consentite, attacchi, difese e conseguenze. Oggi prevediamo la prima mossa della soluzione, non tutta la variante.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Il database iniziale è sbilanciato: i puzzle più semplici sono molto più numerosi. Abbiamo filtrato il tema mate-in-1…5, applicato un tetto per profondità e usato campionamento ripetibile.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Illustrare il senso di train/validation/test e della vocabolarizzazione soltanto sul train. Sui 8620 test CSV, 10 mosse sono fuori vocabolario; gli esperimenti frozen usano N8610.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Descrivere ciascuna delle cinque relazioni: legal_move, attack, defend, pin, check_line. Sono canali distinti, e un arco può avere più canali veri.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Ribadire che side_to_move, is_check e contatori sono caratteristiche globali. Target, rating, MateDepth non vengono iniettati nelle feature di posizione per evitare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Presentare la genealogia: A → A1 (solo inferenza); A2 (mask durante training); A3 (candidate legali); B (timing su A3); A4 (valuta post-mossa le prime cinque di A3).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Model A e A1 condividono gli stessi pesi; A1 filtra illegali in inferenza, non è un nuovo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Model A2: applicare maschera di legalità durante addestramento e inferenza, assegnando punteggi bassi alle altre classi.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A3 costruisce una rappresentazione per ogni mossa legale e usa una loss listwise, quindi confronta candidate della stessa posizione.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B mantiene il legal candidate scoring di A3 e concatena una rappresentazione temporale appresa di 16 valori.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Spiegare che la Top5 A3 contiene il target nel 91,858% dei test, quindi ceiling. Dei 1256 errori A4, 701 retrieval e 555 reranking.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Confrontiamo Lichess, ablation temporale e un held-out esterno. Attenzione: YACPDB non è usato nel training e non ha timing per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Il grafico è un riepilogo: lo sviluppo A→A4 non è un solo training, ma una sequenza di esperimenti con scelte architetturali diverse.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Leggere questo grafico come supporto: legalità senza apprendimento strutturato A1, legal mask A2, candidate scoring A3. L’assenza di illegalità è importante ma non basta da sola.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La differenza A3−B è di 1,58 punti percentuali a favore del modello senza timing. Test McNemar applicato sulle stesse posizioni, senza generalizzare ai tempi umani.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A4 corregge 1652 errori di A3 e ne introduce 115: il guadagno deriva dall’effettiva rivalutazione delle mosse dopo averle applicate.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I risultati peggiorano con la profondità del matto e la difficoltà stimata; non usare i gruppi più piccoli come prove definitive.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Spiegare il percorso: FEN, prompt fisso, risposta libera, parser UCI rigoroso, verifica di legalità, controllo della mossa esatta. Qwen 4B e 9B hanno alti tassi di risposte non valide/illegali.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Evidenziare la pipeline held-out: 200 selezionate, 193 verificate con Popeye, differente distribuzione. B non applicabile perché manca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Non dire semplicemente che YACPDB è più difficile; test più profondo e di natura diversa produce significativo distribution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Questa è una rappresentazione schematica, non uno screenshot. È utile sostituirla con schermate autentiche della WebUI quando disponibili. Descrivere i due blocchi debugger e Play/Predict/Compare.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Questa slide delle tre scoperte è stata spostata nelle conclusioni. Leggere i risultati nel contesto del percorso sperimentale visto finora.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Rispondere direttamente: RQ1 B &gt; Qwen strict sul benchmark Lichess usato; RQ2 tempi sintetici non migliorano A3. Non generalizzare ad altre configurazioni.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per il relatore</a:t>
            </a:r>
          </a:p>
          <a:p>
            <a:r>
              <a:t>Concludere descrivendo limiti del timing sintetico, della previsione della sola prima mossa, delle differenti distribuzioni e del vincolo Top5 di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3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Box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42033"/>
          </a:solidFill>
          <a:ln>
            <a:noFill/>
          </a:ln>
        </p:spPr>
        <p:txBody>
          <a:bodyPr/>
          <a:lstStyle/>
          <a:p>
            <a:pPr algn="just"/>
            <a:endParaRPr lang="it-IT" dirty="0"/>
          </a:p>
        </p:txBody>
      </p:sp>
      <p:sp>
        <p:nvSpPr>
          <p:cNvPr id="4" name="Text 4"/>
          <p:cNvSpPr txBox="1"/>
          <p:nvPr/>
        </p:nvSpPr>
        <p:spPr>
          <a:xfrm>
            <a:off x="658368" y="5029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00" b="1">
                <a:solidFill>
                  <a:srgbClr val="35BDE7"/>
                </a:solidFill>
                <a:latin typeface="Aptos"/>
              </a:rPr>
              <a:t>GRAPHMATE</a:t>
            </a:r>
            <a:endParaRPr lang="it-IT" sz="1100"/>
          </a:p>
        </p:txBody>
      </p:sp>
      <p:sp>
        <p:nvSpPr>
          <p:cNvPr id="5" name="Text 5"/>
          <p:cNvSpPr txBox="1"/>
          <p:nvPr/>
        </p:nvSpPr>
        <p:spPr>
          <a:xfrm>
            <a:off x="658368" y="1234440"/>
            <a:ext cx="6400800" cy="23317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3400" b="1" dirty="0">
                <a:solidFill>
                  <a:srgbClr val="FFFFFF"/>
                </a:solidFill>
                <a:latin typeface="Aptos"/>
              </a:rPr>
              <a:t>Dalla scacchiera
al grafo. Dal grafo
alla mossa.</a:t>
            </a:r>
            <a:endParaRPr lang="it-IT" sz="3400" dirty="0"/>
          </a:p>
        </p:txBody>
      </p:sp>
      <p:sp>
        <p:nvSpPr>
          <p:cNvPr id="6" name="Text 6"/>
          <p:cNvSpPr txBox="1"/>
          <p:nvPr/>
        </p:nvSpPr>
        <p:spPr>
          <a:xfrm>
            <a:off x="685800" y="3977639"/>
            <a:ext cx="6217920" cy="9144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500" b="0">
                <a:solidFill>
                  <a:srgbClr val="8EA0B2"/>
                </a:solidFill>
                <a:latin typeface="Aptos"/>
              </a:rPr>
              <a:t>Come insegniamo a una rete neurale a riconoscere le mosse giuste: dati, modelli, esperimenti e risultati.</a:t>
            </a:r>
            <a:endParaRPr lang="it-IT" sz="1500"/>
          </a:p>
        </p:txBody>
      </p:sp>
      <p:sp>
        <p:nvSpPr>
          <p:cNvPr id="7" name="Box"/>
          <p:cNvSpPr/>
          <p:nvPr/>
        </p:nvSpPr>
        <p:spPr>
          <a:xfrm>
            <a:off x="685800" y="5257800"/>
            <a:ext cx="1234440" cy="329184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8"/>
          <p:cNvSpPr txBox="1"/>
          <p:nvPr/>
        </p:nvSpPr>
        <p:spPr>
          <a:xfrm>
            <a:off x="685800" y="526694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000" b="1">
                <a:solidFill>
                  <a:srgbClr val="18A6A6"/>
                </a:solidFill>
                <a:latin typeface="Aptos"/>
              </a:rPr>
              <a:t>64 nodi</a:t>
            </a:r>
            <a:endParaRPr lang="it-IT" sz="1000"/>
          </a:p>
        </p:txBody>
      </p:sp>
      <p:sp>
        <p:nvSpPr>
          <p:cNvPr id="9" name="Box"/>
          <p:cNvSpPr/>
          <p:nvPr/>
        </p:nvSpPr>
        <p:spPr>
          <a:xfrm>
            <a:off x="2103120" y="5257800"/>
            <a:ext cx="1234440" cy="329184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10"/>
          <p:cNvSpPr txBox="1"/>
          <p:nvPr/>
        </p:nvSpPr>
        <p:spPr>
          <a:xfrm>
            <a:off x="2103120" y="526694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000" b="1">
                <a:solidFill>
                  <a:srgbClr val="377DFF"/>
                </a:solidFill>
                <a:latin typeface="Aptos"/>
              </a:rPr>
              <a:t>15 informazioni</a:t>
            </a:r>
            <a:endParaRPr lang="it-IT" sz="1000"/>
          </a:p>
        </p:txBody>
      </p:sp>
      <p:sp>
        <p:nvSpPr>
          <p:cNvPr id="11" name="Box"/>
          <p:cNvSpPr/>
          <p:nvPr/>
        </p:nvSpPr>
        <p:spPr>
          <a:xfrm>
            <a:off x="3520440" y="5257800"/>
            <a:ext cx="1234440" cy="329184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2"/>
          <p:cNvSpPr txBox="1"/>
          <p:nvPr/>
        </p:nvSpPr>
        <p:spPr>
          <a:xfrm>
            <a:off x="3520440" y="526694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000" b="1">
                <a:solidFill>
                  <a:srgbClr val="E85D75"/>
                </a:solidFill>
                <a:latin typeface="Aptos"/>
              </a:rPr>
              <a:t>A4: 5 mosse</a:t>
            </a:r>
            <a:endParaRPr lang="it-IT" sz="1000"/>
          </a:p>
        </p:txBody>
      </p:sp>
      <p:sp>
        <p:nvSpPr>
          <p:cNvPr id="13" name="Box"/>
          <p:cNvSpPr/>
          <p:nvPr/>
        </p:nvSpPr>
        <p:spPr>
          <a:xfrm>
            <a:off x="7818120" y="1298448"/>
            <a:ext cx="530352" cy="530352"/>
          </a:xfrm>
          <a:prstGeom prst="roundRect">
            <a:avLst/>
          </a:prstGeom>
          <a:solidFill>
            <a:srgbClr val="34445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Box"/>
          <p:cNvSpPr/>
          <p:nvPr/>
        </p:nvSpPr>
        <p:spPr>
          <a:xfrm>
            <a:off x="8385048" y="1298448"/>
            <a:ext cx="530352" cy="530352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5" name="Box"/>
          <p:cNvSpPr/>
          <p:nvPr/>
        </p:nvSpPr>
        <p:spPr>
          <a:xfrm>
            <a:off x="8951976" y="1298448"/>
            <a:ext cx="530352" cy="530352"/>
          </a:xfrm>
          <a:prstGeom prst="roundRect">
            <a:avLst/>
          </a:prstGeom>
          <a:solidFill>
            <a:srgbClr val="34445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Box"/>
          <p:cNvSpPr/>
          <p:nvPr/>
        </p:nvSpPr>
        <p:spPr>
          <a:xfrm>
            <a:off x="9518904" y="1298448"/>
            <a:ext cx="530352" cy="530352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Box"/>
          <p:cNvSpPr/>
          <p:nvPr/>
        </p:nvSpPr>
        <p:spPr>
          <a:xfrm>
            <a:off x="10085832" y="1298448"/>
            <a:ext cx="530352" cy="530352"/>
          </a:xfrm>
          <a:prstGeom prst="roundRect">
            <a:avLst/>
          </a:prstGeom>
          <a:solidFill>
            <a:srgbClr val="34445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Box"/>
          <p:cNvSpPr/>
          <p:nvPr/>
        </p:nvSpPr>
        <p:spPr>
          <a:xfrm>
            <a:off x="7818120" y="1865376"/>
            <a:ext cx="530352" cy="530352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9" name="Box"/>
          <p:cNvSpPr/>
          <p:nvPr/>
        </p:nvSpPr>
        <p:spPr>
          <a:xfrm>
            <a:off x="8385048" y="1865376"/>
            <a:ext cx="530352" cy="530352"/>
          </a:xfrm>
          <a:prstGeom prst="roundRect">
            <a:avLst/>
          </a:prstGeom>
          <a:solidFill>
            <a:srgbClr val="34445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Box"/>
          <p:cNvSpPr/>
          <p:nvPr/>
        </p:nvSpPr>
        <p:spPr>
          <a:xfrm>
            <a:off x="8951976" y="1865376"/>
            <a:ext cx="530352" cy="530352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Box"/>
          <p:cNvSpPr/>
          <p:nvPr/>
        </p:nvSpPr>
        <p:spPr>
          <a:xfrm>
            <a:off x="9518904" y="1865376"/>
            <a:ext cx="530352" cy="530352"/>
          </a:xfrm>
          <a:prstGeom prst="roundRect">
            <a:avLst/>
          </a:prstGeom>
          <a:solidFill>
            <a:srgbClr val="34445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2" name="Box"/>
          <p:cNvSpPr/>
          <p:nvPr/>
        </p:nvSpPr>
        <p:spPr>
          <a:xfrm>
            <a:off x="10085832" y="1865376"/>
            <a:ext cx="530352" cy="530352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3" name="Box"/>
          <p:cNvSpPr/>
          <p:nvPr/>
        </p:nvSpPr>
        <p:spPr>
          <a:xfrm>
            <a:off x="7818120" y="2432304"/>
            <a:ext cx="530352" cy="530352"/>
          </a:xfrm>
          <a:prstGeom prst="roundRect">
            <a:avLst/>
          </a:prstGeom>
          <a:solidFill>
            <a:srgbClr val="34445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4" name="Box"/>
          <p:cNvSpPr/>
          <p:nvPr/>
        </p:nvSpPr>
        <p:spPr>
          <a:xfrm>
            <a:off x="8385048" y="2432304"/>
            <a:ext cx="530352" cy="530352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5" name="Box"/>
          <p:cNvSpPr/>
          <p:nvPr/>
        </p:nvSpPr>
        <p:spPr>
          <a:xfrm>
            <a:off x="8951976" y="2432304"/>
            <a:ext cx="530352" cy="530352"/>
          </a:xfrm>
          <a:prstGeom prst="roundRect">
            <a:avLst/>
          </a:prstGeom>
          <a:solidFill>
            <a:srgbClr val="34445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Box"/>
          <p:cNvSpPr/>
          <p:nvPr/>
        </p:nvSpPr>
        <p:spPr>
          <a:xfrm>
            <a:off x="9518904" y="2432304"/>
            <a:ext cx="530352" cy="530352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7" name="Box"/>
          <p:cNvSpPr/>
          <p:nvPr/>
        </p:nvSpPr>
        <p:spPr>
          <a:xfrm>
            <a:off x="10085832" y="2432304"/>
            <a:ext cx="530352" cy="530352"/>
          </a:xfrm>
          <a:prstGeom prst="roundRect">
            <a:avLst/>
          </a:prstGeom>
          <a:solidFill>
            <a:srgbClr val="34445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8" name="Box"/>
          <p:cNvSpPr/>
          <p:nvPr/>
        </p:nvSpPr>
        <p:spPr>
          <a:xfrm>
            <a:off x="7818120" y="2999232"/>
            <a:ext cx="530352" cy="530352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9" name="Box"/>
          <p:cNvSpPr/>
          <p:nvPr/>
        </p:nvSpPr>
        <p:spPr>
          <a:xfrm>
            <a:off x="8385048" y="2999232"/>
            <a:ext cx="530352" cy="530352"/>
          </a:xfrm>
          <a:prstGeom prst="roundRect">
            <a:avLst/>
          </a:prstGeom>
          <a:solidFill>
            <a:srgbClr val="34445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0" name="Box"/>
          <p:cNvSpPr/>
          <p:nvPr/>
        </p:nvSpPr>
        <p:spPr>
          <a:xfrm>
            <a:off x="8951976" y="2999232"/>
            <a:ext cx="530352" cy="530352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1" name="Box"/>
          <p:cNvSpPr/>
          <p:nvPr/>
        </p:nvSpPr>
        <p:spPr>
          <a:xfrm>
            <a:off x="9518904" y="2999232"/>
            <a:ext cx="530352" cy="530352"/>
          </a:xfrm>
          <a:prstGeom prst="roundRect">
            <a:avLst/>
          </a:prstGeom>
          <a:solidFill>
            <a:srgbClr val="34445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2" name="Box"/>
          <p:cNvSpPr/>
          <p:nvPr/>
        </p:nvSpPr>
        <p:spPr>
          <a:xfrm>
            <a:off x="10085832" y="2999232"/>
            <a:ext cx="530352" cy="530352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3" name="Box"/>
          <p:cNvSpPr/>
          <p:nvPr/>
        </p:nvSpPr>
        <p:spPr>
          <a:xfrm>
            <a:off x="7818120" y="3566160"/>
            <a:ext cx="530352" cy="530352"/>
          </a:xfrm>
          <a:prstGeom prst="roundRect">
            <a:avLst/>
          </a:prstGeom>
          <a:solidFill>
            <a:srgbClr val="34445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4" name="Box"/>
          <p:cNvSpPr/>
          <p:nvPr/>
        </p:nvSpPr>
        <p:spPr>
          <a:xfrm>
            <a:off x="8385048" y="3566160"/>
            <a:ext cx="530352" cy="530352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5" name="Box"/>
          <p:cNvSpPr/>
          <p:nvPr/>
        </p:nvSpPr>
        <p:spPr>
          <a:xfrm>
            <a:off x="8951976" y="3566160"/>
            <a:ext cx="530352" cy="530352"/>
          </a:xfrm>
          <a:prstGeom prst="roundRect">
            <a:avLst/>
          </a:prstGeom>
          <a:solidFill>
            <a:srgbClr val="34445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6" name="Box"/>
          <p:cNvSpPr/>
          <p:nvPr/>
        </p:nvSpPr>
        <p:spPr>
          <a:xfrm>
            <a:off x="9518904" y="3566160"/>
            <a:ext cx="530352" cy="530352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7" name="Box"/>
          <p:cNvSpPr/>
          <p:nvPr/>
        </p:nvSpPr>
        <p:spPr>
          <a:xfrm>
            <a:off x="10085832" y="3566160"/>
            <a:ext cx="530352" cy="530352"/>
          </a:xfrm>
          <a:prstGeom prst="roundRect">
            <a:avLst/>
          </a:prstGeom>
          <a:solidFill>
            <a:srgbClr val="34445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8"/>
          <p:cNvSpPr txBox="1"/>
          <p:nvPr/>
        </p:nvSpPr>
        <p:spPr>
          <a:xfrm>
            <a:off x="7819398" y="4464731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400" b="1" dirty="0">
                <a:solidFill>
                  <a:srgbClr val="35BDE7"/>
                </a:solidFill>
                <a:latin typeface="Aptos"/>
              </a:rPr>
              <a:t>Alessandro Zappavigna</a:t>
            </a:r>
          </a:p>
          <a:p>
            <a:pPr algn="ctr"/>
            <a:r>
              <a:rPr lang="it-IT" sz="1400" b="1" dirty="0">
                <a:solidFill>
                  <a:srgbClr val="35BDE7"/>
                </a:solidFill>
                <a:latin typeface="Aptos"/>
              </a:rPr>
              <a:t>Samuele </a:t>
            </a:r>
            <a:r>
              <a:rPr lang="it-IT" sz="1400" b="1" dirty="0" err="1">
                <a:solidFill>
                  <a:srgbClr val="35BDE7"/>
                </a:solidFill>
                <a:latin typeface="Aptos"/>
              </a:rPr>
              <a:t>Alfrondi</a:t>
            </a:r>
            <a:endParaRPr lang="it-IT" sz="1400" b="1" dirty="0">
              <a:solidFill>
                <a:srgbClr val="35BDE7"/>
              </a:solidFill>
              <a:latin typeface="Aptos"/>
            </a:endParaRPr>
          </a:p>
          <a:p>
            <a:pPr algn="ctr"/>
            <a:r>
              <a:rPr lang="it-IT" sz="1400" b="1" dirty="0">
                <a:solidFill>
                  <a:srgbClr val="35BDE7"/>
                </a:solidFill>
                <a:latin typeface="Aptos"/>
              </a:rPr>
              <a:t>Mattia Ippoliti</a:t>
            </a:r>
            <a:endParaRPr lang="it-IT" sz="1400" dirty="0"/>
          </a:p>
        </p:txBody>
      </p:sp>
      <p:sp>
        <p:nvSpPr>
          <p:cNvPr id="39" name="Text 39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1/68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FFFFFF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PERCORSO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Di cosa parleremo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Dal dato grezzo ai risultati, passando per le idee che hanno funzionato e per quelle che non hanno funzionato.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74519"/>
            <a:ext cx="5102352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1874519"/>
            <a:ext cx="68580" cy="1078992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057400"/>
            <a:ext cx="466344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253B"/>
                </a:solidFill>
                <a:latin typeface="Aptos"/>
              </a:rPr>
              <a:t>01  Il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596896"/>
            <a:ext cx="4663440" cy="2560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A40"/>
                </a:solidFill>
                <a:latin typeface="Aptos"/>
              </a:rPr>
              <a:t>Obiettivi e domande di ricerca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874519"/>
            <a:ext cx="5102352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72784" y="1874519"/>
            <a:ext cx="68580" cy="1078992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466344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253B"/>
                </a:solidFill>
                <a:latin typeface="Aptos"/>
              </a:rPr>
              <a:t>02  I dati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96896"/>
            <a:ext cx="4663440" cy="2560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A40"/>
                </a:solidFill>
                <a:latin typeface="Aptos"/>
              </a:rPr>
              <a:t>Lichess, pulizia e preparazione dei puzzle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136391"/>
            <a:ext cx="5102352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9808" y="3136391"/>
            <a:ext cx="68580" cy="1078992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3319272"/>
            <a:ext cx="466344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253B"/>
                </a:solidFill>
                <a:latin typeface="Aptos"/>
              </a:rPr>
              <a:t>03  Il grafo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3858768"/>
            <a:ext cx="4663440" cy="2560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A40"/>
                </a:solidFill>
                <a:latin typeface="Aptos"/>
              </a:rPr>
              <a:t>Nodi, relazioni, GAT e timing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3136391"/>
            <a:ext cx="5102352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72784" y="3136391"/>
            <a:ext cx="68580" cy="1078992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319272"/>
            <a:ext cx="466344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253B"/>
                </a:solidFill>
                <a:latin typeface="Aptos"/>
              </a:rPr>
              <a:t>04  I modelli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58768"/>
            <a:ext cx="4663440" cy="2560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A40"/>
                </a:solidFill>
                <a:latin typeface="Aptos"/>
              </a:rPr>
              <a:t>Da A fino al reranker A4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398264"/>
            <a:ext cx="5102352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9808" y="4398264"/>
            <a:ext cx="68580" cy="1078992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9264" y="4581144"/>
            <a:ext cx="466344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253B"/>
                </a:solidFill>
                <a:latin typeface="Aptos"/>
              </a:rPr>
              <a:t>05  Le 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120640"/>
            <a:ext cx="4663440" cy="2560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A40"/>
                </a:solidFill>
                <a:latin typeface="Aptos"/>
              </a:rPr>
              <a:t>Risultati, Qwen, YACPDB e Popeye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2784" y="4398264"/>
            <a:ext cx="5102352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72784" y="4398264"/>
            <a:ext cx="68580" cy="1078992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4581144"/>
            <a:ext cx="466344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253B"/>
                </a:solidFill>
                <a:latin typeface="Aptos"/>
              </a:rPr>
              <a:t>06  L’interfaccia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120640"/>
            <a:ext cx="4663440" cy="2560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A40"/>
                </a:solidFill>
                <a:latin typeface="Aptos"/>
              </a:rPr>
              <a:t>WebUI, limiti e conclusioni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2/68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MOTIVAZIONE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Perché scegliere la mossa giusta è difficile?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Non basta guardare un pezzo: bisogna capire quali mosse sono possibili e cosa comportano.</a:t>
            </a:r>
            <a:endParaRPr lang="it-IT" sz="1300"/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3383280" cy="3383280"/>
          </a:xfrm>
          <a:prstGeom prst="rect">
            <a:avLst/>
          </a:prstGeom>
        </p:spPr>
      </p:pic>
      <p:sp>
        <p:nvSpPr>
          <p:cNvPr id="7" name="Connector 7"/>
          <p:cNvSpPr/>
          <p:nvPr/>
        </p:nvSpPr>
        <p:spPr>
          <a:xfrm>
            <a:off x="4315968" y="3273552"/>
            <a:ext cx="758952" cy="914"/>
          </a:xfrm>
          <a:prstGeom prst="line">
            <a:avLst/>
          </a:prstGeom>
          <a:ln w="25400">
            <a:solidFill>
              <a:srgbClr val="18A6A6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8" name="Box"/>
          <p:cNvSpPr/>
          <p:nvPr/>
        </p:nvSpPr>
        <p:spPr>
          <a:xfrm>
            <a:off x="5166360" y="1920240"/>
            <a:ext cx="1965960" cy="621792"/>
          </a:xfrm>
          <a:prstGeom prst="roundRect">
            <a:avLst/>
          </a:prstGeom>
          <a:solidFill>
            <a:srgbClr val="E7F7F5"/>
          </a:solidFill>
          <a:ln w="1270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9"/>
          <p:cNvSpPr txBox="1"/>
          <p:nvPr/>
        </p:nvSpPr>
        <p:spPr>
          <a:xfrm>
            <a:off x="5221224" y="1993392"/>
            <a:ext cx="1856231" cy="49377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18A6A6"/>
                </a:solidFill>
                <a:latin typeface="Aptos"/>
              </a:rPr>
              <a:t>La scacchiera come rete</a:t>
            </a:r>
            <a:endParaRPr lang="it-IT" sz="1200"/>
          </a:p>
        </p:txBody>
      </p:sp>
      <p:sp>
        <p:nvSpPr>
          <p:cNvPr id="10" name="Box"/>
          <p:cNvSpPr/>
          <p:nvPr/>
        </p:nvSpPr>
        <p:spPr>
          <a:xfrm>
            <a:off x="5321808" y="2788920"/>
            <a:ext cx="1664208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11"/>
          <p:cNvSpPr txBox="1"/>
          <p:nvPr/>
        </p:nvSpPr>
        <p:spPr>
          <a:xfrm>
            <a:off x="5376672" y="283464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900" b="1">
                <a:solidFill>
                  <a:srgbClr val="172033"/>
                </a:solidFill>
                <a:latin typeface="Aptos"/>
              </a:rPr>
              <a:t>Mosse possibili</a:t>
            </a:r>
            <a:endParaRPr lang="it-IT" sz="900"/>
          </a:p>
        </p:txBody>
      </p:sp>
      <p:sp>
        <p:nvSpPr>
          <p:cNvPr id="12" name="Box"/>
          <p:cNvSpPr/>
          <p:nvPr/>
        </p:nvSpPr>
        <p:spPr>
          <a:xfrm>
            <a:off x="5321808" y="3410712"/>
            <a:ext cx="1664208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3"/>
          <p:cNvSpPr txBox="1"/>
          <p:nvPr/>
        </p:nvSpPr>
        <p:spPr>
          <a:xfrm>
            <a:off x="5376672" y="3456432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900" b="1">
                <a:solidFill>
                  <a:srgbClr val="172033"/>
                </a:solidFill>
                <a:latin typeface="Aptos"/>
              </a:rPr>
              <a:t>Attacchi e difese</a:t>
            </a:r>
            <a:endParaRPr lang="it-IT" sz="900"/>
          </a:p>
        </p:txBody>
      </p:sp>
      <p:sp>
        <p:nvSpPr>
          <p:cNvPr id="14" name="Box"/>
          <p:cNvSpPr/>
          <p:nvPr/>
        </p:nvSpPr>
        <p:spPr>
          <a:xfrm>
            <a:off x="5321808" y="4032504"/>
            <a:ext cx="1664208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5"/>
          <p:cNvSpPr txBox="1"/>
          <p:nvPr/>
        </p:nvSpPr>
        <p:spPr>
          <a:xfrm>
            <a:off x="5376672" y="4078224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900" b="1">
                <a:solidFill>
                  <a:srgbClr val="172033"/>
                </a:solidFill>
                <a:latin typeface="Aptos"/>
              </a:rPr>
              <a:t>Pezzi bloccati e scacco</a:t>
            </a:r>
            <a:endParaRPr lang="it-IT" sz="900"/>
          </a:p>
        </p:txBody>
      </p:sp>
      <p:sp>
        <p:nvSpPr>
          <p:cNvPr id="16" name="Connector 16"/>
          <p:cNvSpPr/>
          <p:nvPr/>
        </p:nvSpPr>
        <p:spPr>
          <a:xfrm>
            <a:off x="7333488" y="3273552"/>
            <a:ext cx="731520" cy="914"/>
          </a:xfrm>
          <a:prstGeom prst="line">
            <a:avLst/>
          </a:prstGeom>
          <a:ln w="25400">
            <a:solidFill>
              <a:srgbClr val="18A6A6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Box"/>
          <p:cNvSpPr/>
          <p:nvPr/>
        </p:nvSpPr>
        <p:spPr>
          <a:xfrm>
            <a:off x="8156448" y="2331720"/>
            <a:ext cx="1572768" cy="59436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377DFF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8"/>
          <p:cNvSpPr txBox="1"/>
          <p:nvPr/>
        </p:nvSpPr>
        <p:spPr>
          <a:xfrm>
            <a:off x="8211312" y="2404872"/>
            <a:ext cx="1463040" cy="466344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377DFF"/>
                </a:solidFill>
                <a:latin typeface="Aptos"/>
              </a:rPr>
              <a:t>Valuta le mosse</a:t>
            </a:r>
            <a:endParaRPr lang="it-IT" sz="1200"/>
          </a:p>
        </p:txBody>
      </p:sp>
      <p:sp>
        <p:nvSpPr>
          <p:cNvPr id="19" name="Box"/>
          <p:cNvSpPr/>
          <p:nvPr/>
        </p:nvSpPr>
        <p:spPr>
          <a:xfrm>
            <a:off x="9948672" y="2331720"/>
            <a:ext cx="1572768" cy="594360"/>
          </a:xfrm>
          <a:prstGeom prst="roundRect">
            <a:avLst/>
          </a:prstGeom>
          <a:solidFill>
            <a:srgbClr val="FDECEF"/>
          </a:solidFill>
          <a:ln w="1270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20"/>
          <p:cNvSpPr txBox="1"/>
          <p:nvPr/>
        </p:nvSpPr>
        <p:spPr>
          <a:xfrm>
            <a:off x="10003536" y="2404872"/>
            <a:ext cx="1463040" cy="466344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E85D75"/>
                </a:solidFill>
                <a:latin typeface="Aptos"/>
              </a:rPr>
              <a:t>Guarda dopo</a:t>
            </a:r>
            <a:endParaRPr lang="it-IT" sz="1200"/>
          </a:p>
        </p:txBody>
      </p:sp>
      <p:sp>
        <p:nvSpPr>
          <p:cNvPr id="21" name="Text 21"/>
          <p:cNvSpPr txBox="1"/>
          <p:nvPr/>
        </p:nvSpPr>
        <p:spPr>
          <a:xfrm>
            <a:off x="8211312" y="33101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00" b="1">
                <a:solidFill>
                  <a:srgbClr val="5C6B7A"/>
                </a:solidFill>
                <a:latin typeface="Aptos"/>
              </a:rPr>
              <a:t>Che cosa deve imparare?</a:t>
            </a:r>
            <a:endParaRPr lang="it-IT" sz="1100"/>
          </a:p>
        </p:txBody>
      </p:sp>
      <p:sp>
        <p:nvSpPr>
          <p:cNvPr id="22" name="Text 22"/>
          <p:cNvSpPr txBox="1"/>
          <p:nvPr/>
        </p:nvSpPr>
        <p:spPr>
          <a:xfrm>
            <a:off x="8211312" y="3675887"/>
            <a:ext cx="3154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400" b="1">
                <a:solidFill>
                  <a:srgbClr val="172033"/>
                </a:solidFill>
                <a:latin typeface="Aptos"/>
              </a:rPr>
              <a:t>Data una posizione, GraphMate deve indicare la prossima mossa della soluzione. Non deve giocare da solo tutta la partita.</a:t>
            </a:r>
            <a:endParaRPr lang="it-IT" sz="1400"/>
          </a:p>
        </p:txBody>
      </p:sp>
      <p:sp>
        <p:nvSpPr>
          <p:cNvPr id="23" name="Text 23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3/68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DOMANDE DI RICERCA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Le due domande che guidano il lavoro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Entrambe vengono valutate con esperimenti definiti in anticipo, senza cambiare le regole dopo aver visto i risultati.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856231"/>
            <a:ext cx="5102352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4672" y="1856231"/>
            <a:ext cx="68580" cy="3337560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039112"/>
            <a:ext cx="4663440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5253B"/>
                </a:solidFill>
                <a:latin typeface="Aptos"/>
              </a:rPr>
              <a:t>RQ1 · GNN </a:t>
            </a:r>
            <a:r>
              <a:rPr sz="1800" b="1" dirty="0" err="1">
                <a:solidFill>
                  <a:srgbClr val="15253B"/>
                </a:solidFill>
                <a:latin typeface="Aptos"/>
              </a:rPr>
              <a:t>contro</a:t>
            </a:r>
            <a:r>
              <a:rPr sz="1800" b="1" dirty="0">
                <a:solidFill>
                  <a:srgbClr val="15253B"/>
                </a:solidFill>
                <a:latin typeface="Aptos"/>
              </a:rPr>
              <a:t> </a:t>
            </a:r>
            <a:r>
              <a:rPr lang="en-US" sz="1800" b="1" dirty="0">
                <a:solidFill>
                  <a:srgbClr val="15253B"/>
                </a:solidFill>
                <a:latin typeface="Aptos"/>
              </a:rPr>
              <a:t>LLM</a:t>
            </a:r>
            <a:endParaRPr sz="1800" b="1" dirty="0">
              <a:solidFill>
                <a:srgbClr val="15253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" y="2578608"/>
            <a:ext cx="4663440" cy="2514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2A40"/>
                </a:solidFill>
                <a:latin typeface="Aptos"/>
              </a:rPr>
              <a:t>Una rete neurale costruita intorno alla struttura degli scacchi riesce a identificare la mossa corretta più spesso di modelli Qwen locali, nelle condizioni del nostro test?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56231"/>
            <a:ext cx="5102352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856231"/>
            <a:ext cx="68580" cy="3337560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2039112"/>
            <a:ext cx="466344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RQ2 · Il tempo aiuta davvero?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578608"/>
            <a:ext cx="4663440" cy="2514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2A40"/>
                </a:solidFill>
                <a:latin typeface="Aptos"/>
              </a:rPr>
              <a:t>A parità di architettura e puzzle, l’aggiunta di tempi di riflessione simulati permette di prevedere meglio la mossa giusta?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696712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Le risposte arriveranno alla fine, dopo aver mostrato dati, modelli e risultati.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4/68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PANORAMICA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Che cosa fa GraphMate in pratica?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Per capire il progetto conviene separare l’addestramento dall’uso di un modello già addestrato.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56231"/>
            <a:ext cx="521208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56231"/>
            <a:ext cx="68580" cy="3337560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39112"/>
            <a:ext cx="4773168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253B"/>
                </a:solidFill>
                <a:latin typeface="Aptos"/>
              </a:rPr>
              <a:t>Quando lo addestriamo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78608"/>
            <a:ext cx="4773168" cy="2514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A40"/>
                </a:solidFill>
                <a:latin typeface="Aptos"/>
              </a:rPr>
              <a:t>1. Prendiamo puzzle Lichess e ne prepariamo le posizioni.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A40"/>
                </a:solidFill>
                <a:latin typeface="Aptos"/>
              </a:rPr>
              <a:t>2. Convertiamo ogni posizione in un grafo.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A40"/>
                </a:solidFill>
                <a:latin typeface="Aptos"/>
              </a:rPr>
              <a:t>3. Mostriamo esempi con la mossa corretta.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A40"/>
                </a:solidFill>
                <a:latin typeface="Aptos"/>
              </a:rPr>
              <a:t>4. Selezioniamo il checkpoint migliore sulla validazione.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1856231"/>
            <a:ext cx="521208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27064" y="1856231"/>
            <a:ext cx="68580" cy="3337560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039112"/>
            <a:ext cx="4773168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253B"/>
                </a:solidFill>
                <a:latin typeface="Aptos"/>
              </a:rPr>
              <a:t>Quando gli chiediamo una mossa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78608"/>
            <a:ext cx="4773168" cy="2514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A40"/>
                </a:solidFill>
                <a:latin typeface="Aptos"/>
              </a:rPr>
              <a:t>1. Riceve una posizione scacchistica.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A40"/>
                </a:solidFill>
                <a:latin typeface="Aptos"/>
              </a:rPr>
              <a:t>2. Costruisce la sua rappresentazione a grafo.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A40"/>
                </a:solidFill>
                <a:latin typeface="Aptos"/>
              </a:rPr>
              <a:t>3. Valuta le mosse secondo il modello scelto.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A40"/>
                </a:solidFill>
                <a:latin typeface="Aptos"/>
              </a:rPr>
              <a:t>4. Restituisce un suggerimento confrontabile con la soluzione.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696712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Ogni modello decide in modo diverso; vedremo come questa scelta si è evoluta.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5/68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5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1371600" cy="5120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CA59F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01952"/>
            <a:ext cx="1088136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Aptos"/>
              </a:rPr>
              <a:t>Dati e preparazione dei puzzle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163824"/>
            <a:ext cx="97840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Da un archivio Lichess alla posizione esatta da cui il modello deve imparare.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GRAPHMATE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6/68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DATASET LICHESS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Come abbiamo scelto i puzzle di Lichess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I matto in una o due mosse sono molto più numerosi: limitiamo le quantità per ogni profondità.</a:t>
            </a:r>
            <a:endParaRPr lang="it-IT" sz="1300"/>
          </a:p>
        </p:txBody>
      </p:sp>
      <p:sp>
        <p:nvSpPr>
          <p:cNvPr id="6" name="Text 6"/>
          <p:cNvSpPr txBox="1"/>
          <p:nvPr/>
        </p:nvSpPr>
        <p:spPr>
          <a:xfrm>
            <a:off x="640080" y="1664208"/>
            <a:ext cx="1417320" cy="6053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Mate‑in‑1</a:t>
            </a:r>
            <a:endParaRPr lang="it-IT" sz="1050"/>
          </a:p>
        </p:txBody>
      </p:sp>
      <p:sp>
        <p:nvSpPr>
          <p:cNvPr id="7" name="Box"/>
          <p:cNvSpPr/>
          <p:nvPr/>
        </p:nvSpPr>
        <p:spPr>
          <a:xfrm>
            <a:off x="2194560" y="1737360"/>
            <a:ext cx="3611880" cy="459028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Box"/>
          <p:cNvSpPr/>
          <p:nvPr/>
        </p:nvSpPr>
        <p:spPr>
          <a:xfrm>
            <a:off x="2194560" y="1737360"/>
            <a:ext cx="3521074" cy="4590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9"/>
          <p:cNvSpPr txBox="1"/>
          <p:nvPr/>
        </p:nvSpPr>
        <p:spPr>
          <a:xfrm>
            <a:off x="5852160" y="1664208"/>
            <a:ext cx="475488" cy="6053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endParaRPr lang="it-IT" sz="1000"/>
          </a:p>
        </p:txBody>
      </p:sp>
      <p:sp>
        <p:nvSpPr>
          <p:cNvPr id="10" name="Text 10"/>
          <p:cNvSpPr txBox="1"/>
          <p:nvPr/>
        </p:nvSpPr>
        <p:spPr>
          <a:xfrm>
            <a:off x="640080" y="2415844"/>
            <a:ext cx="1417320" cy="6053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Mate‑in‑2</a:t>
            </a:r>
            <a:endParaRPr lang="it-IT" sz="1050"/>
          </a:p>
        </p:txBody>
      </p:sp>
      <p:sp>
        <p:nvSpPr>
          <p:cNvPr id="11" name="Box"/>
          <p:cNvSpPr/>
          <p:nvPr/>
        </p:nvSpPr>
        <p:spPr>
          <a:xfrm>
            <a:off x="2194560" y="2488996"/>
            <a:ext cx="3611880" cy="459028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Box"/>
          <p:cNvSpPr/>
          <p:nvPr/>
        </p:nvSpPr>
        <p:spPr>
          <a:xfrm>
            <a:off x="2194560" y="2488996"/>
            <a:ext cx="3494408" cy="4590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3"/>
          <p:cNvSpPr txBox="1"/>
          <p:nvPr/>
        </p:nvSpPr>
        <p:spPr>
          <a:xfrm>
            <a:off x="5852160" y="2415844"/>
            <a:ext cx="475488" cy="6053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endParaRPr lang="it-IT" sz="1000"/>
          </a:p>
        </p:txBody>
      </p:sp>
      <p:sp>
        <p:nvSpPr>
          <p:cNvPr id="14" name="Text 14"/>
          <p:cNvSpPr txBox="1"/>
          <p:nvPr/>
        </p:nvSpPr>
        <p:spPr>
          <a:xfrm>
            <a:off x="640080" y="3167481"/>
            <a:ext cx="1417320" cy="6053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Mate‑in‑3</a:t>
            </a:r>
            <a:endParaRPr lang="it-IT" sz="1050"/>
          </a:p>
        </p:txBody>
      </p:sp>
      <p:sp>
        <p:nvSpPr>
          <p:cNvPr id="15" name="Box"/>
          <p:cNvSpPr/>
          <p:nvPr/>
        </p:nvSpPr>
        <p:spPr>
          <a:xfrm>
            <a:off x="2194560" y="3240633"/>
            <a:ext cx="3611880" cy="459028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Box"/>
          <p:cNvSpPr/>
          <p:nvPr/>
        </p:nvSpPr>
        <p:spPr>
          <a:xfrm>
            <a:off x="2194560" y="3240633"/>
            <a:ext cx="3130994" cy="4590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7"/>
          <p:cNvSpPr txBox="1"/>
          <p:nvPr/>
        </p:nvSpPr>
        <p:spPr>
          <a:xfrm>
            <a:off x="5852160" y="3167481"/>
            <a:ext cx="475488" cy="6053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endParaRPr lang="it-IT" sz="1000"/>
          </a:p>
        </p:txBody>
      </p:sp>
      <p:sp>
        <p:nvSpPr>
          <p:cNvPr id="18" name="Text 18"/>
          <p:cNvSpPr txBox="1"/>
          <p:nvPr/>
        </p:nvSpPr>
        <p:spPr>
          <a:xfrm>
            <a:off x="640080" y="3919118"/>
            <a:ext cx="1417320" cy="6053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Mate‑in‑4</a:t>
            </a:r>
            <a:endParaRPr lang="it-IT" sz="1050"/>
          </a:p>
        </p:txBody>
      </p:sp>
      <p:sp>
        <p:nvSpPr>
          <p:cNvPr id="19" name="Box"/>
          <p:cNvSpPr/>
          <p:nvPr/>
        </p:nvSpPr>
        <p:spPr>
          <a:xfrm>
            <a:off x="2194560" y="3992270"/>
            <a:ext cx="3611880" cy="459028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Box"/>
          <p:cNvSpPr/>
          <p:nvPr/>
        </p:nvSpPr>
        <p:spPr>
          <a:xfrm>
            <a:off x="2194560" y="3992270"/>
            <a:ext cx="2636380" cy="4590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21"/>
          <p:cNvSpPr txBox="1"/>
          <p:nvPr/>
        </p:nvSpPr>
        <p:spPr>
          <a:xfrm>
            <a:off x="5852160" y="3919118"/>
            <a:ext cx="475488" cy="6053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endParaRPr lang="it-IT" sz="1000"/>
          </a:p>
        </p:txBody>
      </p:sp>
      <p:sp>
        <p:nvSpPr>
          <p:cNvPr id="22" name="Text 22"/>
          <p:cNvSpPr txBox="1"/>
          <p:nvPr/>
        </p:nvSpPr>
        <p:spPr>
          <a:xfrm>
            <a:off x="640080" y="4670755"/>
            <a:ext cx="1417320" cy="6053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Mate‑in‑5</a:t>
            </a:r>
            <a:endParaRPr lang="it-IT" sz="1050"/>
          </a:p>
        </p:txBody>
      </p:sp>
      <p:sp>
        <p:nvSpPr>
          <p:cNvPr id="23" name="Box"/>
          <p:cNvSpPr/>
          <p:nvPr/>
        </p:nvSpPr>
        <p:spPr>
          <a:xfrm>
            <a:off x="2194560" y="4743907"/>
            <a:ext cx="3611880" cy="459028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4" name="Box"/>
          <p:cNvSpPr/>
          <p:nvPr/>
        </p:nvSpPr>
        <p:spPr>
          <a:xfrm>
            <a:off x="2194560" y="4743907"/>
            <a:ext cx="2241379" cy="4590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5"/>
          <p:cNvSpPr txBox="1"/>
          <p:nvPr/>
        </p:nvSpPr>
        <p:spPr>
          <a:xfrm>
            <a:off x="5852160" y="4670755"/>
            <a:ext cx="475488" cy="6053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endParaRPr lang="it-IT" sz="1000"/>
          </a:p>
        </p:txBody>
      </p:sp>
      <p:sp>
        <p:nvSpPr>
          <p:cNvPr id="26" name="Text 26"/>
          <p:cNvSpPr txBox="1"/>
          <p:nvPr/>
        </p:nvSpPr>
        <p:spPr>
          <a:xfrm>
            <a:off x="5669280" y="166420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900" b="1">
                <a:solidFill>
                  <a:srgbClr val="172033"/>
                </a:solidFill>
                <a:latin typeface="Aptos"/>
              </a:rPr>
              <a:t>884.384</a:t>
            </a:r>
            <a:endParaRPr lang="it-IT" sz="900"/>
          </a:p>
        </p:txBody>
      </p:sp>
      <p:sp>
        <p:nvSpPr>
          <p:cNvPr id="27" name="Text 27"/>
          <p:cNvSpPr txBox="1"/>
          <p:nvPr/>
        </p:nvSpPr>
        <p:spPr>
          <a:xfrm>
            <a:off x="5669280" y="2386584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900" b="1">
                <a:solidFill>
                  <a:srgbClr val="172033"/>
                </a:solidFill>
                <a:latin typeface="Aptos"/>
              </a:rPr>
              <a:t>797.271</a:t>
            </a:r>
            <a:endParaRPr lang="it-IT" sz="900"/>
          </a:p>
        </p:txBody>
      </p:sp>
      <p:sp>
        <p:nvSpPr>
          <p:cNvPr id="28" name="Text 28"/>
          <p:cNvSpPr txBox="1"/>
          <p:nvPr/>
        </p:nvSpPr>
        <p:spPr>
          <a:xfrm>
            <a:off x="5669280" y="310896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900" b="1">
                <a:solidFill>
                  <a:srgbClr val="172033"/>
                </a:solidFill>
                <a:latin typeface="Aptos"/>
              </a:rPr>
              <a:t>194.020</a:t>
            </a:r>
            <a:endParaRPr lang="it-IT" sz="900"/>
          </a:p>
        </p:txBody>
      </p:sp>
      <p:sp>
        <p:nvSpPr>
          <p:cNvPr id="29" name="Text 29"/>
          <p:cNvSpPr txBox="1"/>
          <p:nvPr/>
        </p:nvSpPr>
        <p:spPr>
          <a:xfrm>
            <a:off x="5669280" y="3831336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900" b="1">
                <a:solidFill>
                  <a:srgbClr val="172033"/>
                </a:solidFill>
                <a:latin typeface="Aptos"/>
              </a:rPr>
              <a:t>28.347</a:t>
            </a:r>
            <a:endParaRPr lang="it-IT" sz="900"/>
          </a:p>
        </p:txBody>
      </p:sp>
      <p:sp>
        <p:nvSpPr>
          <p:cNvPr id="30" name="Text 30"/>
          <p:cNvSpPr txBox="1"/>
          <p:nvPr/>
        </p:nvSpPr>
        <p:spPr>
          <a:xfrm>
            <a:off x="5669280" y="4553712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900" b="1">
                <a:solidFill>
                  <a:srgbClr val="172033"/>
                </a:solidFill>
                <a:latin typeface="Aptos"/>
              </a:rPr>
              <a:t>6.101</a:t>
            </a:r>
            <a:endParaRPr lang="it-IT" sz="900"/>
          </a:p>
        </p:txBody>
      </p:sp>
      <p:sp>
        <p:nvSpPr>
          <p:cNvPr id="31" name="Box"/>
          <p:cNvSpPr/>
          <p:nvPr/>
        </p:nvSpPr>
        <p:spPr>
          <a:xfrm>
            <a:off x="6766560" y="1664208"/>
            <a:ext cx="470916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2" name="Box"/>
          <p:cNvSpPr/>
          <p:nvPr/>
        </p:nvSpPr>
        <p:spPr>
          <a:xfrm>
            <a:off x="6766560" y="1664208"/>
            <a:ext cx="73152" cy="1225296"/>
          </a:xfrm>
          <a:prstGeom prst="roundRect">
            <a:avLst/>
          </a:prstGeom>
          <a:solidFill>
            <a:srgbClr val="377D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3"/>
          <p:cNvSpPr txBox="1"/>
          <p:nvPr/>
        </p:nvSpPr>
        <p:spPr>
          <a:xfrm>
            <a:off x="6995160" y="182880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Puzzle disponibili</a:t>
            </a:r>
            <a:endParaRPr lang="it-IT" sz="1600"/>
          </a:p>
        </p:txBody>
      </p:sp>
      <p:sp>
        <p:nvSpPr>
          <p:cNvPr id="34" name="Text 34"/>
          <p:cNvSpPr txBox="1"/>
          <p:nvPr/>
        </p:nvSpPr>
        <p:spPr>
          <a:xfrm>
            <a:off x="6995160" y="2322576"/>
            <a:ext cx="4297680" cy="420624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Circa 1,9 milioni di puzzle con temi di matto da 1 a 5.</a:t>
            </a:r>
            <a:endParaRPr lang="it-IT" sz="1150"/>
          </a:p>
        </p:txBody>
      </p:sp>
      <p:sp>
        <p:nvSpPr>
          <p:cNvPr id="35" name="Box"/>
          <p:cNvSpPr/>
          <p:nvPr/>
        </p:nvSpPr>
        <p:spPr>
          <a:xfrm>
            <a:off x="6766560" y="3136392"/>
            <a:ext cx="470916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6" name="Box"/>
          <p:cNvSpPr/>
          <p:nvPr/>
        </p:nvSpPr>
        <p:spPr>
          <a:xfrm>
            <a:off x="6766560" y="3136392"/>
            <a:ext cx="73152" cy="1225296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7"/>
          <p:cNvSpPr txBox="1"/>
          <p:nvPr/>
        </p:nvSpPr>
        <p:spPr>
          <a:xfrm>
            <a:off x="6995160" y="3300984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Dataset selezionato</a:t>
            </a:r>
            <a:endParaRPr lang="it-IT" sz="1600"/>
          </a:p>
        </p:txBody>
      </p:sp>
      <p:sp>
        <p:nvSpPr>
          <p:cNvPr id="38" name="Text 38"/>
          <p:cNvSpPr txBox="1"/>
          <p:nvPr/>
        </p:nvSpPr>
        <p:spPr>
          <a:xfrm>
            <a:off x="6995160" y="3794760"/>
            <a:ext cx="4297680" cy="420624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Al massimo 20.000 puzzle per profondità, con selezione ripetibile.</a:t>
            </a:r>
            <a:endParaRPr lang="it-IT" sz="1150"/>
          </a:p>
        </p:txBody>
      </p:sp>
      <p:sp>
        <p:nvSpPr>
          <p:cNvPr id="39" name="Box"/>
          <p:cNvSpPr/>
          <p:nvPr/>
        </p:nvSpPr>
        <p:spPr>
          <a:xfrm>
            <a:off x="6766560" y="4608576"/>
            <a:ext cx="470916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0" name="Box"/>
          <p:cNvSpPr/>
          <p:nvPr/>
        </p:nvSpPr>
        <p:spPr>
          <a:xfrm>
            <a:off x="6766560" y="4608576"/>
            <a:ext cx="73152" cy="1225296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41"/>
          <p:cNvSpPr txBox="1"/>
          <p:nvPr/>
        </p:nvSpPr>
        <p:spPr>
          <a:xfrm>
            <a:off x="6995160" y="477316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Perché selezionare?</a:t>
            </a:r>
            <a:endParaRPr lang="it-IT" sz="1600"/>
          </a:p>
        </p:txBody>
      </p:sp>
      <p:sp>
        <p:nvSpPr>
          <p:cNvPr id="42" name="Text 42"/>
          <p:cNvSpPr txBox="1"/>
          <p:nvPr/>
        </p:nvSpPr>
        <p:spPr>
          <a:xfrm>
            <a:off x="6995160" y="5266944"/>
            <a:ext cx="4297680" cy="420624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Senza un limite, i casi più comuni dominerebbero l’addestramento.</a:t>
            </a:r>
            <a:endParaRPr lang="it-IT" sz="1150"/>
          </a:p>
        </p:txBody>
      </p:sp>
      <p:sp>
        <p:nvSpPr>
          <p:cNvPr id="43" name="Text 43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7/68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PREPROCESSING · PASSO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Perché il FEN originale non basta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Nel database Lichess il puzzle inizia un istante prima che il solutore debba intervenire.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92807"/>
            <a:ext cx="521208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92807"/>
            <a:ext cx="68580" cy="3383280"/>
          </a:xfrm>
          <a:prstGeom prst="rect">
            <a:avLst/>
          </a:prstGeom>
          <a:solidFill>
            <a:srgbClr val="E65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75688"/>
            <a:ext cx="4773168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Il rischio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15184"/>
            <a:ext cx="4773168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Se usassimo direttamente OriginalFEN, chiederemmo al modello la mossa corretta per il giocatore sbagliato oppure per una posizione precedente al problema.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Il dataset conterrebbe esempi supervisionati incoerenti.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92807"/>
            <a:ext cx="521208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892807"/>
            <a:ext cx="68580" cy="3383280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7376" y="2075688"/>
            <a:ext cx="4773168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La nostra correzione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615184"/>
            <a:ext cx="4773168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Eseguiamo la prima mossa della sequenza (Moves[0]), che prepara il puzzle. Salviamo il FEN aggiornato e associamo come risposta la mossa successiva (Moves[1]).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50992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724144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Risultato: a ogni grafo corrisponde proprio la posizione da risolvere.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8/68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PREPROCESSING · PASSO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Pulire i dati prima di costruire i grafi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La conversione avviene soltanto dopo che ogni esempio ha una posizione e una risposta coerenti.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993392"/>
            <a:ext cx="4846320" cy="15910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0120" y="1993392"/>
            <a:ext cx="68580" cy="1591056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2176272"/>
            <a:ext cx="4407408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1. Ricostruzione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2715768"/>
            <a:ext cx="4407408" cy="7680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Leggiamo il FEN e applichiamo la mossa preparatoria.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993392"/>
            <a:ext cx="4846320" cy="15910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46520" y="1993392"/>
            <a:ext cx="68580" cy="1591056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65976" y="2176272"/>
            <a:ext cx="4407408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2. Controllo di legalità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2715768"/>
            <a:ext cx="4407408" cy="7680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Verifichiamo che il target sia ammesso nella posizione del solutore.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822191"/>
            <a:ext cx="4846320" cy="15910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60120" y="3822191"/>
            <a:ext cx="68580" cy="1591056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79576" y="4005072"/>
            <a:ext cx="4407408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3. Selezione e divisione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9576" y="4544568"/>
            <a:ext cx="4407408" cy="7680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Filtriamo i puzzle e separiamo train, validazione e test.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822191"/>
            <a:ext cx="4846320" cy="15910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46520" y="3822191"/>
            <a:ext cx="68580" cy="1591056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65976" y="4005072"/>
            <a:ext cx="4407408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4. Codifica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5976" y="4544568"/>
            <a:ext cx="4407408" cy="7680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Convertiamo posizione e mossa nel formato richiesto dai modelli.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9/68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COME DIVIDIAMO I DATI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Dati per imparare e dati per verificare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Separiamo addestramento, validazione e test: il modello non deve imparare dalle risposte del test.</a:t>
            </a:r>
            <a:endParaRPr lang="it-IT" sz="1300"/>
          </a:p>
        </p:txBody>
      </p:sp>
      <p:sp>
        <p:nvSpPr>
          <p:cNvPr id="6" name="Box"/>
          <p:cNvSpPr/>
          <p:nvPr/>
        </p:nvSpPr>
        <p:spPr>
          <a:xfrm>
            <a:off x="685800" y="16916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Box"/>
          <p:cNvSpPr/>
          <p:nvPr/>
        </p:nvSpPr>
        <p:spPr>
          <a:xfrm>
            <a:off x="685800" y="1691640"/>
            <a:ext cx="73152" cy="1417320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8"/>
          <p:cNvSpPr txBox="1"/>
          <p:nvPr/>
        </p:nvSpPr>
        <p:spPr>
          <a:xfrm>
            <a:off x="914400" y="185623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ADDESTRAMENTO</a:t>
            </a:r>
            <a:endParaRPr lang="it-IT" sz="1600"/>
          </a:p>
        </p:txBody>
      </p:sp>
      <p:sp>
        <p:nvSpPr>
          <p:cNvPr id="9" name="Text 9"/>
          <p:cNvSpPr txBox="1"/>
          <p:nvPr/>
        </p:nvSpPr>
        <p:spPr>
          <a:xfrm>
            <a:off x="914400" y="2350008"/>
            <a:ext cx="3017520" cy="61264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68.958</a:t>
            </a:r>
            <a:endParaRPr lang="it-IT" sz="1150"/>
          </a:p>
        </p:txBody>
      </p:sp>
      <p:sp>
        <p:nvSpPr>
          <p:cNvPr id="10" name="Box"/>
          <p:cNvSpPr/>
          <p:nvPr/>
        </p:nvSpPr>
        <p:spPr>
          <a:xfrm>
            <a:off x="4389120" y="16916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Box"/>
          <p:cNvSpPr/>
          <p:nvPr/>
        </p:nvSpPr>
        <p:spPr>
          <a:xfrm>
            <a:off x="4389120" y="1691640"/>
            <a:ext cx="73152" cy="1417320"/>
          </a:xfrm>
          <a:prstGeom prst="roundRect">
            <a:avLst/>
          </a:prstGeom>
          <a:solidFill>
            <a:srgbClr val="377D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2"/>
          <p:cNvSpPr txBox="1"/>
          <p:nvPr/>
        </p:nvSpPr>
        <p:spPr>
          <a:xfrm>
            <a:off x="4617720" y="185623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VALIDAZIONE</a:t>
            </a:r>
            <a:endParaRPr lang="it-IT" sz="1600"/>
          </a:p>
        </p:txBody>
      </p:sp>
      <p:sp>
        <p:nvSpPr>
          <p:cNvPr id="13" name="Text 13"/>
          <p:cNvSpPr txBox="1"/>
          <p:nvPr/>
        </p:nvSpPr>
        <p:spPr>
          <a:xfrm>
            <a:off x="4617720" y="2350008"/>
            <a:ext cx="3017520" cy="61264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8.620 → 8.612 grafi</a:t>
            </a:r>
            <a:endParaRPr lang="it-IT" sz="1150"/>
          </a:p>
        </p:txBody>
      </p:sp>
      <p:sp>
        <p:nvSpPr>
          <p:cNvPr id="14" name="Box"/>
          <p:cNvSpPr/>
          <p:nvPr/>
        </p:nvSpPr>
        <p:spPr>
          <a:xfrm>
            <a:off x="8092440" y="16916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5" name="Box"/>
          <p:cNvSpPr/>
          <p:nvPr/>
        </p:nvSpPr>
        <p:spPr>
          <a:xfrm>
            <a:off x="8092440" y="1691640"/>
            <a:ext cx="73152" cy="1417320"/>
          </a:xfrm>
          <a:prstGeom prst="roundRect">
            <a:avLst/>
          </a:prstGeom>
          <a:solidFill>
            <a:srgbClr val="7868E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6"/>
          <p:cNvSpPr txBox="1"/>
          <p:nvPr/>
        </p:nvSpPr>
        <p:spPr>
          <a:xfrm>
            <a:off x="8321040" y="185623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TEST</a:t>
            </a:r>
            <a:endParaRPr lang="it-IT" sz="1600"/>
          </a:p>
        </p:txBody>
      </p:sp>
      <p:sp>
        <p:nvSpPr>
          <p:cNvPr id="17" name="Text 17"/>
          <p:cNvSpPr txBox="1"/>
          <p:nvPr/>
        </p:nvSpPr>
        <p:spPr>
          <a:xfrm>
            <a:off x="8321040" y="2350008"/>
            <a:ext cx="3017520" cy="61264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8.620 → 8.610 grafi</a:t>
            </a:r>
            <a:endParaRPr lang="it-IT" sz="1150"/>
          </a:p>
        </p:txBody>
      </p:sp>
      <p:sp>
        <p:nvSpPr>
          <p:cNvPr id="18" name="Box"/>
          <p:cNvSpPr/>
          <p:nvPr/>
        </p:nvSpPr>
        <p:spPr>
          <a:xfrm>
            <a:off x="685800" y="3520440"/>
            <a:ext cx="5212080" cy="1828800"/>
          </a:xfrm>
          <a:prstGeom prst="roundRect">
            <a:avLst/>
          </a:prstGeom>
          <a:solidFill>
            <a:srgbClr val="142033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9"/>
          <p:cNvSpPr txBox="1"/>
          <p:nvPr/>
        </p:nvSpPr>
        <p:spPr>
          <a:xfrm>
            <a:off x="914400" y="3822191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400" b="1">
                <a:solidFill>
                  <a:srgbClr val="FFFFFF"/>
                </a:solidFill>
                <a:latin typeface="Aptos"/>
              </a:rPr>
              <a:t>1.786 mosse note</a:t>
            </a:r>
            <a:endParaRPr lang="it-IT" sz="2400"/>
          </a:p>
        </p:txBody>
      </p:sp>
      <p:sp>
        <p:nvSpPr>
          <p:cNvPr id="20" name="Text 20"/>
          <p:cNvSpPr txBox="1"/>
          <p:nvPr/>
        </p:nvSpPr>
        <p:spPr>
          <a:xfrm>
            <a:off x="932688" y="438912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200" b="0">
                <a:solidFill>
                  <a:srgbClr val="8EA0B2"/>
                </a:solidFill>
                <a:latin typeface="Aptos"/>
              </a:rPr>
              <a:t>Il modello A riconosce le mosse osservate durante l’addestramento.</a:t>
            </a:r>
            <a:endParaRPr lang="it-IT" sz="1200"/>
          </a:p>
        </p:txBody>
      </p:sp>
      <p:sp>
        <p:nvSpPr>
          <p:cNvPr id="21" name="Box"/>
          <p:cNvSpPr/>
          <p:nvPr/>
        </p:nvSpPr>
        <p:spPr>
          <a:xfrm>
            <a:off x="6263640" y="3520440"/>
            <a:ext cx="5212080" cy="1828800"/>
          </a:xfrm>
          <a:prstGeom prst="roundRect">
            <a:avLst/>
          </a:prstGeom>
          <a:solidFill>
            <a:srgbClr val="FFF4DD"/>
          </a:solidFill>
          <a:ln w="12700">
            <a:solidFill>
              <a:srgbClr val="F2A93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2"/>
          <p:cNvSpPr txBox="1"/>
          <p:nvPr/>
        </p:nvSpPr>
        <p:spPr>
          <a:xfrm>
            <a:off x="6537960" y="37947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000" b="1">
                <a:solidFill>
                  <a:srgbClr val="F2A93B"/>
                </a:solidFill>
                <a:latin typeface="Aptos"/>
              </a:rPr>
              <a:t>OOV</a:t>
            </a:r>
            <a:endParaRPr lang="it-IT" sz="2000"/>
          </a:p>
        </p:txBody>
      </p:sp>
      <p:sp>
        <p:nvSpPr>
          <p:cNvPr id="23" name="Text 23"/>
          <p:cNvSpPr txBox="1"/>
          <p:nvPr/>
        </p:nvSpPr>
        <p:spPr>
          <a:xfrm>
            <a:off x="7498079" y="3730752"/>
            <a:ext cx="3474720" cy="86868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1">
                <a:solidFill>
                  <a:srgbClr val="172033"/>
                </a:solidFill>
                <a:latin typeface="Aptos"/>
              </a:rPr>
              <a:t>8 mosse nella validazione e 10 nel test non erano mai comparse nel vocabolario di training.</a:t>
            </a:r>
            <a:endParaRPr lang="it-IT" sz="1300"/>
          </a:p>
        </p:txBody>
      </p:sp>
      <p:sp>
        <p:nvSpPr>
          <p:cNvPr id="24" name="Text 24"/>
          <p:cNvSpPr txBox="1"/>
          <p:nvPr/>
        </p:nvSpPr>
        <p:spPr>
          <a:xfrm>
            <a:off x="6537960" y="4818888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00" b="0">
                <a:solidFill>
                  <a:srgbClr val="5C6B7A"/>
                </a:solidFill>
                <a:latin typeface="Aptos"/>
              </a:rPr>
              <a:t>Per i risultati ufficiali vengono valutati 8.610 puzzle.</a:t>
            </a:r>
            <a:endParaRPr lang="it-IT" sz="1100"/>
          </a:p>
        </p:txBody>
      </p:sp>
      <p:sp>
        <p:nvSpPr>
          <p:cNvPr id="25" name="Text 25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10/68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5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1371600" cy="5120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CA59F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01952"/>
            <a:ext cx="1088136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Aptos"/>
              </a:rPr>
              <a:t>Dalla scacchiera al grafo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163824"/>
            <a:ext cx="97840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Quali informazioni di una posizione scacchistica sono visibili alla rete neurale?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GRAPHMATE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11/68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IDEA DI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Perché trasformiamo la scacchiera in un grafo?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2339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dirty="0">
                <a:solidFill>
                  <a:srgbClr val="697789"/>
                </a:solidFill>
                <a:latin typeface="Aptos"/>
              </a:rPr>
              <a:t>Una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scacchiera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ha 64 </a:t>
            </a:r>
            <a:r>
              <a:rPr lang="it-IT" sz="1280" b="0" dirty="0">
                <a:solidFill>
                  <a:srgbClr val="697789"/>
                </a:solidFill>
                <a:latin typeface="Aptos"/>
              </a:rPr>
              <a:t>celle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, ma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i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rapporti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tra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i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pezzi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non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seguono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soltanto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la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vicinanza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geometrica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19656"/>
            <a:ext cx="5166360" cy="3529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19656"/>
            <a:ext cx="68580" cy="3529584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02536"/>
            <a:ext cx="4727448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5253B"/>
                </a:solidFill>
                <a:latin typeface="Aptos"/>
              </a:rPr>
              <a:t>Nodi = le 64 </a:t>
            </a:r>
            <a:r>
              <a:rPr lang="it-IT" sz="1800" b="1" dirty="0">
                <a:solidFill>
                  <a:srgbClr val="15253B"/>
                </a:solidFill>
                <a:latin typeface="Aptos"/>
              </a:rPr>
              <a:t>celle</a:t>
            </a:r>
            <a:endParaRPr sz="1800" b="1" dirty="0">
              <a:solidFill>
                <a:srgbClr val="15253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0976" y="2542032"/>
            <a:ext cx="4727448" cy="176048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1C2A40"/>
                </a:solidFill>
                <a:latin typeface="Aptos"/>
              </a:rPr>
              <a:t>Ogni </a:t>
            </a:r>
            <a:r>
              <a:rPr lang="it-IT" sz="1600" b="0" dirty="0">
                <a:solidFill>
                  <a:srgbClr val="1C2A40"/>
                </a:solidFill>
                <a:latin typeface="Aptos"/>
              </a:rPr>
              <a:t>cella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è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rappresentata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anche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se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vuota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600" b="0" dirty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1C2A40"/>
                </a:solidFill>
                <a:latin typeface="Aptos"/>
              </a:rPr>
              <a:t>La </a:t>
            </a:r>
            <a:r>
              <a:rPr lang="it-IT" sz="1600" b="0" dirty="0">
                <a:solidFill>
                  <a:srgbClr val="1C2A40"/>
                </a:solidFill>
                <a:latin typeface="Aptos"/>
              </a:rPr>
              <a:t>cella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porta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informazioni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sul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pezzo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sulle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coordinate e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sulla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situazione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tattica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600" b="0" dirty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1C2A40"/>
                </a:solidFill>
                <a:latin typeface="Aptos"/>
              </a:rPr>
              <a:t>Questo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mantiene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sempre la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stessa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struttura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di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partenza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819656"/>
            <a:ext cx="5257800" cy="3529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81344" y="1819656"/>
            <a:ext cx="68580" cy="3529584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002536"/>
            <a:ext cx="4818888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Archi = le relazioni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42032"/>
            <a:ext cx="4818888" cy="126803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1C2A40"/>
                </a:solidFill>
                <a:latin typeface="Aptos"/>
              </a:rPr>
              <a:t>Colleghiamo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due </a:t>
            </a:r>
            <a:r>
              <a:rPr lang="it-IT" sz="1600" b="0" dirty="0">
                <a:solidFill>
                  <a:srgbClr val="1C2A40"/>
                </a:solidFill>
                <a:latin typeface="Aptos"/>
              </a:rPr>
              <a:t>celle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quando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esiste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un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rapporto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utile: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una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mossa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, un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attacco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una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difesa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un’inchiodatura</a:t>
            </a:r>
            <a:r>
              <a:rPr lang="en-US" sz="1600" b="0" dirty="0">
                <a:solidFill>
                  <a:srgbClr val="1C2A40"/>
                </a:solidFill>
                <a:latin typeface="Aptos"/>
              </a:rPr>
              <a:t> (pin)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o uno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scacco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600" b="0" dirty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1C2A40"/>
                </a:solidFill>
                <a:latin typeface="Aptos"/>
              </a:rPr>
              <a:t>Non è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una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griglia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di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collegamenti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fra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</a:t>
            </a:r>
            <a:r>
              <a:rPr lang="it-IT" sz="1600" b="0" dirty="0">
                <a:solidFill>
                  <a:srgbClr val="1C2A40"/>
                </a:solidFill>
                <a:latin typeface="Aptos"/>
              </a:rPr>
              <a:t>celle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adiacenti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69280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742432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Il numero di nodi è fisso (64); il numero di archi cambia con la posizione.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12/68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ESEMPIO CONCRETO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Un grafo racconta rapporti che non si vedono dalla distanza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2339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dirty="0">
                <a:solidFill>
                  <a:srgbClr val="697789"/>
                </a:solidFill>
                <a:latin typeface="Aptos"/>
              </a:rPr>
              <a:t>La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stessa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coppia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di </a:t>
            </a:r>
            <a:r>
              <a:rPr lang="it-IT" sz="1280" b="0" dirty="0">
                <a:solidFill>
                  <a:srgbClr val="697789"/>
                </a:solidFill>
                <a:latin typeface="Aptos"/>
              </a:rPr>
              <a:t>celle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può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avere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più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tipi di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relazione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, e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gli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archi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hanno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una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direzione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01952"/>
            <a:ext cx="3410712" cy="3364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901952"/>
            <a:ext cx="68580" cy="3364992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6695" y="2084832"/>
            <a:ext cx="297180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Una torre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2624328"/>
            <a:ext cx="2971800" cy="9602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1C2A40"/>
                </a:solidFill>
                <a:latin typeface="Aptos"/>
              </a:rPr>
              <a:t>Una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torre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sulla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colonna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può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attaccare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un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pezzo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lontano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diverse </a:t>
            </a:r>
            <a:r>
              <a:rPr lang="it-IT" sz="1500" b="0" dirty="0">
                <a:solidFill>
                  <a:srgbClr val="1C2A40"/>
                </a:solidFill>
                <a:latin typeface="Aptos"/>
              </a:rPr>
              <a:t>celle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: il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collegamento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non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dipende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dalla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distanza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901952"/>
            <a:ext cx="3410712" cy="3364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16552" y="1901952"/>
            <a:ext cx="68580" cy="3364992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2084832"/>
            <a:ext cx="297180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Un pezzo protetto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24328"/>
            <a:ext cx="2971800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Quando un pezzo alleato è difeso, lo rappresentiamo con un arco dal difendente al pezzo protetto.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901952"/>
            <a:ext cx="3410712" cy="3364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55864" y="1901952"/>
            <a:ext cx="68580" cy="3364992"/>
          </a:xfrm>
          <a:prstGeom prst="rect">
            <a:avLst/>
          </a:prstGeom>
          <a:solidFill>
            <a:srgbClr val="E65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2084832"/>
            <a:ext cx="297180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Un re in scacco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624328"/>
            <a:ext cx="2971800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La relazione di scacco collega direttamente il pezzo che dà scacco al re interessato.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669280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742432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Le frecce rappresentano relazioni scacchistiche, non movimenti già eseguiti.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13/68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FEATURE DEI NODI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dirty="0">
                <a:solidFill>
                  <a:srgbClr val="15253B"/>
                </a:solidFill>
                <a:latin typeface="Aptos"/>
              </a:rPr>
              <a:t>15 </a:t>
            </a:r>
            <a:r>
              <a:rPr sz="2600" b="1" dirty="0" err="1">
                <a:solidFill>
                  <a:srgbClr val="15253B"/>
                </a:solidFill>
                <a:latin typeface="Aptos"/>
              </a:rPr>
              <a:t>valori</a:t>
            </a:r>
            <a:r>
              <a:rPr sz="2600" b="1" dirty="0">
                <a:solidFill>
                  <a:srgbClr val="15253B"/>
                </a:solidFill>
                <a:latin typeface="Aptos"/>
              </a:rPr>
              <a:t> per </a:t>
            </a:r>
            <a:r>
              <a:rPr lang="it-IT" sz="2600" b="1" dirty="0">
                <a:solidFill>
                  <a:srgbClr val="15253B"/>
                </a:solidFill>
                <a:latin typeface="Aptos"/>
              </a:rPr>
              <a:t>cella</a:t>
            </a:r>
            <a:r>
              <a:rPr sz="2600" b="1" dirty="0">
                <a:solidFill>
                  <a:srgbClr val="15253B"/>
                </a:solidFill>
                <a:latin typeface="Aptos"/>
              </a:rPr>
              <a:t>: </a:t>
            </a:r>
            <a:r>
              <a:rPr sz="2600" b="1" dirty="0" err="1">
                <a:solidFill>
                  <a:srgbClr val="15253B"/>
                </a:solidFill>
                <a:latin typeface="Aptos"/>
              </a:rPr>
              <a:t>cosa</a:t>
            </a:r>
            <a:r>
              <a:rPr sz="2600" b="1" dirty="0">
                <a:solidFill>
                  <a:srgbClr val="15253B"/>
                </a:solidFill>
                <a:latin typeface="Aptos"/>
              </a:rPr>
              <a:t> </a:t>
            </a:r>
            <a:r>
              <a:rPr sz="2600" b="1" dirty="0" err="1">
                <a:solidFill>
                  <a:srgbClr val="15253B"/>
                </a:solidFill>
                <a:latin typeface="Aptos"/>
              </a:rPr>
              <a:t>descrivono</a:t>
            </a:r>
            <a:r>
              <a:rPr sz="2600" b="1" dirty="0">
                <a:solidFill>
                  <a:srgbClr val="15253B"/>
                </a:solidFill>
                <a:latin typeface="Aptos"/>
              </a:rPr>
              <a:t> </a:t>
            </a:r>
            <a:r>
              <a:rPr sz="2600" b="1" dirty="0" err="1">
                <a:solidFill>
                  <a:srgbClr val="15253B"/>
                </a:solidFill>
                <a:latin typeface="Aptos"/>
              </a:rPr>
              <a:t>davvero</a:t>
            </a:r>
            <a:r>
              <a:rPr sz="2600" b="1" dirty="0">
                <a:solidFill>
                  <a:srgbClr val="15253B"/>
                </a:solidFill>
                <a:latin typeface="Aptos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2339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dirty="0" err="1">
                <a:solidFill>
                  <a:srgbClr val="697789"/>
                </a:solidFill>
                <a:latin typeface="Aptos"/>
              </a:rPr>
              <a:t>Alcuni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indicano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cosa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occupa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la </a:t>
            </a:r>
            <a:r>
              <a:rPr lang="it-IT" sz="1280" b="0" dirty="0">
                <a:solidFill>
                  <a:srgbClr val="697789"/>
                </a:solidFill>
                <a:latin typeface="Aptos"/>
              </a:rPr>
              <a:t>cella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;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altri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descrivono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ciò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che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potrebbe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accadere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nella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posizione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810512"/>
            <a:ext cx="5193792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" y="1810512"/>
            <a:ext cx="68580" cy="1645920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1993392"/>
            <a:ext cx="4754879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Che pezzo c’è?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532888"/>
            <a:ext cx="4754879" cy="4308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dirty="0">
                <a:solidFill>
                  <a:srgbClr val="1C2A40"/>
                </a:solidFill>
                <a:latin typeface="Aptos"/>
              </a:rPr>
              <a:t>6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indicatori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distinti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per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pedone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, cavallo,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alfiere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,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torre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, donna e re. </a:t>
            </a:r>
            <a:r>
              <a:rPr lang="it-IT" sz="1280" b="0" dirty="0">
                <a:solidFill>
                  <a:srgbClr val="1C2A40"/>
                </a:solidFill>
                <a:latin typeface="Aptos"/>
              </a:rPr>
              <a:t>cella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vuota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: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nessuno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acceso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0096" y="2066543"/>
            <a:ext cx="347472" cy="3383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65A7E"/>
                </a:solidFill>
                <a:latin typeface="Aptos"/>
              </a:rP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810512"/>
            <a:ext cx="5193792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8" y="1810512"/>
            <a:ext cx="68580" cy="1645920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1993392"/>
            <a:ext cx="4754879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Dove e di chi?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532888"/>
            <a:ext cx="4754879" cy="4308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dirty="0" err="1">
                <a:solidFill>
                  <a:srgbClr val="1C2A40"/>
                </a:solidFill>
                <a:latin typeface="Aptos"/>
              </a:rPr>
              <a:t>Colore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,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occupazione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e coordinate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normalizzate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.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Anche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una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lang="it-IT" sz="1280" b="0" dirty="0">
                <a:solidFill>
                  <a:srgbClr val="1C2A40"/>
                </a:solidFill>
                <a:latin typeface="Aptos"/>
              </a:rPr>
              <a:t>cella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vuota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mantiene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la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posizione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sulla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scacchiera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72216" y="2066543"/>
            <a:ext cx="347472" cy="3383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65A7E"/>
                </a:solidFill>
                <a:latin typeface="Apto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" y="3666744"/>
            <a:ext cx="5193792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4088" y="3666744"/>
            <a:ext cx="68580" cy="1645920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" y="3849624"/>
            <a:ext cx="4754879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Che pressioni subisce?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4389120"/>
            <a:ext cx="4754879" cy="4308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dirty="0">
                <a:solidFill>
                  <a:srgbClr val="1C2A40"/>
                </a:solidFill>
                <a:latin typeface="Aptos"/>
              </a:rPr>
              <a:t>Indica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gli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attacchi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del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bianco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e del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nero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e la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mobilità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legale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associata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alla </a:t>
            </a:r>
            <a:r>
              <a:rPr lang="it-IT" sz="1280" b="0" dirty="0">
                <a:solidFill>
                  <a:srgbClr val="1C2A40"/>
                </a:solidFill>
                <a:latin typeface="Aptos"/>
              </a:rPr>
              <a:t>cella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3922776"/>
            <a:ext cx="347472" cy="3383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65A7E"/>
                </a:solidFill>
                <a:latin typeface="Aptos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666744"/>
            <a:ext cx="5193792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36208" y="3666744"/>
            <a:ext cx="68580" cy="1645920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55664" y="3849624"/>
            <a:ext cx="4754879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Qual è il suo ruolo tattico?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4389120"/>
            <a:ext cx="4754879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C2A40"/>
                </a:solidFill>
                <a:latin typeface="Aptos"/>
              </a:rPr>
              <a:t>Segnala l’eventuale inchiodatura del pezzo e ne conserva il valore materiale.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72216" y="3922776"/>
            <a:ext cx="347472" cy="3383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65A7E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14/68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 dirty="0">
                <a:solidFill>
                  <a:srgbClr val="18A6A6"/>
                </a:solidFill>
                <a:latin typeface="Aptos"/>
              </a:rPr>
              <a:t>COME COLLEGHIAMO LE CELLE</a:t>
            </a:r>
            <a:endParaRPr lang="it-IT" sz="900" dirty="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 dirty="0">
                <a:solidFill>
                  <a:srgbClr val="172033"/>
                </a:solidFill>
                <a:latin typeface="Aptos"/>
              </a:rPr>
              <a:t>Cinque tipi di relazione tra le celle</a:t>
            </a:r>
            <a:endParaRPr lang="it-IT" sz="2600" dirty="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 dirty="0">
                <a:solidFill>
                  <a:srgbClr val="5C6B7A"/>
                </a:solidFill>
                <a:latin typeface="Aptos"/>
              </a:rPr>
              <a:t>Due celle possono essere collegate per più motivi: una mossa può, per esempio, essere anche una cattura.</a:t>
            </a:r>
            <a:endParaRPr lang="it-IT" sz="1300" dirty="0"/>
          </a:p>
        </p:txBody>
      </p:sp>
      <p:sp>
        <p:nvSpPr>
          <p:cNvPr id="6" name="Box"/>
          <p:cNvSpPr/>
          <p:nvPr/>
        </p:nvSpPr>
        <p:spPr>
          <a:xfrm>
            <a:off x="685800" y="160020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Box"/>
          <p:cNvSpPr/>
          <p:nvPr/>
        </p:nvSpPr>
        <p:spPr>
          <a:xfrm>
            <a:off x="685800" y="1600200"/>
            <a:ext cx="73152" cy="1234440"/>
          </a:xfrm>
          <a:prstGeom prst="roundRect">
            <a:avLst/>
          </a:prstGeom>
          <a:solidFill>
            <a:srgbClr val="377D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8"/>
          <p:cNvSpPr txBox="1"/>
          <p:nvPr/>
        </p:nvSpPr>
        <p:spPr>
          <a:xfrm>
            <a:off x="905256" y="1783080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800" b="1">
                <a:solidFill>
                  <a:srgbClr val="377DFF"/>
                </a:solidFill>
                <a:latin typeface="Aptos"/>
              </a:rPr>
              <a:t>0</a:t>
            </a:r>
            <a:endParaRPr lang="it-IT" sz="1800"/>
          </a:p>
        </p:txBody>
      </p:sp>
      <p:sp>
        <p:nvSpPr>
          <p:cNvPr id="9" name="Text 9"/>
          <p:cNvSpPr txBox="1"/>
          <p:nvPr/>
        </p:nvSpPr>
        <p:spPr>
          <a:xfrm>
            <a:off x="1417320" y="1764792"/>
            <a:ext cx="3063239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Mossa legale</a:t>
            </a:r>
            <a:endParaRPr lang="it-IT" sz="1600"/>
          </a:p>
        </p:txBody>
      </p:sp>
      <p:sp>
        <p:nvSpPr>
          <p:cNvPr id="10" name="Text 10"/>
          <p:cNvSpPr txBox="1"/>
          <p:nvPr/>
        </p:nvSpPr>
        <p:spPr>
          <a:xfrm>
            <a:off x="914400" y="2258568"/>
            <a:ext cx="3063239" cy="4297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da dove parte → dove arriva</a:t>
            </a:r>
            <a:endParaRPr lang="it-IT" sz="1150"/>
          </a:p>
        </p:txBody>
      </p:sp>
      <p:sp>
        <p:nvSpPr>
          <p:cNvPr id="11" name="Box"/>
          <p:cNvSpPr/>
          <p:nvPr/>
        </p:nvSpPr>
        <p:spPr>
          <a:xfrm>
            <a:off x="4480560" y="160020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"/>
          <p:cNvSpPr/>
          <p:nvPr/>
        </p:nvSpPr>
        <p:spPr>
          <a:xfrm>
            <a:off x="4480560" y="1600200"/>
            <a:ext cx="73152" cy="1234440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3"/>
          <p:cNvSpPr txBox="1"/>
          <p:nvPr/>
        </p:nvSpPr>
        <p:spPr>
          <a:xfrm>
            <a:off x="4700016" y="1783080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800" b="1">
                <a:solidFill>
                  <a:srgbClr val="E85D75"/>
                </a:solidFill>
                <a:latin typeface="Aptos"/>
              </a:rPr>
              <a:t>1</a:t>
            </a:r>
            <a:endParaRPr lang="it-IT" sz="1800"/>
          </a:p>
        </p:txBody>
      </p:sp>
      <p:sp>
        <p:nvSpPr>
          <p:cNvPr id="14" name="Text 14"/>
          <p:cNvSpPr txBox="1"/>
          <p:nvPr/>
        </p:nvSpPr>
        <p:spPr>
          <a:xfrm>
            <a:off x="5212080" y="1764792"/>
            <a:ext cx="3063239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Attacco</a:t>
            </a:r>
            <a:endParaRPr lang="it-IT" sz="1600"/>
          </a:p>
        </p:txBody>
      </p:sp>
      <p:sp>
        <p:nvSpPr>
          <p:cNvPr id="15" name="Text 15"/>
          <p:cNvSpPr txBox="1"/>
          <p:nvPr/>
        </p:nvSpPr>
        <p:spPr>
          <a:xfrm>
            <a:off x="4709160" y="2258568"/>
            <a:ext cx="3063239" cy="4297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un pezzo minaccia un avversario</a:t>
            </a:r>
            <a:endParaRPr lang="it-IT" sz="1150"/>
          </a:p>
        </p:txBody>
      </p:sp>
      <p:sp>
        <p:nvSpPr>
          <p:cNvPr id="16" name="Box"/>
          <p:cNvSpPr/>
          <p:nvPr/>
        </p:nvSpPr>
        <p:spPr>
          <a:xfrm>
            <a:off x="8275320" y="160020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7" name="Box"/>
          <p:cNvSpPr/>
          <p:nvPr/>
        </p:nvSpPr>
        <p:spPr>
          <a:xfrm>
            <a:off x="8275320" y="1600200"/>
            <a:ext cx="73152" cy="1234440"/>
          </a:xfrm>
          <a:prstGeom prst="roundRect">
            <a:avLst/>
          </a:prstGeom>
          <a:solidFill>
            <a:srgbClr val="35B779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8"/>
          <p:cNvSpPr txBox="1"/>
          <p:nvPr/>
        </p:nvSpPr>
        <p:spPr>
          <a:xfrm>
            <a:off x="8494776" y="1783080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800" b="1">
                <a:solidFill>
                  <a:srgbClr val="35B779"/>
                </a:solidFill>
                <a:latin typeface="Aptos"/>
              </a:rPr>
              <a:t>2</a:t>
            </a:r>
            <a:endParaRPr lang="it-IT" sz="1800"/>
          </a:p>
        </p:txBody>
      </p:sp>
      <p:sp>
        <p:nvSpPr>
          <p:cNvPr id="19" name="Text 19"/>
          <p:cNvSpPr txBox="1"/>
          <p:nvPr/>
        </p:nvSpPr>
        <p:spPr>
          <a:xfrm>
            <a:off x="9006840" y="1764792"/>
            <a:ext cx="3063239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Difesa</a:t>
            </a:r>
            <a:endParaRPr lang="it-IT" sz="1600"/>
          </a:p>
        </p:txBody>
      </p:sp>
      <p:sp>
        <p:nvSpPr>
          <p:cNvPr id="20" name="Text 20"/>
          <p:cNvSpPr txBox="1"/>
          <p:nvPr/>
        </p:nvSpPr>
        <p:spPr>
          <a:xfrm>
            <a:off x="8503920" y="2258568"/>
            <a:ext cx="3063239" cy="4297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un pezzo protegge un alleato</a:t>
            </a:r>
            <a:endParaRPr lang="it-IT" sz="1150"/>
          </a:p>
        </p:txBody>
      </p:sp>
      <p:sp>
        <p:nvSpPr>
          <p:cNvPr id="21" name="Box"/>
          <p:cNvSpPr/>
          <p:nvPr/>
        </p:nvSpPr>
        <p:spPr>
          <a:xfrm>
            <a:off x="685800" y="315468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2" name="Box"/>
          <p:cNvSpPr/>
          <p:nvPr/>
        </p:nvSpPr>
        <p:spPr>
          <a:xfrm>
            <a:off x="685800" y="3154680"/>
            <a:ext cx="73152" cy="1234440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3"/>
          <p:cNvSpPr txBox="1"/>
          <p:nvPr/>
        </p:nvSpPr>
        <p:spPr>
          <a:xfrm>
            <a:off x="905256" y="3337560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800" b="1">
                <a:solidFill>
                  <a:srgbClr val="F2A93B"/>
                </a:solidFill>
                <a:latin typeface="Aptos"/>
              </a:rPr>
              <a:t>3</a:t>
            </a:r>
            <a:endParaRPr lang="it-IT" sz="1800"/>
          </a:p>
        </p:txBody>
      </p:sp>
      <p:sp>
        <p:nvSpPr>
          <p:cNvPr id="24" name="Text 24"/>
          <p:cNvSpPr txBox="1"/>
          <p:nvPr/>
        </p:nvSpPr>
        <p:spPr>
          <a:xfrm>
            <a:off x="1417320" y="3319272"/>
            <a:ext cx="3063239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Inchiodatura</a:t>
            </a:r>
            <a:endParaRPr lang="it-IT" sz="1600"/>
          </a:p>
        </p:txBody>
      </p:sp>
      <p:sp>
        <p:nvSpPr>
          <p:cNvPr id="25" name="Text 25"/>
          <p:cNvSpPr txBox="1"/>
          <p:nvPr/>
        </p:nvSpPr>
        <p:spPr>
          <a:xfrm>
            <a:off x="914400" y="3813048"/>
            <a:ext cx="3063239" cy="4297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un pezzo blocca un attacco al re</a:t>
            </a:r>
            <a:endParaRPr lang="it-IT" sz="1150"/>
          </a:p>
        </p:txBody>
      </p:sp>
      <p:sp>
        <p:nvSpPr>
          <p:cNvPr id="26" name="Box"/>
          <p:cNvSpPr/>
          <p:nvPr/>
        </p:nvSpPr>
        <p:spPr>
          <a:xfrm>
            <a:off x="4480560" y="315468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7" name="Box"/>
          <p:cNvSpPr/>
          <p:nvPr/>
        </p:nvSpPr>
        <p:spPr>
          <a:xfrm>
            <a:off x="4480560" y="3154680"/>
            <a:ext cx="73152" cy="1234440"/>
          </a:xfrm>
          <a:prstGeom prst="roundRect">
            <a:avLst/>
          </a:prstGeom>
          <a:solidFill>
            <a:srgbClr val="7868E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8"/>
          <p:cNvSpPr txBox="1"/>
          <p:nvPr/>
        </p:nvSpPr>
        <p:spPr>
          <a:xfrm>
            <a:off x="4700016" y="3337560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800" b="1">
                <a:solidFill>
                  <a:srgbClr val="7868E6"/>
                </a:solidFill>
                <a:latin typeface="Aptos"/>
              </a:rPr>
              <a:t>4</a:t>
            </a:r>
            <a:endParaRPr lang="it-IT" sz="1800"/>
          </a:p>
        </p:txBody>
      </p:sp>
      <p:sp>
        <p:nvSpPr>
          <p:cNvPr id="29" name="Text 29"/>
          <p:cNvSpPr txBox="1"/>
          <p:nvPr/>
        </p:nvSpPr>
        <p:spPr>
          <a:xfrm>
            <a:off x="5212080" y="3319272"/>
            <a:ext cx="3063239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Scacco</a:t>
            </a:r>
            <a:endParaRPr lang="it-IT" sz="1600"/>
          </a:p>
        </p:txBody>
      </p:sp>
      <p:sp>
        <p:nvSpPr>
          <p:cNvPr id="30" name="Text 30"/>
          <p:cNvSpPr txBox="1"/>
          <p:nvPr/>
        </p:nvSpPr>
        <p:spPr>
          <a:xfrm>
            <a:off x="4709160" y="3813048"/>
            <a:ext cx="3063239" cy="4297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il pezzo dà scacco al re</a:t>
            </a:r>
            <a:endParaRPr lang="it-IT" sz="1150"/>
          </a:p>
        </p:txBody>
      </p:sp>
      <p:sp>
        <p:nvSpPr>
          <p:cNvPr id="31" name="Box"/>
          <p:cNvSpPr/>
          <p:nvPr/>
        </p:nvSpPr>
        <p:spPr>
          <a:xfrm>
            <a:off x="8183879" y="3154680"/>
            <a:ext cx="3246120" cy="1234440"/>
          </a:xfrm>
          <a:prstGeom prst="roundRect">
            <a:avLst/>
          </a:prstGeom>
          <a:solidFill>
            <a:srgbClr val="142033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2"/>
          <p:cNvSpPr txBox="1"/>
          <p:nvPr/>
        </p:nvSpPr>
        <p:spPr>
          <a:xfrm>
            <a:off x="8385048" y="3410712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800" b="1">
                <a:solidFill>
                  <a:srgbClr val="FFFFFF"/>
                </a:solidFill>
                <a:latin typeface="Aptos"/>
              </a:rPr>
              <a:t>[1, 1, 0, 0, 0]</a:t>
            </a:r>
            <a:endParaRPr lang="it-IT" sz="1800"/>
          </a:p>
        </p:txBody>
      </p:sp>
      <p:sp>
        <p:nvSpPr>
          <p:cNvPr id="33" name="Text 33"/>
          <p:cNvSpPr txBox="1"/>
          <p:nvPr/>
        </p:nvSpPr>
        <p:spPr>
          <a:xfrm>
            <a:off x="8412480" y="38862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000" b="0">
                <a:solidFill>
                  <a:srgbClr val="8EA0B2"/>
                </a:solidFill>
                <a:latin typeface="Aptos"/>
              </a:rPr>
              <a:t>esempio: mossa e cattura</a:t>
            </a:r>
            <a:endParaRPr lang="it-IT" sz="1000"/>
          </a:p>
        </p:txBody>
      </p:sp>
      <p:sp>
        <p:nvSpPr>
          <p:cNvPr id="34" name="Text 34"/>
          <p:cNvSpPr txBox="1"/>
          <p:nvPr/>
        </p:nvSpPr>
        <p:spPr>
          <a:xfrm>
            <a:off x="841248" y="5074920"/>
            <a:ext cx="10332720" cy="53035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400" b="1">
                <a:solidFill>
                  <a:srgbClr val="172033"/>
                </a:solidFill>
                <a:latin typeface="Aptos"/>
              </a:rPr>
              <a:t>Ogni collegamento conserva quali relazioni sono presenti; lo scacco collega direttamente attaccante e re.</a:t>
            </a:r>
            <a:endParaRPr lang="it-IT" sz="1400"/>
          </a:p>
        </p:txBody>
      </p:sp>
      <p:sp>
        <p:nvSpPr>
          <p:cNvPr id="35" name="Text 35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15/68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CONTESTO DELLA POSIZIONE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Quattro informazioni sull’intera partita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 dirty="0">
                <a:solidFill>
                  <a:srgbClr val="5C6B7A"/>
                </a:solidFill>
                <a:latin typeface="Aptos"/>
              </a:rPr>
              <a:t>Oltre alle singole celle, il modello riceve alcuni dati che descrivono la situazione generale.</a:t>
            </a:r>
            <a:endParaRPr lang="it-IT" sz="1300" dirty="0"/>
          </a:p>
        </p:txBody>
      </p:sp>
      <p:sp>
        <p:nvSpPr>
          <p:cNvPr id="6" name="Box"/>
          <p:cNvSpPr/>
          <p:nvPr/>
        </p:nvSpPr>
        <p:spPr>
          <a:xfrm>
            <a:off x="685800" y="1572768"/>
            <a:ext cx="2487168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Box"/>
          <p:cNvSpPr/>
          <p:nvPr/>
        </p:nvSpPr>
        <p:spPr>
          <a:xfrm>
            <a:off x="685800" y="1572768"/>
            <a:ext cx="73152" cy="1261872"/>
          </a:xfrm>
          <a:prstGeom prst="roundRect">
            <a:avLst/>
          </a:prstGeom>
          <a:solidFill>
            <a:srgbClr val="377D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8"/>
          <p:cNvSpPr txBox="1"/>
          <p:nvPr/>
        </p:nvSpPr>
        <p:spPr>
          <a:xfrm>
            <a:off x="914400" y="1737360"/>
            <a:ext cx="2075688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side_to_move</a:t>
            </a:r>
            <a:endParaRPr lang="it-IT" sz="1600"/>
          </a:p>
        </p:txBody>
      </p:sp>
      <p:sp>
        <p:nvSpPr>
          <p:cNvPr id="9" name="Text 9"/>
          <p:cNvSpPr txBox="1"/>
          <p:nvPr/>
        </p:nvSpPr>
        <p:spPr>
          <a:xfrm>
            <a:off x="914400" y="2231136"/>
            <a:ext cx="2075688" cy="457199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Di chi è il turno?</a:t>
            </a:r>
            <a:endParaRPr lang="it-IT" sz="1150"/>
          </a:p>
        </p:txBody>
      </p:sp>
      <p:sp>
        <p:nvSpPr>
          <p:cNvPr id="10" name="Box"/>
          <p:cNvSpPr/>
          <p:nvPr/>
        </p:nvSpPr>
        <p:spPr>
          <a:xfrm>
            <a:off x="3429000" y="1572768"/>
            <a:ext cx="2487168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Box"/>
          <p:cNvSpPr/>
          <p:nvPr/>
        </p:nvSpPr>
        <p:spPr>
          <a:xfrm>
            <a:off x="3429000" y="1572768"/>
            <a:ext cx="73152" cy="1261872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2"/>
          <p:cNvSpPr txBox="1"/>
          <p:nvPr/>
        </p:nvSpPr>
        <p:spPr>
          <a:xfrm>
            <a:off x="3657600" y="1737360"/>
            <a:ext cx="2075688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is_check</a:t>
            </a:r>
            <a:endParaRPr lang="it-IT" sz="1600"/>
          </a:p>
        </p:txBody>
      </p:sp>
      <p:sp>
        <p:nvSpPr>
          <p:cNvPr id="13" name="Text 13"/>
          <p:cNvSpPr txBox="1"/>
          <p:nvPr/>
        </p:nvSpPr>
        <p:spPr>
          <a:xfrm>
            <a:off x="3657600" y="2231136"/>
            <a:ext cx="2075688" cy="457199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Il re è sotto scacco?</a:t>
            </a:r>
            <a:endParaRPr lang="it-IT" sz="1150"/>
          </a:p>
        </p:txBody>
      </p:sp>
      <p:sp>
        <p:nvSpPr>
          <p:cNvPr id="14" name="Box"/>
          <p:cNvSpPr/>
          <p:nvPr/>
        </p:nvSpPr>
        <p:spPr>
          <a:xfrm>
            <a:off x="6172200" y="1572768"/>
            <a:ext cx="2487168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5" name="Box"/>
          <p:cNvSpPr/>
          <p:nvPr/>
        </p:nvSpPr>
        <p:spPr>
          <a:xfrm>
            <a:off x="6172200" y="1572768"/>
            <a:ext cx="73152" cy="1261872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6"/>
          <p:cNvSpPr txBox="1"/>
          <p:nvPr/>
        </p:nvSpPr>
        <p:spPr>
          <a:xfrm>
            <a:off x="6400800" y="1737360"/>
            <a:ext cx="2075688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fullmove</a:t>
            </a:r>
            <a:endParaRPr lang="it-IT" sz="1600"/>
          </a:p>
        </p:txBody>
      </p:sp>
      <p:sp>
        <p:nvSpPr>
          <p:cNvPr id="17" name="Text 17"/>
          <p:cNvSpPr txBox="1"/>
          <p:nvPr/>
        </p:nvSpPr>
        <p:spPr>
          <a:xfrm>
            <a:off x="6400800" y="2231136"/>
            <a:ext cx="2075688" cy="457199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Numero della mossa, normalizzato</a:t>
            </a:r>
            <a:endParaRPr lang="it-IT" sz="1150"/>
          </a:p>
        </p:txBody>
      </p:sp>
      <p:sp>
        <p:nvSpPr>
          <p:cNvPr id="18" name="Box"/>
          <p:cNvSpPr/>
          <p:nvPr/>
        </p:nvSpPr>
        <p:spPr>
          <a:xfrm>
            <a:off x="8915400" y="1572768"/>
            <a:ext cx="2487168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9" name="Box"/>
          <p:cNvSpPr/>
          <p:nvPr/>
        </p:nvSpPr>
        <p:spPr>
          <a:xfrm>
            <a:off x="8915400" y="1572768"/>
            <a:ext cx="73152" cy="1261872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20"/>
          <p:cNvSpPr txBox="1"/>
          <p:nvPr/>
        </p:nvSpPr>
        <p:spPr>
          <a:xfrm>
            <a:off x="9144000" y="1737360"/>
            <a:ext cx="2075688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halfmove</a:t>
            </a:r>
            <a:endParaRPr lang="it-IT" sz="1600"/>
          </a:p>
        </p:txBody>
      </p:sp>
      <p:sp>
        <p:nvSpPr>
          <p:cNvPr id="21" name="Text 21"/>
          <p:cNvSpPr txBox="1"/>
          <p:nvPr/>
        </p:nvSpPr>
        <p:spPr>
          <a:xfrm>
            <a:off x="9144000" y="2231136"/>
            <a:ext cx="2075688" cy="457199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Mosse senza presa o pedone</a:t>
            </a:r>
            <a:endParaRPr lang="it-IT" sz="1150"/>
          </a:p>
        </p:txBody>
      </p:sp>
      <p:sp>
        <p:nvSpPr>
          <p:cNvPr id="22" name="Text 22"/>
          <p:cNvSpPr txBox="1"/>
          <p:nvPr/>
        </p:nvSpPr>
        <p:spPr>
          <a:xfrm>
            <a:off x="731520" y="333756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Informazioni usate</a:t>
            </a:r>
            <a:endParaRPr lang="it-IT" sz="1600"/>
          </a:p>
        </p:txBody>
      </p:sp>
      <p:sp>
        <p:nvSpPr>
          <p:cNvPr id="23" name="Text 23"/>
          <p:cNvSpPr txBox="1"/>
          <p:nvPr/>
        </p:nvSpPr>
        <p:spPr>
          <a:xfrm>
            <a:off x="749808" y="3767328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1">
                <a:solidFill>
                  <a:srgbClr val="18A6A6"/>
                </a:solidFill>
                <a:latin typeface="Aptos"/>
              </a:rPr>
              <a:t>Nodi · collegamenti · situazione globale</a:t>
            </a:r>
            <a:endParaRPr lang="it-IT" sz="1300"/>
          </a:p>
        </p:txBody>
      </p:sp>
      <p:sp>
        <p:nvSpPr>
          <p:cNvPr id="24" name="Text 24"/>
          <p:cNvSpPr txBox="1"/>
          <p:nvPr/>
        </p:nvSpPr>
        <p:spPr>
          <a:xfrm>
            <a:off x="6144768" y="333756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Dati per controllare</a:t>
            </a:r>
            <a:endParaRPr lang="it-IT" sz="1600"/>
          </a:p>
        </p:txBody>
      </p:sp>
      <p:sp>
        <p:nvSpPr>
          <p:cNvPr id="25" name="Text 25"/>
          <p:cNvSpPr txBox="1"/>
          <p:nvPr/>
        </p:nvSpPr>
        <p:spPr>
          <a:xfrm>
            <a:off x="6144768" y="3767328"/>
            <a:ext cx="5074920" cy="6858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1">
                <a:solidFill>
                  <a:srgbClr val="7868E6"/>
                </a:solidFill>
                <a:latin typeface="Aptos"/>
              </a:rPr>
              <a:t>Risposta esatta · posizione FEN · ID puzzle · difficoltà · profondità del matto</a:t>
            </a:r>
            <a:endParaRPr lang="it-IT" sz="1300"/>
          </a:p>
        </p:txBody>
      </p:sp>
      <p:sp>
        <p:nvSpPr>
          <p:cNvPr id="26" name="Box"/>
          <p:cNvSpPr/>
          <p:nvPr/>
        </p:nvSpPr>
        <p:spPr>
          <a:xfrm>
            <a:off x="731520" y="4892040"/>
            <a:ext cx="10515600" cy="594360"/>
          </a:xfrm>
          <a:prstGeom prst="roundRect">
            <a:avLst/>
          </a:prstGeom>
          <a:solidFill>
            <a:srgbClr val="FDECEF"/>
          </a:solidFill>
          <a:ln w="1270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7"/>
          <p:cNvSpPr txBox="1"/>
          <p:nvPr/>
        </p:nvSpPr>
        <p:spPr>
          <a:xfrm>
            <a:off x="914400" y="5065776"/>
            <a:ext cx="1010412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300" b="1">
                <a:solidFill>
                  <a:srgbClr val="E85D75"/>
                </a:solidFill>
                <a:latin typeface="Aptos"/>
              </a:rPr>
              <a:t>Importante: rating, risposta corretta e profondità del matto non vengono dati come suggerimenti al modello.</a:t>
            </a:r>
            <a:endParaRPr lang="it-IT" sz="1300"/>
          </a:p>
        </p:txBody>
      </p:sp>
      <p:sp>
        <p:nvSpPr>
          <p:cNvPr id="28" name="Text 28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16/68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525" y="9525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FEATURE TEMPORALI · MOTIVAZIONE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15253B"/>
                </a:solidFill>
                <a:latin typeface="Aptos"/>
              </a:rPr>
              <a:t>Perch</a:t>
            </a:r>
            <a:r>
              <a:rPr lang="it-IT" sz="2600" b="1" dirty="0" err="1">
                <a:solidFill>
                  <a:srgbClr val="15253B"/>
                </a:solidFill>
                <a:latin typeface="Aptos"/>
              </a:rPr>
              <a:t>é</a:t>
            </a:r>
            <a:r>
              <a:rPr lang="it-IT" sz="2600" b="1" dirty="0">
                <a:solidFill>
                  <a:srgbClr val="15253B"/>
                </a:solidFill>
                <a:latin typeface="Aptos"/>
              </a:rPr>
              <a:t> </a:t>
            </a:r>
            <a:r>
              <a:rPr lang="en-US" sz="2600" b="1" dirty="0">
                <a:solidFill>
                  <a:srgbClr val="15253B"/>
                </a:solidFill>
                <a:latin typeface="Aptos"/>
              </a:rPr>
              <a:t>il tempo </a:t>
            </a:r>
            <a:r>
              <a:rPr lang="en-US" sz="2600" b="1" dirty="0" err="1">
                <a:solidFill>
                  <a:srgbClr val="15253B"/>
                </a:solidFill>
                <a:latin typeface="Aptos"/>
              </a:rPr>
              <a:t>dovrebbe</a:t>
            </a:r>
            <a:r>
              <a:rPr lang="en-US" sz="2600" b="1" dirty="0">
                <a:solidFill>
                  <a:srgbClr val="15253B"/>
                </a:solidFill>
                <a:latin typeface="Aptos"/>
              </a:rPr>
              <a:t> </a:t>
            </a:r>
            <a:r>
              <a:rPr lang="en-US" sz="2600" b="1" dirty="0" err="1">
                <a:solidFill>
                  <a:srgbClr val="15253B"/>
                </a:solidFill>
                <a:latin typeface="Aptos"/>
              </a:rPr>
              <a:t>influire</a:t>
            </a:r>
            <a:r>
              <a:rPr lang="en-US" sz="2600" b="1" dirty="0">
                <a:solidFill>
                  <a:srgbClr val="15253B"/>
                </a:solidFill>
                <a:latin typeface="Aptos"/>
              </a:rPr>
              <a:t> </a:t>
            </a:r>
            <a:r>
              <a:rPr lang="en-US" sz="2600" b="1" dirty="0" err="1">
                <a:solidFill>
                  <a:srgbClr val="15253B"/>
                </a:solidFill>
                <a:latin typeface="Aptos"/>
              </a:rPr>
              <a:t>sulle</a:t>
            </a:r>
            <a:r>
              <a:rPr lang="en-US" sz="2600" b="1" dirty="0">
                <a:solidFill>
                  <a:srgbClr val="15253B"/>
                </a:solidFill>
                <a:latin typeface="Aptos"/>
              </a:rPr>
              <a:t> </a:t>
            </a:r>
            <a:r>
              <a:rPr lang="en-US" sz="2600" b="1" dirty="0" err="1">
                <a:solidFill>
                  <a:srgbClr val="15253B"/>
                </a:solidFill>
                <a:latin typeface="Aptos"/>
              </a:rPr>
              <a:t>predizioni</a:t>
            </a:r>
            <a:r>
              <a:rPr sz="2600" b="1" dirty="0">
                <a:solidFill>
                  <a:srgbClr val="15253B"/>
                </a:solidFill>
                <a:latin typeface="Aptos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La difficoltà di una posizione potrebbe riflettersi anche nel tempo che un giocatore impiega a decidere.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1847088"/>
            <a:ext cx="5193792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2376" y="1847088"/>
            <a:ext cx="68580" cy="3383280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029968"/>
            <a:ext cx="4754879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L’idea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69464"/>
            <a:ext cx="4754879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Una scelta effettuata in pochi secondi potrebbe avere caratteristiche diverse da una scelta che richiede molto ragionamento.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Abbiamo voluto verificare se un segnale temporale aiutasse la rete a individuare la mossa.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47088"/>
            <a:ext cx="5193792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847088"/>
            <a:ext cx="68580" cy="3383280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2029968"/>
            <a:ext cx="4754879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Il problema dei dati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569464"/>
            <a:ext cx="4754879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Il database dei puzzle non contiene i tempi reali di riflessione del solutore.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Per eseguire l’esperimento abbiamo quindi generato tempi sintetici: utili come prova controllata, non equivalenti a misure umane.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696712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Questa ipotesi viene testata confrontando A3 (senza tempo) e B (con tempo).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17/68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1CA59F"/>
                </a:solidFill>
                <a:latin typeface="Aptos"/>
              </a:rPr>
              <a:t>TIMING SINTETICO </a:t>
            </a:r>
            <a:endParaRPr lang="it-IT" sz="900" b="1" dirty="0">
              <a:solidFill>
                <a:srgbClr val="1CA59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Come abbiamo generato i tempi simulati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Procedura ripetibile: la stessa posizione riceve gli stessi valori ogni volta che ricostruiamo il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83664"/>
            <a:ext cx="2715768" cy="1511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1883664"/>
            <a:ext cx="68580" cy="1511300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066544"/>
            <a:ext cx="227685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253B"/>
                </a:solidFill>
                <a:latin typeface="Aptos"/>
              </a:rPr>
              <a:t>1. Puzzle + rating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06040"/>
            <a:ext cx="2276856" cy="2468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Identifichiamo il puzzle e usiamo la difficoltà come proxy.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1883664"/>
            <a:ext cx="2715768" cy="1511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11296" y="1883664"/>
            <a:ext cx="68580" cy="1511300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0752" y="2066544"/>
            <a:ext cx="227685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253B"/>
                </a:solidFill>
                <a:latin typeface="Aptos"/>
              </a:rPr>
              <a:t>2. Distribuzione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606040"/>
            <a:ext cx="2276856" cy="2468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Campioniamo tempi positivi con modello lognormale.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83664"/>
            <a:ext cx="2715768" cy="1511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883664"/>
            <a:ext cx="68580" cy="1511300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0256" y="2066544"/>
            <a:ext cx="227685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253B"/>
                </a:solidFill>
                <a:latin typeface="Aptos"/>
              </a:rPr>
              <a:t>3. Limiti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2606040"/>
            <a:ext cx="2276856" cy="2468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Manteniamo i tempi in un intervallo 0,5–120 secondi.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0304" y="1883664"/>
            <a:ext cx="2715768" cy="1511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90304" y="1883664"/>
            <a:ext cx="68580" cy="1511300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0" y="2066544"/>
            <a:ext cx="227685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253B"/>
                </a:solidFill>
                <a:latin typeface="Aptos"/>
              </a:rPr>
              <a:t>4. Normalizzazione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606040"/>
            <a:ext cx="2276856" cy="2468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Applichiamo log1p e z-score con statistiche solo del train.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623560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696712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Rating → tempi simulati: possibile scorciatoia; non dimostra che il modello impari il pensiero umano.</a:t>
            </a:r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6524AE06-DDF7-D1E9-FE0D-817E3D1851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684" y="3722370"/>
            <a:ext cx="7340600" cy="1511300"/>
          </a:xfrm>
          <a:prstGeom prst="rect">
            <a:avLst/>
          </a:prstGeom>
        </p:spPr>
      </p:pic>
      <p:sp>
        <p:nvSpPr>
          <p:cNvPr id="27" name="Rectangle 12">
            <a:extLst>
              <a:ext uri="{FF2B5EF4-FFF2-40B4-BE49-F238E27FC236}">
                <a16:creationId xmlns:a16="http://schemas.microsoft.com/office/drawing/2014/main" id="{4EC46C8E-F927-00F2-F148-68CC339B0E30}"/>
              </a:ext>
            </a:extLst>
          </p:cNvPr>
          <p:cNvSpPr/>
          <p:nvPr/>
        </p:nvSpPr>
        <p:spPr>
          <a:xfrm>
            <a:off x="2391394" y="3737356"/>
            <a:ext cx="68580" cy="1511300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18/68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TIMING SINTETICO · COSA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Quali valori temporali vede davvero il modello 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Tre campi vengono trasformati in una rappresentazione di 16 valori da affiancare ai dati del grafo.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1901952"/>
            <a:ext cx="3410712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2376" y="1901952"/>
            <a:ext cx="68580" cy="3429000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084832"/>
            <a:ext cx="297180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253B"/>
                </a:solidFill>
                <a:latin typeface="Aptos"/>
              </a:rPr>
              <a:t>Tempo precedente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624328"/>
            <a:ext cx="2971800" cy="2606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A40"/>
                </a:solidFill>
                <a:latin typeface="Aptos"/>
              </a:rPr>
              <a:t>previous_move_time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A40"/>
                </a:solidFill>
                <a:latin typeface="Aptos"/>
              </a:rPr>
              <a:t>Un segnale relativo al contesto temporale precedente. È sintetico, non misurato su quel puzzle.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01952"/>
            <a:ext cx="3410712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98264" y="1901952"/>
            <a:ext cx="68580" cy="3429000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084832"/>
            <a:ext cx="297180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253B"/>
                </a:solidFill>
                <a:latin typeface="Aptos"/>
              </a:rPr>
              <a:t>Tempo assegnato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24328"/>
            <a:ext cx="2971800" cy="2606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A40"/>
                </a:solidFill>
                <a:latin typeface="Aptos"/>
              </a:rPr>
              <a:t>original_move_time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A40"/>
                </a:solidFill>
                <a:latin typeface="Aptos"/>
              </a:rPr>
              <a:t>Il tempo sintetico associato alla decisione nella posizione da risolvere.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1901952"/>
            <a:ext cx="3410712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4152" y="1901952"/>
            <a:ext cx="68580" cy="3429000"/>
          </a:xfrm>
          <a:prstGeom prst="rect">
            <a:avLst/>
          </a:prstGeom>
          <a:solidFill>
            <a:srgbClr val="E65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084832"/>
            <a:ext cx="297180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253B"/>
                </a:solidFill>
                <a:latin typeface="Aptos"/>
              </a:rPr>
              <a:t>Indicatore di origine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24328"/>
            <a:ext cx="2971800" cy="2606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A40"/>
                </a:solidFill>
                <a:latin typeface="Aptos"/>
              </a:rPr>
              <a:t>time_is_synthetic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A40"/>
                </a:solidFill>
                <a:latin typeface="Aptos"/>
              </a:rPr>
              <a:t>Segnala che il tempo proviene dal generatore artificiale, non da una sessione reale.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605272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678424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Nel confronto con A3 cambia soltanto il ramo temporale, non il problema delle mosse legali.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19/68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GNN E GAT · INTUIZIONE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Come fa una rete neurale a leggere un grafo?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2339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dirty="0" err="1">
                <a:solidFill>
                  <a:srgbClr val="697789"/>
                </a:solidFill>
                <a:latin typeface="Aptos"/>
              </a:rPr>
              <a:t>Invece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di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guardare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ogni </a:t>
            </a:r>
            <a:r>
              <a:rPr lang="it-IT" sz="1280" b="0" dirty="0">
                <a:solidFill>
                  <a:srgbClr val="697789"/>
                </a:solidFill>
                <a:latin typeface="Aptos"/>
              </a:rPr>
              <a:t>cella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isolatamente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,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i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nodi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condividono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informazioni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attraverso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i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697789"/>
                </a:solidFill>
                <a:latin typeface="Aptos"/>
              </a:rPr>
              <a:t>collegamenti</a:t>
            </a:r>
            <a:r>
              <a:rPr sz="1280" b="0" dirty="0">
                <a:solidFill>
                  <a:srgbClr val="697789"/>
                </a:solidFill>
                <a:latin typeface="Apto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883664"/>
            <a:ext cx="5157216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8952" y="1883664"/>
            <a:ext cx="68580" cy="1572768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2066544"/>
            <a:ext cx="4718304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1. Parte dai nodi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606040"/>
            <a:ext cx="4718304" cy="7498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C2A40"/>
                </a:solidFill>
                <a:latin typeface="Aptos"/>
              </a:rPr>
              <a:t>Ogni nodo possiede le sue 15 feature: pezzo, posizione, minacce e altro.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883664"/>
            <a:ext cx="5157216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81928" y="1883664"/>
            <a:ext cx="68580" cy="1572768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1384" y="2066544"/>
            <a:ext cx="4718304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2. Legge le relazioni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606040"/>
            <a:ext cx="4718304" cy="2339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dirty="0">
                <a:solidFill>
                  <a:srgbClr val="1C2A40"/>
                </a:solidFill>
                <a:latin typeface="Aptos"/>
              </a:rPr>
              <a:t>Il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nodo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raccoglie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informazioni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dalle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lang="it-IT" sz="1280" b="0" dirty="0">
                <a:solidFill>
                  <a:srgbClr val="1C2A40"/>
                </a:solidFill>
                <a:latin typeface="Aptos"/>
              </a:rPr>
              <a:t>celle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con cui è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connesso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3657600"/>
            <a:ext cx="5157216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" y="3657600"/>
            <a:ext cx="68580" cy="1572768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7" y="3840480"/>
            <a:ext cx="4718304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3. Dà più peso a ciò che 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7" y="4379976"/>
            <a:ext cx="4718304" cy="7498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dirty="0">
                <a:solidFill>
                  <a:srgbClr val="1C2A40"/>
                </a:solidFill>
                <a:latin typeface="Aptos"/>
              </a:rPr>
              <a:t>Con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l’attenzione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, un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collegamento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può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contare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più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 di un </a:t>
            </a:r>
            <a:r>
              <a:rPr sz="1280" b="0" dirty="0" err="1">
                <a:solidFill>
                  <a:srgbClr val="1C2A40"/>
                </a:solidFill>
                <a:latin typeface="Aptos"/>
              </a:rPr>
              <a:t>altro</a:t>
            </a:r>
            <a:r>
              <a:rPr sz="1280" b="0" dirty="0">
                <a:solidFill>
                  <a:srgbClr val="1C2A40"/>
                </a:solidFill>
                <a:latin typeface="Aptos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3657600"/>
            <a:ext cx="5157216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81928" y="3657600"/>
            <a:ext cx="68580" cy="1572768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1384" y="3840480"/>
            <a:ext cx="4718304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4. Aggiorna la rappresentazione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4379976"/>
            <a:ext cx="4718304" cy="7498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C2A40"/>
                </a:solidFill>
                <a:latin typeface="Aptos"/>
              </a:rPr>
              <a:t>Dopo più passaggi la rete ha una vista arricchita della posizione.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20/68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GAT · PERCHÉ QUESTA SCELTA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La GAT non tratta tutti i collegamenti allo stesso modo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Graph Attention Network: attribuisce pesi appresi alle informazioni provenienti dai nodi collegati.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38528"/>
            <a:ext cx="51389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1938528"/>
            <a:ext cx="68580" cy="3383280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121408"/>
            <a:ext cx="470001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Esempio intuitivo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660904"/>
            <a:ext cx="4700016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Se stiamo valutando una mossa sul re, una minaccia diretta può essere più significativa di una relazione periferica.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L’attenzione permette alla rete di imparare questi pesi dai dati, senza fissarli tutti a mano.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938528"/>
            <a:ext cx="51389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938528"/>
            <a:ext cx="68580" cy="3383280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2121408"/>
            <a:ext cx="470001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La scelta di GraphMate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660904"/>
            <a:ext cx="4700016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Abbiamo usato GATConv con quattro teste di attenzione e feature sugli archi.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Due layer successivi rielaborano le relazioni; una media delle rappresentazioni dei nodi produce il contesto della posizione.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696712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Attenzione ≠ spiegazione garantita: i pesi della rete non sono automaticamente motivazioni scacchistiche.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21/68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ARCHITETTURA GAT · DATI E DIMENSIONI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Dal grafo a una descrizione della posizione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Le dimensioni servono a capire il flusso, non sono l’obiettivo dell’esperimento.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267919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68580" cy="2395728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240280"/>
            <a:ext cx="224028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253B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779776"/>
            <a:ext cx="2240280" cy="15727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64 nodi × 15 feature + archi con 5 relazioni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37560" y="3255264"/>
            <a:ext cx="155448" cy="0"/>
          </a:xfrm>
          <a:prstGeom prst="line">
            <a:avLst/>
          </a:prstGeom>
          <a:ln w="25400">
            <a:solidFill>
              <a:srgbClr val="1CA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02152" y="2057400"/>
            <a:ext cx="267919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02152" y="2057400"/>
            <a:ext cx="68580" cy="2395728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21608" y="2240280"/>
            <a:ext cx="224028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253B"/>
                </a:solidFill>
                <a:latin typeface="Aptos"/>
              </a:rPr>
              <a:t>Primo GAT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779776"/>
            <a:ext cx="2240280" cy="15727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4 teste × 32 valori: 128 per nodo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99632" y="3255264"/>
            <a:ext cx="155448" cy="0"/>
          </a:xfrm>
          <a:prstGeom prst="line">
            <a:avLst/>
          </a:prstGeom>
          <a:ln w="25400">
            <a:solidFill>
              <a:srgbClr val="1CA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64224" y="2057400"/>
            <a:ext cx="267919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64224" y="2057400"/>
            <a:ext cx="68580" cy="2395728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240280"/>
            <a:ext cx="224028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253B"/>
                </a:solidFill>
                <a:latin typeface="Aptos"/>
              </a:rPr>
              <a:t>Secondo GAT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779776"/>
            <a:ext cx="2240280" cy="15727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Altre 4 teste: aggiorna i 128 valori per nodo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61704" y="3255264"/>
            <a:ext cx="155448" cy="0"/>
          </a:xfrm>
          <a:prstGeom prst="line">
            <a:avLst/>
          </a:prstGeom>
          <a:ln w="25400">
            <a:solidFill>
              <a:srgbClr val="1CA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26296" y="2057400"/>
            <a:ext cx="267919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26296" y="2057400"/>
            <a:ext cx="68580" cy="2395728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45752" y="2240280"/>
            <a:ext cx="224028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253B"/>
                </a:solidFill>
                <a:latin typeface="Aptos"/>
              </a:rPr>
              <a:t>Riassunto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2779776"/>
            <a:ext cx="2240280" cy="15727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Media sui nodi: 128 + 4 globali = 132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257800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330952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Il contesto da 132 valori viene utilizzato in modo diverso dai singoli modelli.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22/68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RIFERIMENTO TIMEGNN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Come abbiamo utilizzato TimeGNN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La libreria ha fornito un riferimento architetturale, non un modello pronto usato senza adattamenti.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56231"/>
            <a:ext cx="5148072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1856231"/>
            <a:ext cx="68580" cy="3429000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039112"/>
            <a:ext cx="470916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Da cosa siamo partiti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578608"/>
            <a:ext cx="4709160" cy="2606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Abbiamo studiato DualGATModel e i componenti temporali della libreria di riferimento per orientarci nella progettazione di modelli con e senza informazioni di tempo.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856231"/>
            <a:ext cx="5148072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0488" y="1856231"/>
            <a:ext cx="68580" cy="3429000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9944" y="2039112"/>
            <a:ext cx="470916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Cosa abbiamo implementato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578608"/>
            <a:ext cx="4709160" cy="2606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1C2A40"/>
                </a:solidFill>
                <a:latin typeface="Aptos"/>
              </a:rPr>
              <a:t>Abbiamo costruito modelli e cicli di training adatti ai grafi degli scacchi, alle feature degli archi e alla predizione di mosse legali.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6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1C2A40"/>
                </a:solidFill>
                <a:latin typeface="Aptos"/>
              </a:rPr>
              <a:t>Il modello B usa un proprio adattatore temporale.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696712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GraphMate non esegue direttamente un modello TimeGNN “così com’è”.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23/68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5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1371600" cy="5120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CA59F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01952"/>
            <a:ext cx="1088136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Aptos"/>
              </a:rPr>
              <a:t>L’evoluzione dei modelli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163824"/>
            <a:ext cx="97840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Ogni versione nasce per risolvere un problema emerso in quella precedente.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GRAPHMATE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24/68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COME SONO EVOLUTI I MODELLI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Ogni versione prova a correggere un limite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A1 usa lo stesso modello di A: cambia il filtro sulle mosse, non l’addestramento.</a:t>
            </a:r>
            <a:endParaRPr lang="it-IT" sz="1300"/>
          </a:p>
        </p:txBody>
      </p:sp>
      <p:sp>
        <p:nvSpPr>
          <p:cNvPr id="6" name="Box"/>
          <p:cNvSpPr/>
          <p:nvPr/>
        </p:nvSpPr>
        <p:spPr>
          <a:xfrm>
            <a:off x="640080" y="2057400"/>
            <a:ext cx="1234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809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7"/>
          <p:cNvSpPr txBox="1"/>
          <p:nvPr/>
        </p:nvSpPr>
        <p:spPr>
          <a:xfrm>
            <a:off x="694944" y="2130552"/>
            <a:ext cx="1124712" cy="53035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718096"/>
                </a:solidFill>
                <a:latin typeface="Aptos"/>
              </a:rPr>
              <a:t>A</a:t>
            </a:r>
            <a:endParaRPr lang="it-IT" sz="1200"/>
          </a:p>
        </p:txBody>
      </p:sp>
      <p:sp>
        <p:nvSpPr>
          <p:cNvPr id="8" name="Text 8"/>
          <p:cNvSpPr txBox="1"/>
          <p:nvPr/>
        </p:nvSpPr>
        <p:spPr>
          <a:xfrm>
            <a:off x="640080" y="281635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>
                <a:solidFill>
                  <a:srgbClr val="5C6B7A"/>
                </a:solidFill>
                <a:latin typeface="Aptos"/>
              </a:rPr>
              <a:t>Tutte le mosse</a:t>
            </a:r>
            <a:endParaRPr lang="it-IT" sz="900"/>
          </a:p>
        </p:txBody>
      </p:sp>
      <p:sp>
        <p:nvSpPr>
          <p:cNvPr id="9" name="Connector 9"/>
          <p:cNvSpPr/>
          <p:nvPr/>
        </p:nvSpPr>
        <p:spPr>
          <a:xfrm>
            <a:off x="1883664" y="2386584"/>
            <a:ext cx="603503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Box"/>
          <p:cNvSpPr/>
          <p:nvPr/>
        </p:nvSpPr>
        <p:spPr>
          <a:xfrm>
            <a:off x="2560320" y="2057400"/>
            <a:ext cx="1234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8AF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2"/>
          <p:cNvSpPr txBox="1"/>
          <p:nvPr/>
        </p:nvSpPr>
        <p:spPr>
          <a:xfrm>
            <a:off x="2615184" y="2130552"/>
            <a:ext cx="1124712" cy="53035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9B8AFB"/>
                </a:solidFill>
                <a:latin typeface="Aptos"/>
              </a:rPr>
              <a:t>A1</a:t>
            </a:r>
            <a:endParaRPr lang="it-IT" sz="1200"/>
          </a:p>
        </p:txBody>
      </p:sp>
      <p:sp>
        <p:nvSpPr>
          <p:cNvPr id="13" name="Text 13"/>
          <p:cNvSpPr txBox="1"/>
          <p:nvPr/>
        </p:nvSpPr>
        <p:spPr>
          <a:xfrm>
            <a:off x="2560320" y="281635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>
                <a:solidFill>
                  <a:srgbClr val="5C6B7A"/>
                </a:solidFill>
                <a:latin typeface="Aptos"/>
              </a:rPr>
              <a:t>Filtra le illegali</a:t>
            </a:r>
            <a:endParaRPr lang="it-IT" sz="900"/>
          </a:p>
        </p:txBody>
      </p:sp>
      <p:sp>
        <p:nvSpPr>
          <p:cNvPr id="14" name="Connector 14"/>
          <p:cNvSpPr/>
          <p:nvPr/>
        </p:nvSpPr>
        <p:spPr>
          <a:xfrm>
            <a:off x="3803904" y="2386584"/>
            <a:ext cx="603504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Box"/>
          <p:cNvSpPr/>
          <p:nvPr/>
        </p:nvSpPr>
        <p:spPr>
          <a:xfrm>
            <a:off x="4480560" y="2057400"/>
            <a:ext cx="1234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7DFF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6"/>
          <p:cNvSpPr txBox="1"/>
          <p:nvPr/>
        </p:nvSpPr>
        <p:spPr>
          <a:xfrm>
            <a:off x="4535424" y="2130552"/>
            <a:ext cx="1124712" cy="53035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377DFF"/>
                </a:solidFill>
                <a:latin typeface="Aptos"/>
              </a:rPr>
              <a:t>A2</a:t>
            </a:r>
            <a:endParaRPr lang="it-IT" sz="1200"/>
          </a:p>
        </p:txBody>
      </p:sp>
      <p:sp>
        <p:nvSpPr>
          <p:cNvPr id="17" name="Text 17"/>
          <p:cNvSpPr txBox="1"/>
          <p:nvPr/>
        </p:nvSpPr>
        <p:spPr>
          <a:xfrm>
            <a:off x="4480560" y="281635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>
                <a:solidFill>
                  <a:srgbClr val="5C6B7A"/>
                </a:solidFill>
                <a:latin typeface="Aptos"/>
              </a:rPr>
              <a:t>Impara con i vincoli</a:t>
            </a:r>
            <a:endParaRPr lang="it-IT" sz="900"/>
          </a:p>
        </p:txBody>
      </p:sp>
      <p:sp>
        <p:nvSpPr>
          <p:cNvPr id="18" name="Connector 18"/>
          <p:cNvSpPr/>
          <p:nvPr/>
        </p:nvSpPr>
        <p:spPr>
          <a:xfrm>
            <a:off x="5724144" y="2386584"/>
            <a:ext cx="603503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Box"/>
          <p:cNvSpPr/>
          <p:nvPr/>
        </p:nvSpPr>
        <p:spPr>
          <a:xfrm>
            <a:off x="6400800" y="2057400"/>
            <a:ext cx="1234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20"/>
          <p:cNvSpPr txBox="1"/>
          <p:nvPr/>
        </p:nvSpPr>
        <p:spPr>
          <a:xfrm>
            <a:off x="6455664" y="2130552"/>
            <a:ext cx="1124712" cy="53035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18A6A6"/>
                </a:solidFill>
                <a:latin typeface="Aptos"/>
              </a:rPr>
              <a:t>A3</a:t>
            </a:r>
            <a:endParaRPr lang="it-IT" sz="1200"/>
          </a:p>
        </p:txBody>
      </p:sp>
      <p:sp>
        <p:nvSpPr>
          <p:cNvPr id="21" name="Text 21"/>
          <p:cNvSpPr txBox="1"/>
          <p:nvPr/>
        </p:nvSpPr>
        <p:spPr>
          <a:xfrm>
            <a:off x="6400800" y="281635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>
                <a:solidFill>
                  <a:srgbClr val="5C6B7A"/>
                </a:solidFill>
                <a:latin typeface="Aptos"/>
              </a:rPr>
              <a:t>Solo mosse legali</a:t>
            </a:r>
            <a:endParaRPr lang="it-IT" sz="900"/>
          </a:p>
        </p:txBody>
      </p:sp>
      <p:sp>
        <p:nvSpPr>
          <p:cNvPr id="22" name="Connector 22"/>
          <p:cNvSpPr/>
          <p:nvPr/>
        </p:nvSpPr>
        <p:spPr>
          <a:xfrm>
            <a:off x="7644383" y="2386584"/>
            <a:ext cx="603504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5"/>
          <p:cNvSpPr txBox="1"/>
          <p:nvPr/>
        </p:nvSpPr>
        <p:spPr>
          <a:xfrm>
            <a:off x="8490204" y="4557521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 dirty="0">
                <a:solidFill>
                  <a:srgbClr val="5C6B7A"/>
                </a:solidFill>
                <a:latin typeface="Aptos"/>
              </a:rPr>
              <a:t>Aggiunge il tempo</a:t>
            </a:r>
            <a:endParaRPr lang="it-IT" sz="900" dirty="0"/>
          </a:p>
        </p:txBody>
      </p:sp>
      <p:sp>
        <p:nvSpPr>
          <p:cNvPr id="27" name="Box"/>
          <p:cNvSpPr/>
          <p:nvPr/>
        </p:nvSpPr>
        <p:spPr>
          <a:xfrm>
            <a:off x="8321040" y="2066544"/>
            <a:ext cx="1234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8"/>
          <p:cNvSpPr txBox="1"/>
          <p:nvPr/>
        </p:nvSpPr>
        <p:spPr>
          <a:xfrm>
            <a:off x="8371331" y="2130552"/>
            <a:ext cx="1124712" cy="53035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 dirty="0">
                <a:solidFill>
                  <a:srgbClr val="E85D75"/>
                </a:solidFill>
                <a:latin typeface="Aptos"/>
              </a:rPr>
              <a:t>A4</a:t>
            </a:r>
            <a:endParaRPr lang="it-IT" sz="1200" dirty="0"/>
          </a:p>
        </p:txBody>
      </p:sp>
      <p:sp>
        <p:nvSpPr>
          <p:cNvPr id="29" name="Text 29"/>
          <p:cNvSpPr txBox="1"/>
          <p:nvPr/>
        </p:nvSpPr>
        <p:spPr>
          <a:xfrm>
            <a:off x="8316467" y="278434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 dirty="0">
                <a:solidFill>
                  <a:srgbClr val="5C6B7A"/>
                </a:solidFill>
                <a:latin typeface="Aptos"/>
              </a:rPr>
              <a:t>Guarda la mossa successiva</a:t>
            </a:r>
            <a:endParaRPr lang="it-IT" sz="900" dirty="0"/>
          </a:p>
        </p:txBody>
      </p:sp>
      <p:sp>
        <p:nvSpPr>
          <p:cNvPr id="30" name="Connector 30"/>
          <p:cNvSpPr/>
          <p:nvPr/>
        </p:nvSpPr>
        <p:spPr>
          <a:xfrm>
            <a:off x="7013448" y="3063240"/>
            <a:ext cx="914" cy="822959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1" name="Box"/>
          <p:cNvSpPr/>
          <p:nvPr/>
        </p:nvSpPr>
        <p:spPr>
          <a:xfrm>
            <a:off x="6263640" y="3986784"/>
            <a:ext cx="1508760" cy="548640"/>
          </a:xfrm>
          <a:prstGeom prst="roundRect">
            <a:avLst/>
          </a:prstGeom>
          <a:solidFill>
            <a:srgbClr val="E7F7F5"/>
          </a:solidFill>
          <a:ln w="1270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2"/>
          <p:cNvSpPr txBox="1"/>
          <p:nvPr/>
        </p:nvSpPr>
        <p:spPr>
          <a:xfrm>
            <a:off x="6318503" y="4059936"/>
            <a:ext cx="1399031" cy="420623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18A6A6"/>
                </a:solidFill>
                <a:latin typeface="Aptos"/>
              </a:rPr>
              <a:t>A3 baseline</a:t>
            </a:r>
            <a:endParaRPr lang="it-IT" sz="1200"/>
          </a:p>
        </p:txBody>
      </p:sp>
      <p:sp>
        <p:nvSpPr>
          <p:cNvPr id="33" name="Connector 33"/>
          <p:cNvSpPr/>
          <p:nvPr/>
        </p:nvSpPr>
        <p:spPr>
          <a:xfrm>
            <a:off x="7772400" y="4262628"/>
            <a:ext cx="778765" cy="0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4" name="Box"/>
          <p:cNvSpPr/>
          <p:nvPr/>
        </p:nvSpPr>
        <p:spPr>
          <a:xfrm>
            <a:off x="8606031" y="4000500"/>
            <a:ext cx="1005840" cy="548640"/>
          </a:xfrm>
          <a:prstGeom prst="roundRect">
            <a:avLst/>
          </a:prstGeom>
          <a:solidFill>
            <a:srgbClr val="FFF4DD"/>
          </a:solidFill>
          <a:ln w="12700">
            <a:solidFill>
              <a:srgbClr val="F2A93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5"/>
          <p:cNvSpPr txBox="1"/>
          <p:nvPr/>
        </p:nvSpPr>
        <p:spPr>
          <a:xfrm>
            <a:off x="8659368" y="4059936"/>
            <a:ext cx="896112" cy="420623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 dirty="0">
                <a:solidFill>
                  <a:srgbClr val="F2A93B"/>
                </a:solidFill>
                <a:latin typeface="Aptos"/>
              </a:rPr>
              <a:t>B</a:t>
            </a:r>
            <a:endParaRPr lang="it-IT" sz="1200" dirty="0"/>
          </a:p>
        </p:txBody>
      </p:sp>
      <p:sp>
        <p:nvSpPr>
          <p:cNvPr id="36" name="Box"/>
          <p:cNvSpPr/>
          <p:nvPr/>
        </p:nvSpPr>
        <p:spPr>
          <a:xfrm>
            <a:off x="731520" y="5166360"/>
            <a:ext cx="10561320" cy="658368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7"/>
          <p:cNvSpPr txBox="1"/>
          <p:nvPr/>
        </p:nvSpPr>
        <p:spPr>
          <a:xfrm>
            <a:off x="914400" y="5340096"/>
            <a:ext cx="1014984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400" b="1">
                <a:solidFill>
                  <a:srgbClr val="377DFF"/>
                </a:solidFill>
                <a:latin typeface="Aptos"/>
              </a:rPr>
              <a:t>La svolta: invece di scegliere fra 1.786 mosse generiche, valutiamo le mosse possibili in quella posizione.</a:t>
            </a:r>
            <a:endParaRPr lang="it-IT" sz="1400"/>
          </a:p>
        </p:txBody>
      </p:sp>
      <p:sp>
        <p:nvSpPr>
          <p:cNvPr id="38" name="Text 38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25/68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IL PUNTO DI PARTENZA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A e A1: scegliere una mossa da un elenco fisso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A valuta 1.786 mosse possibili in generale; A1 scarta quelle vietate prima di scegliere.</a:t>
            </a:r>
            <a:endParaRPr lang="it-IT" sz="1300"/>
          </a:p>
        </p:txBody>
      </p:sp>
      <p:sp>
        <p:nvSpPr>
          <p:cNvPr id="6" name="Box"/>
          <p:cNvSpPr/>
          <p:nvPr/>
        </p:nvSpPr>
        <p:spPr>
          <a:xfrm>
            <a:off x="731520" y="2057400"/>
            <a:ext cx="1691640" cy="594360"/>
          </a:xfrm>
          <a:prstGeom prst="roundRect">
            <a:avLst/>
          </a:prstGeom>
          <a:solidFill>
            <a:srgbClr val="E7F7F5"/>
          </a:solidFill>
          <a:ln w="1270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7"/>
          <p:cNvSpPr txBox="1"/>
          <p:nvPr/>
        </p:nvSpPr>
        <p:spPr>
          <a:xfrm>
            <a:off x="786384" y="2130552"/>
            <a:ext cx="1581912" cy="466344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18A6A6"/>
                </a:solidFill>
                <a:latin typeface="Aptos"/>
              </a:rPr>
              <a:t>Riassunto posizione</a:t>
            </a:r>
            <a:endParaRPr lang="it-IT" sz="1200"/>
          </a:p>
        </p:txBody>
      </p:sp>
      <p:sp>
        <p:nvSpPr>
          <p:cNvPr id="8" name="Connector 8"/>
          <p:cNvSpPr/>
          <p:nvPr/>
        </p:nvSpPr>
        <p:spPr>
          <a:xfrm>
            <a:off x="2542032" y="2359152"/>
            <a:ext cx="886968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9" name="Box"/>
          <p:cNvSpPr/>
          <p:nvPr/>
        </p:nvSpPr>
        <p:spPr>
          <a:xfrm>
            <a:off x="3520440" y="2057400"/>
            <a:ext cx="17373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68E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10"/>
          <p:cNvSpPr txBox="1"/>
          <p:nvPr/>
        </p:nvSpPr>
        <p:spPr>
          <a:xfrm>
            <a:off x="3575304" y="2130552"/>
            <a:ext cx="1627631" cy="466344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7868E6"/>
                </a:solidFill>
                <a:latin typeface="Aptos"/>
              </a:rPr>
              <a:t>Rete di scelta</a:t>
            </a:r>
            <a:endParaRPr lang="it-IT" sz="1200"/>
          </a:p>
        </p:txBody>
      </p:sp>
      <p:sp>
        <p:nvSpPr>
          <p:cNvPr id="11" name="Connector 11"/>
          <p:cNvSpPr/>
          <p:nvPr/>
        </p:nvSpPr>
        <p:spPr>
          <a:xfrm>
            <a:off x="5367528" y="2359152"/>
            <a:ext cx="886967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Box"/>
          <p:cNvSpPr/>
          <p:nvPr/>
        </p:nvSpPr>
        <p:spPr>
          <a:xfrm>
            <a:off x="6355080" y="2057400"/>
            <a:ext cx="1554480" cy="59436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71809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3"/>
          <p:cNvSpPr txBox="1"/>
          <p:nvPr/>
        </p:nvSpPr>
        <p:spPr>
          <a:xfrm>
            <a:off x="6409944" y="2130552"/>
            <a:ext cx="1444752" cy="466344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718096"/>
                </a:solidFill>
                <a:latin typeface="Aptos"/>
              </a:rPr>
              <a:t>1.786 punteggi</a:t>
            </a:r>
            <a:endParaRPr lang="it-IT" sz="1200"/>
          </a:p>
        </p:txBody>
      </p:sp>
      <p:sp>
        <p:nvSpPr>
          <p:cNvPr id="14" name="Connector 14"/>
          <p:cNvSpPr/>
          <p:nvPr/>
        </p:nvSpPr>
        <p:spPr>
          <a:xfrm>
            <a:off x="8028431" y="2359152"/>
            <a:ext cx="704088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Box"/>
          <p:cNvSpPr/>
          <p:nvPr/>
        </p:nvSpPr>
        <p:spPr>
          <a:xfrm>
            <a:off x="8823960" y="2057400"/>
            <a:ext cx="1417320" cy="59436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71809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6"/>
          <p:cNvSpPr txBox="1"/>
          <p:nvPr/>
        </p:nvSpPr>
        <p:spPr>
          <a:xfrm>
            <a:off x="8878824" y="2130552"/>
            <a:ext cx="1307592" cy="466344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718096"/>
                </a:solidFill>
                <a:latin typeface="Aptos"/>
              </a:rPr>
              <a:t>A: sceglie la prima</a:t>
            </a:r>
            <a:endParaRPr lang="it-IT" sz="1200"/>
          </a:p>
        </p:txBody>
      </p:sp>
      <p:sp>
        <p:nvSpPr>
          <p:cNvPr id="17" name="Connector 17"/>
          <p:cNvSpPr/>
          <p:nvPr/>
        </p:nvSpPr>
        <p:spPr>
          <a:xfrm>
            <a:off x="7132320" y="2670048"/>
            <a:ext cx="914" cy="1033271"/>
          </a:xfrm>
          <a:prstGeom prst="line">
            <a:avLst/>
          </a:prstGeom>
          <a:ln w="25400">
            <a:solidFill>
              <a:srgbClr val="9B8AFB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Box"/>
          <p:cNvSpPr/>
          <p:nvPr/>
        </p:nvSpPr>
        <p:spPr>
          <a:xfrm>
            <a:off x="6309360" y="3794760"/>
            <a:ext cx="1645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8AF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20"/>
          <p:cNvSpPr txBox="1"/>
          <p:nvPr/>
        </p:nvSpPr>
        <p:spPr>
          <a:xfrm>
            <a:off x="6364224" y="3867912"/>
            <a:ext cx="1536192" cy="466344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9B8AFB"/>
                </a:solidFill>
                <a:latin typeface="Aptos"/>
              </a:rPr>
              <a:t>Scarta le illegali</a:t>
            </a:r>
            <a:endParaRPr lang="it-IT" sz="1200"/>
          </a:p>
        </p:txBody>
      </p:sp>
      <p:sp>
        <p:nvSpPr>
          <p:cNvPr id="21" name="Connector 21"/>
          <p:cNvSpPr/>
          <p:nvPr/>
        </p:nvSpPr>
        <p:spPr>
          <a:xfrm>
            <a:off x="8065008" y="4096512"/>
            <a:ext cx="667512" cy="914"/>
          </a:xfrm>
          <a:prstGeom prst="line">
            <a:avLst/>
          </a:prstGeom>
          <a:ln w="25400">
            <a:solidFill>
              <a:srgbClr val="9B8AFB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2" name="Box"/>
          <p:cNvSpPr/>
          <p:nvPr/>
        </p:nvSpPr>
        <p:spPr>
          <a:xfrm>
            <a:off x="8823960" y="3794760"/>
            <a:ext cx="1600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8AF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3"/>
          <p:cNvSpPr txBox="1"/>
          <p:nvPr/>
        </p:nvSpPr>
        <p:spPr>
          <a:xfrm>
            <a:off x="8878824" y="3867912"/>
            <a:ext cx="1490472" cy="466344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9B8AFB"/>
                </a:solidFill>
                <a:latin typeface="Aptos"/>
              </a:rPr>
              <a:t>A1: sceglie la prima</a:t>
            </a:r>
            <a:endParaRPr lang="it-IT" sz="1200"/>
          </a:p>
        </p:txBody>
      </p:sp>
      <p:sp>
        <p:nvSpPr>
          <p:cNvPr id="24" name="Box"/>
          <p:cNvSpPr/>
          <p:nvPr/>
        </p:nvSpPr>
        <p:spPr>
          <a:xfrm>
            <a:off x="731520" y="4846320"/>
            <a:ext cx="4800600" cy="640080"/>
          </a:xfrm>
          <a:prstGeom prst="roundRect">
            <a:avLst/>
          </a:prstGeom>
          <a:solidFill>
            <a:srgbClr val="FDECEF"/>
          </a:solidFill>
          <a:ln w="1270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5"/>
          <p:cNvSpPr txBox="1"/>
          <p:nvPr/>
        </p:nvSpPr>
        <p:spPr>
          <a:xfrm>
            <a:off x="914400" y="5029200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300" b="1">
                <a:solidFill>
                  <a:srgbClr val="E85D75"/>
                </a:solidFill>
                <a:latin typeface="Aptos"/>
              </a:rPr>
              <a:t>A può proporre una mossa impossibile</a:t>
            </a:r>
            <a:endParaRPr lang="it-IT" sz="1300"/>
          </a:p>
        </p:txBody>
      </p:sp>
      <p:sp>
        <p:nvSpPr>
          <p:cNvPr id="26" name="Box"/>
          <p:cNvSpPr/>
          <p:nvPr/>
        </p:nvSpPr>
        <p:spPr>
          <a:xfrm>
            <a:off x="5806440" y="4846320"/>
            <a:ext cx="5532120" cy="640080"/>
          </a:xfrm>
          <a:prstGeom prst="roundRect">
            <a:avLst/>
          </a:prstGeom>
          <a:solidFill>
            <a:srgbClr val="FFF4DD"/>
          </a:solidFill>
          <a:ln w="12700">
            <a:solidFill>
              <a:srgbClr val="F2A93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7"/>
          <p:cNvSpPr txBox="1"/>
          <p:nvPr/>
        </p:nvSpPr>
        <p:spPr>
          <a:xfrm>
            <a:off x="5989320" y="5029200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300" b="1">
                <a:solidFill>
                  <a:srgbClr val="F2A93B"/>
                </a:solidFill>
                <a:latin typeface="Aptos"/>
              </a:rPr>
              <a:t>A1 usa lo stesso modello: cambia solo il filtro</a:t>
            </a:r>
            <a:endParaRPr lang="it-IT" sz="1300"/>
          </a:p>
        </p:txBody>
      </p:sp>
      <p:sp>
        <p:nvSpPr>
          <p:cNvPr id="28" name="Text 28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26/68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MODELLO A · RISULTATI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Il primo tentativo: funziona, ma spesso propone mosse vietate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Classificare tutte le mosse di un vocabolario fisso espone il modello a scelte che non hanno senso nella posizione corrente.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29384"/>
            <a:ext cx="5093208" cy="3310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1929384"/>
            <a:ext cx="68580" cy="3310128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112264"/>
            <a:ext cx="465429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253B"/>
                </a:solidFill>
                <a:latin typeface="Aptos"/>
              </a:rPr>
              <a:t>Come era costruito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651760"/>
            <a:ext cx="4654296" cy="2487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Due layer GAT leggono il grafo. Dopo il riassunto della posizione, un classificatore assegna un punteggio a ognuna delle 1.786 mosse del vocabolario.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929384"/>
            <a:ext cx="5239512" cy="3310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929384"/>
            <a:ext cx="68580" cy="3310128"/>
          </a:xfrm>
          <a:prstGeom prst="rect">
            <a:avLst/>
          </a:prstGeom>
          <a:solidFill>
            <a:srgbClr val="E65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2112264"/>
            <a:ext cx="480060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253B"/>
                </a:solidFill>
                <a:latin typeface="Aptos"/>
              </a:rPr>
              <a:t>Che cosa abbiamo osservato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651760"/>
            <a:ext cx="4800600" cy="2487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Top-1: 39,62% · errore: 60,38%.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Circa il 30,23% delle prime scelte risultava illegale nella valutazione riportata.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Best checkpoint: epoca 162.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50992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724144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Problema da correggere: il modello non dovrebbe spendere capacità su mosse impossibili.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27/68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A1 · INTERVENTO A COSTO QUASI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Primo correttivo: scartare le mosse illegali dopo la predizione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Nessun nuovo addestramento: riutilizziamo lo stesso checkpoint del modello 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83664"/>
            <a:ext cx="5221224" cy="33924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883664"/>
            <a:ext cx="68580" cy="3392424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66544"/>
            <a:ext cx="4782312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Che cosa cambia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06040"/>
            <a:ext cx="4782312" cy="25694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A produce i punteggi per le sue 1.786 classi; A1 elimina dal confronto le mosse non consentite in quella posizione, poi sceglie la migliore tra le restanti.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83664"/>
            <a:ext cx="5193792" cy="33924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883664"/>
            <a:ext cx="68580" cy="3392424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2066544"/>
            <a:ext cx="4754879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Che risultato dà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606040"/>
            <a:ext cx="4754879" cy="25694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Top-1: circa 49,81%.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Rispetto ad A guadagniamo circa 10,20 punti percentuali senza cambiare pesi.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Limite: il training originale non aveva imparato con questo vincolo.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50992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724144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La prossima idea è portare il rispetto delle regole dentro l’addestramento.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28/68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MODELLO A2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A2: imparare rispettando le regole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Durante l’addestramento e la scelta, il modello considera soltanto le mosse legali.</a:t>
            </a:r>
            <a:endParaRPr lang="it-IT" sz="1300"/>
          </a:p>
        </p:txBody>
      </p:sp>
      <p:sp>
        <p:nvSpPr>
          <p:cNvPr id="6" name="Box"/>
          <p:cNvSpPr/>
          <p:nvPr/>
        </p:nvSpPr>
        <p:spPr>
          <a:xfrm>
            <a:off x="822960" y="1965960"/>
            <a:ext cx="1325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7"/>
          <p:cNvSpPr txBox="1"/>
          <p:nvPr/>
        </p:nvSpPr>
        <p:spPr>
          <a:xfrm>
            <a:off x="822960" y="210312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200" b="1">
                <a:solidFill>
                  <a:srgbClr val="18A6A6"/>
                </a:solidFill>
                <a:latin typeface="Aptos"/>
              </a:rPr>
              <a:t>e7f7</a:t>
            </a:r>
            <a:endParaRPr lang="it-IT" sz="1200"/>
          </a:p>
        </p:txBody>
      </p:sp>
      <p:sp>
        <p:nvSpPr>
          <p:cNvPr id="8" name="Text 8"/>
          <p:cNvSpPr txBox="1"/>
          <p:nvPr/>
        </p:nvSpPr>
        <p:spPr>
          <a:xfrm>
            <a:off x="822960" y="267919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1">
                <a:solidFill>
                  <a:srgbClr val="18A6A6"/>
                </a:solidFill>
                <a:latin typeface="Aptos"/>
              </a:rPr>
              <a:t>legale</a:t>
            </a:r>
            <a:endParaRPr lang="it-IT" sz="900"/>
          </a:p>
        </p:txBody>
      </p:sp>
      <p:sp>
        <p:nvSpPr>
          <p:cNvPr id="9" name="Box"/>
          <p:cNvSpPr/>
          <p:nvPr/>
        </p:nvSpPr>
        <p:spPr>
          <a:xfrm>
            <a:off x="2514600" y="1965960"/>
            <a:ext cx="1325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10"/>
          <p:cNvSpPr txBox="1"/>
          <p:nvPr/>
        </p:nvSpPr>
        <p:spPr>
          <a:xfrm>
            <a:off x="2514600" y="210312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200" b="1">
                <a:solidFill>
                  <a:srgbClr val="18A6A6"/>
                </a:solidFill>
                <a:latin typeface="Aptos"/>
              </a:rPr>
              <a:t>f5f8</a:t>
            </a:r>
            <a:endParaRPr lang="it-IT" sz="1200"/>
          </a:p>
        </p:txBody>
      </p:sp>
      <p:sp>
        <p:nvSpPr>
          <p:cNvPr id="11" name="Text 11"/>
          <p:cNvSpPr txBox="1"/>
          <p:nvPr/>
        </p:nvSpPr>
        <p:spPr>
          <a:xfrm>
            <a:off x="2514600" y="267919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1">
                <a:solidFill>
                  <a:srgbClr val="18A6A6"/>
                </a:solidFill>
                <a:latin typeface="Aptos"/>
              </a:rPr>
              <a:t>legale</a:t>
            </a:r>
            <a:endParaRPr lang="it-IT" sz="900"/>
          </a:p>
        </p:txBody>
      </p:sp>
      <p:sp>
        <p:nvSpPr>
          <p:cNvPr id="12" name="Box"/>
          <p:cNvSpPr/>
          <p:nvPr/>
        </p:nvSpPr>
        <p:spPr>
          <a:xfrm>
            <a:off x="4206240" y="1965960"/>
            <a:ext cx="1325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3"/>
          <p:cNvSpPr txBox="1"/>
          <p:nvPr/>
        </p:nvSpPr>
        <p:spPr>
          <a:xfrm>
            <a:off x="4206240" y="210312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200" b="1">
                <a:solidFill>
                  <a:srgbClr val="E85D75"/>
                </a:solidFill>
                <a:latin typeface="Aptos"/>
              </a:rPr>
              <a:t>a1a8</a:t>
            </a:r>
            <a:endParaRPr lang="it-IT" sz="1200"/>
          </a:p>
        </p:txBody>
      </p:sp>
      <p:sp>
        <p:nvSpPr>
          <p:cNvPr id="14" name="Text 14"/>
          <p:cNvSpPr txBox="1"/>
          <p:nvPr/>
        </p:nvSpPr>
        <p:spPr>
          <a:xfrm>
            <a:off x="4206240" y="267919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1">
                <a:solidFill>
                  <a:srgbClr val="E85D75"/>
                </a:solidFill>
                <a:latin typeface="Aptos"/>
              </a:rPr>
              <a:t>−∞</a:t>
            </a:r>
            <a:endParaRPr lang="it-IT" sz="900"/>
          </a:p>
        </p:txBody>
      </p:sp>
      <p:sp>
        <p:nvSpPr>
          <p:cNvPr id="15" name="Box"/>
          <p:cNvSpPr/>
          <p:nvPr/>
        </p:nvSpPr>
        <p:spPr>
          <a:xfrm>
            <a:off x="5897880" y="1965960"/>
            <a:ext cx="1325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6"/>
          <p:cNvSpPr txBox="1"/>
          <p:nvPr/>
        </p:nvSpPr>
        <p:spPr>
          <a:xfrm>
            <a:off x="5897880" y="210312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200" b="1">
                <a:solidFill>
                  <a:srgbClr val="E85D75"/>
                </a:solidFill>
                <a:latin typeface="Aptos"/>
              </a:rPr>
              <a:t>b2b4</a:t>
            </a:r>
            <a:endParaRPr lang="it-IT" sz="1200"/>
          </a:p>
        </p:txBody>
      </p:sp>
      <p:sp>
        <p:nvSpPr>
          <p:cNvPr id="17" name="Text 17"/>
          <p:cNvSpPr txBox="1"/>
          <p:nvPr/>
        </p:nvSpPr>
        <p:spPr>
          <a:xfrm>
            <a:off x="5897880" y="267919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1">
                <a:solidFill>
                  <a:srgbClr val="E85D75"/>
                </a:solidFill>
                <a:latin typeface="Aptos"/>
              </a:rPr>
              <a:t>−∞</a:t>
            </a:r>
            <a:endParaRPr lang="it-IT" sz="900"/>
          </a:p>
        </p:txBody>
      </p:sp>
      <p:sp>
        <p:nvSpPr>
          <p:cNvPr id="18" name="Box"/>
          <p:cNvSpPr/>
          <p:nvPr/>
        </p:nvSpPr>
        <p:spPr>
          <a:xfrm>
            <a:off x="7589520" y="1965960"/>
            <a:ext cx="1325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9"/>
          <p:cNvSpPr txBox="1"/>
          <p:nvPr/>
        </p:nvSpPr>
        <p:spPr>
          <a:xfrm>
            <a:off x="7589520" y="210312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200" b="1">
                <a:solidFill>
                  <a:srgbClr val="E85D75"/>
                </a:solidFill>
                <a:latin typeface="Aptos"/>
              </a:rPr>
              <a:t>h2h4</a:t>
            </a:r>
            <a:endParaRPr lang="it-IT" sz="1200"/>
          </a:p>
        </p:txBody>
      </p:sp>
      <p:sp>
        <p:nvSpPr>
          <p:cNvPr id="20" name="Text 20"/>
          <p:cNvSpPr txBox="1"/>
          <p:nvPr/>
        </p:nvSpPr>
        <p:spPr>
          <a:xfrm>
            <a:off x="7589520" y="267919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1">
                <a:solidFill>
                  <a:srgbClr val="E85D75"/>
                </a:solidFill>
                <a:latin typeface="Aptos"/>
              </a:rPr>
              <a:t>−∞</a:t>
            </a:r>
            <a:endParaRPr lang="it-IT" sz="900"/>
          </a:p>
        </p:txBody>
      </p:sp>
      <p:sp>
        <p:nvSpPr>
          <p:cNvPr id="21" name="Box"/>
          <p:cNvSpPr/>
          <p:nvPr/>
        </p:nvSpPr>
        <p:spPr>
          <a:xfrm>
            <a:off x="9281160" y="1965960"/>
            <a:ext cx="1325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2"/>
          <p:cNvSpPr txBox="1"/>
          <p:nvPr/>
        </p:nvSpPr>
        <p:spPr>
          <a:xfrm>
            <a:off x="9281160" y="210312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200" b="1">
                <a:solidFill>
                  <a:srgbClr val="E85D75"/>
                </a:solidFill>
                <a:latin typeface="Aptos"/>
              </a:rPr>
              <a:t>…</a:t>
            </a:r>
            <a:endParaRPr lang="it-IT" sz="1200"/>
          </a:p>
        </p:txBody>
      </p:sp>
      <p:sp>
        <p:nvSpPr>
          <p:cNvPr id="23" name="Text 23"/>
          <p:cNvSpPr txBox="1"/>
          <p:nvPr/>
        </p:nvSpPr>
        <p:spPr>
          <a:xfrm>
            <a:off x="9281160" y="267919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1">
                <a:solidFill>
                  <a:srgbClr val="E85D75"/>
                </a:solidFill>
                <a:latin typeface="Aptos"/>
              </a:rPr>
              <a:t>−∞</a:t>
            </a:r>
            <a:endParaRPr lang="it-IT" sz="900"/>
          </a:p>
        </p:txBody>
      </p:sp>
      <p:sp>
        <p:nvSpPr>
          <p:cNvPr id="24" name="Connector 24"/>
          <p:cNvSpPr/>
          <p:nvPr/>
        </p:nvSpPr>
        <p:spPr>
          <a:xfrm>
            <a:off x="5394960" y="3291840"/>
            <a:ext cx="914" cy="731520"/>
          </a:xfrm>
          <a:prstGeom prst="line">
            <a:avLst/>
          </a:prstGeom>
          <a:ln w="25400">
            <a:solidFill>
              <a:srgbClr val="377DFF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5" name="Box"/>
          <p:cNvSpPr/>
          <p:nvPr/>
        </p:nvSpPr>
        <p:spPr>
          <a:xfrm>
            <a:off x="3291840" y="4133087"/>
            <a:ext cx="4251960" cy="71323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377DFF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6"/>
          <p:cNvSpPr txBox="1"/>
          <p:nvPr/>
        </p:nvSpPr>
        <p:spPr>
          <a:xfrm>
            <a:off x="3520440" y="4197095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500" b="1">
                <a:solidFill>
                  <a:srgbClr val="377DFF"/>
                </a:solidFill>
                <a:latin typeface="Aptos"/>
              </a:rPr>
              <a:t>Il modello impara a dare un punteggio alla mossa corretta.</a:t>
            </a:r>
            <a:endParaRPr lang="it-IT" sz="1500"/>
          </a:p>
        </p:txBody>
      </p:sp>
      <p:sp>
        <p:nvSpPr>
          <p:cNvPr id="27" name="Text 27"/>
          <p:cNvSpPr txBox="1"/>
          <p:nvPr/>
        </p:nvSpPr>
        <p:spPr>
          <a:xfrm>
            <a:off x="1234440" y="5230368"/>
            <a:ext cx="9692640" cy="53035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400" b="1">
                <a:solidFill>
                  <a:srgbClr val="172033"/>
                </a:solidFill>
                <a:latin typeface="Aptos"/>
              </a:rPr>
              <a:t>Vantaggio: non sceglie mosse illegali. Limite: continua a dipendere dalle mosse viste in addestramento.</a:t>
            </a:r>
            <a:endParaRPr lang="it-IT" sz="1400"/>
          </a:p>
        </p:txBody>
      </p:sp>
      <p:sp>
        <p:nvSpPr>
          <p:cNvPr id="28" name="Text 28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29/68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MODELLO A2 · RISULTATI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Le regole diventano parte dell’apprendimento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A2 elimina le scelte illegali anche quando impara, ma continua a classificare un vocabolario globale.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1389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8580" cy="3383280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70001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253B"/>
                </a:solidFill>
                <a:latin typeface="Aptos"/>
              </a:rPr>
              <a:t>Come lo abbiamo modificato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96896"/>
            <a:ext cx="4700016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Prima di calcolare la loss nascondiamo le classi non legali. Il modello riceve quindi un segnale di apprendimento centrato sulle mosse possibili della posizione.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874519"/>
            <a:ext cx="51389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81344" y="1874519"/>
            <a:ext cx="68580" cy="3383280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470001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253B"/>
                </a:solidFill>
                <a:latin typeface="Aptos"/>
              </a:rPr>
              <a:t>Che cosa abbiamo osservato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96896"/>
            <a:ext cx="4700016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Top-1: 49,26% · errore: 50,74%.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Top-3: 71,50% · Top-5: 81,17%.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Mosse illegali dopo mascheratura: 0.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Limite: ancora legato alle classi del vocabolario fissato dal training.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14416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687568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Passaggio successivo: non classificare più “tutte le mosse”, ma valutare soltanto quelle legali.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30/68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MODELLO A3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A3: valutare le mosse davvero possibili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A3 esamina ogni mossa legale usando il punto di partenza, l’arrivo e il contesto della scacchiera.</a:t>
            </a:r>
            <a:endParaRPr lang="it-IT" sz="1300"/>
          </a:p>
        </p:txBody>
      </p:sp>
      <p:sp>
        <p:nvSpPr>
          <p:cNvPr id="6" name="Box"/>
          <p:cNvSpPr/>
          <p:nvPr/>
        </p:nvSpPr>
        <p:spPr>
          <a:xfrm>
            <a:off x="685800" y="1600200"/>
            <a:ext cx="2743200" cy="3886200"/>
          </a:xfrm>
          <a:prstGeom prst="roundRect">
            <a:avLst/>
          </a:prstGeom>
          <a:solidFill>
            <a:srgbClr val="142033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7"/>
          <p:cNvSpPr txBox="1"/>
          <p:nvPr/>
        </p:nvSpPr>
        <p:spPr>
          <a:xfrm>
            <a:off x="960120" y="1901952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800" b="1">
                <a:solidFill>
                  <a:srgbClr val="FFFFFF"/>
                </a:solidFill>
                <a:latin typeface="Aptos"/>
              </a:rPr>
              <a:t>Dati di ogni mossa</a:t>
            </a:r>
            <a:endParaRPr lang="it-IT" sz="1800"/>
          </a:p>
        </p:txBody>
      </p:sp>
      <p:sp>
        <p:nvSpPr>
          <p:cNvPr id="8" name="Box"/>
          <p:cNvSpPr/>
          <p:nvPr/>
        </p:nvSpPr>
        <p:spPr>
          <a:xfrm>
            <a:off x="987552" y="2487168"/>
            <a:ext cx="1600200" cy="438912"/>
          </a:xfrm>
          <a:prstGeom prst="roundRect">
            <a:avLst/>
          </a:prstGeom>
          <a:solidFill>
            <a:srgbClr val="377D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9"/>
          <p:cNvSpPr txBox="1"/>
          <p:nvPr/>
        </p:nvSpPr>
        <p:spPr>
          <a:xfrm>
            <a:off x="1078992" y="256946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 dirty="0">
                <a:solidFill>
                  <a:srgbClr val="FFFFFF"/>
                </a:solidFill>
                <a:latin typeface="Aptos"/>
              </a:rPr>
              <a:t>cella iniziale</a:t>
            </a:r>
            <a:endParaRPr lang="it-IT" sz="900" dirty="0"/>
          </a:p>
        </p:txBody>
      </p:sp>
      <p:sp>
        <p:nvSpPr>
          <p:cNvPr id="10" name="Text 10"/>
          <p:cNvSpPr txBox="1"/>
          <p:nvPr/>
        </p:nvSpPr>
        <p:spPr>
          <a:xfrm>
            <a:off x="2057400" y="256946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64008" rIns="0" bIns="64008" anchor="t"/>
          <a:lstStyle/>
          <a:p>
            <a:pPr algn="r"/>
            <a:r>
              <a:rPr lang="it-IT" sz="1000" b="1">
                <a:solidFill>
                  <a:srgbClr val="FFFFFF"/>
                </a:solidFill>
                <a:latin typeface="Aptos"/>
              </a:rPr>
              <a:t>128</a:t>
            </a:r>
            <a:endParaRPr lang="it-IT" sz="1000"/>
          </a:p>
        </p:txBody>
      </p:sp>
      <p:sp>
        <p:nvSpPr>
          <p:cNvPr id="11" name="Box"/>
          <p:cNvSpPr/>
          <p:nvPr/>
        </p:nvSpPr>
        <p:spPr>
          <a:xfrm>
            <a:off x="987552" y="3081528"/>
            <a:ext cx="1600200" cy="438912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2"/>
          <p:cNvSpPr txBox="1"/>
          <p:nvPr/>
        </p:nvSpPr>
        <p:spPr>
          <a:xfrm>
            <a:off x="1078992" y="316382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 dirty="0">
                <a:solidFill>
                  <a:srgbClr val="FFFFFF"/>
                </a:solidFill>
                <a:latin typeface="Aptos"/>
              </a:rPr>
              <a:t>cella finale</a:t>
            </a:r>
            <a:endParaRPr lang="it-IT" sz="900" dirty="0"/>
          </a:p>
        </p:txBody>
      </p:sp>
      <p:sp>
        <p:nvSpPr>
          <p:cNvPr id="13" name="Text 13"/>
          <p:cNvSpPr txBox="1"/>
          <p:nvPr/>
        </p:nvSpPr>
        <p:spPr>
          <a:xfrm>
            <a:off x="2057400" y="316382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64008" rIns="0" bIns="64008" anchor="t"/>
          <a:lstStyle/>
          <a:p>
            <a:pPr algn="r"/>
            <a:r>
              <a:rPr lang="it-IT" sz="1000" b="1">
                <a:solidFill>
                  <a:srgbClr val="FFFFFF"/>
                </a:solidFill>
                <a:latin typeface="Aptos"/>
              </a:rPr>
              <a:t>128</a:t>
            </a:r>
            <a:endParaRPr lang="it-IT" sz="1000"/>
          </a:p>
        </p:txBody>
      </p:sp>
      <p:sp>
        <p:nvSpPr>
          <p:cNvPr id="14" name="Box"/>
          <p:cNvSpPr/>
          <p:nvPr/>
        </p:nvSpPr>
        <p:spPr>
          <a:xfrm>
            <a:off x="987552" y="3675888"/>
            <a:ext cx="1600200" cy="438912"/>
          </a:xfrm>
          <a:prstGeom prst="roundRect">
            <a:avLst/>
          </a:prstGeom>
          <a:solidFill>
            <a:srgbClr val="7868E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5"/>
          <p:cNvSpPr txBox="1"/>
          <p:nvPr/>
        </p:nvSpPr>
        <p:spPr>
          <a:xfrm>
            <a:off x="1078992" y="375818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FFFFFF"/>
                </a:solidFill>
                <a:latin typeface="Aptos"/>
              </a:rPr>
              <a:t>La posizione</a:t>
            </a:r>
            <a:endParaRPr lang="it-IT" sz="900"/>
          </a:p>
        </p:txBody>
      </p:sp>
      <p:sp>
        <p:nvSpPr>
          <p:cNvPr id="16" name="Text 16"/>
          <p:cNvSpPr txBox="1"/>
          <p:nvPr/>
        </p:nvSpPr>
        <p:spPr>
          <a:xfrm>
            <a:off x="2057400" y="375818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64008" rIns="0" bIns="64008" anchor="t"/>
          <a:lstStyle/>
          <a:p>
            <a:pPr algn="r"/>
            <a:r>
              <a:rPr lang="it-IT" sz="1000" b="1">
                <a:solidFill>
                  <a:srgbClr val="FFFFFF"/>
                </a:solidFill>
                <a:latin typeface="Aptos"/>
              </a:rPr>
              <a:t>132</a:t>
            </a:r>
            <a:endParaRPr lang="it-IT" sz="1000"/>
          </a:p>
        </p:txBody>
      </p:sp>
      <p:sp>
        <p:nvSpPr>
          <p:cNvPr id="17" name="Box"/>
          <p:cNvSpPr/>
          <p:nvPr/>
        </p:nvSpPr>
        <p:spPr>
          <a:xfrm>
            <a:off x="987552" y="4270248"/>
            <a:ext cx="1600200" cy="438912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8"/>
          <p:cNvSpPr txBox="1"/>
          <p:nvPr/>
        </p:nvSpPr>
        <p:spPr>
          <a:xfrm>
            <a:off x="1078992" y="435254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FFFFFF"/>
                </a:solidFill>
                <a:latin typeface="Aptos"/>
              </a:rPr>
              <a:t>Promozione</a:t>
            </a:r>
            <a:endParaRPr lang="it-IT" sz="900"/>
          </a:p>
        </p:txBody>
      </p:sp>
      <p:sp>
        <p:nvSpPr>
          <p:cNvPr id="19" name="Text 19"/>
          <p:cNvSpPr txBox="1"/>
          <p:nvPr/>
        </p:nvSpPr>
        <p:spPr>
          <a:xfrm>
            <a:off x="2057400" y="435254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64008" rIns="0" bIns="64008" anchor="t"/>
          <a:lstStyle/>
          <a:p>
            <a:pPr algn="r"/>
            <a:r>
              <a:rPr lang="it-IT" sz="1000" b="1">
                <a:solidFill>
                  <a:srgbClr val="FFFFFF"/>
                </a:solidFill>
                <a:latin typeface="Aptos"/>
              </a:rPr>
              <a:t>8</a:t>
            </a:r>
            <a:endParaRPr lang="it-IT" sz="1000"/>
          </a:p>
        </p:txBody>
      </p:sp>
      <p:sp>
        <p:nvSpPr>
          <p:cNvPr id="20" name="Text 20"/>
          <p:cNvSpPr txBox="1"/>
          <p:nvPr/>
        </p:nvSpPr>
        <p:spPr>
          <a:xfrm>
            <a:off x="960120" y="501091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800" b="1">
                <a:solidFill>
                  <a:srgbClr val="35BDE7"/>
                </a:solidFill>
                <a:latin typeface="Aptos"/>
              </a:rPr>
              <a:t>396 informazioni</a:t>
            </a:r>
            <a:endParaRPr lang="it-IT" sz="1800"/>
          </a:p>
        </p:txBody>
      </p:sp>
      <p:sp>
        <p:nvSpPr>
          <p:cNvPr id="21" name="Connector 21"/>
          <p:cNvSpPr/>
          <p:nvPr/>
        </p:nvSpPr>
        <p:spPr>
          <a:xfrm>
            <a:off x="3611880" y="3584448"/>
            <a:ext cx="1005839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2" name="Box"/>
          <p:cNvSpPr/>
          <p:nvPr/>
        </p:nvSpPr>
        <p:spPr>
          <a:xfrm>
            <a:off x="4709160" y="3246120"/>
            <a:ext cx="2103120" cy="685800"/>
          </a:xfrm>
          <a:prstGeom prst="roundRect">
            <a:avLst/>
          </a:prstGeom>
          <a:solidFill>
            <a:srgbClr val="E7F7F5"/>
          </a:solidFill>
          <a:ln w="1270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3"/>
          <p:cNvSpPr txBox="1"/>
          <p:nvPr/>
        </p:nvSpPr>
        <p:spPr>
          <a:xfrm>
            <a:off x="4764024" y="3319272"/>
            <a:ext cx="1993391" cy="557784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18A6A6"/>
                </a:solidFill>
                <a:latin typeface="Aptos"/>
              </a:rPr>
              <a:t>Un voto per mossa</a:t>
            </a:r>
            <a:endParaRPr lang="it-IT" sz="1200"/>
          </a:p>
        </p:txBody>
      </p:sp>
      <p:sp>
        <p:nvSpPr>
          <p:cNvPr id="24" name="Connector 24"/>
          <p:cNvSpPr/>
          <p:nvPr/>
        </p:nvSpPr>
        <p:spPr>
          <a:xfrm>
            <a:off x="6931152" y="3584448"/>
            <a:ext cx="886968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5" name="Box"/>
          <p:cNvSpPr/>
          <p:nvPr/>
        </p:nvSpPr>
        <p:spPr>
          <a:xfrm>
            <a:off x="7909560" y="1783080"/>
            <a:ext cx="34290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6"/>
          <p:cNvSpPr txBox="1"/>
          <p:nvPr/>
        </p:nvSpPr>
        <p:spPr>
          <a:xfrm>
            <a:off x="8183879" y="205740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800" b="1">
                <a:solidFill>
                  <a:srgbClr val="172033"/>
                </a:solidFill>
                <a:latin typeface="Aptos"/>
              </a:rPr>
              <a:t>Come impara?</a:t>
            </a:r>
            <a:endParaRPr lang="it-IT" sz="1800"/>
          </a:p>
        </p:txBody>
      </p:sp>
      <p:sp>
        <p:nvSpPr>
          <p:cNvPr id="27" name="Text 27"/>
          <p:cNvSpPr txBox="1"/>
          <p:nvPr/>
        </p:nvSpPr>
        <p:spPr>
          <a:xfrm>
            <a:off x="8229600" y="2743200"/>
            <a:ext cx="2788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400" b="0">
                <a:solidFill>
                  <a:srgbClr val="5C6B7A"/>
                </a:solidFill>
                <a:latin typeface="Aptos"/>
              </a:rPr>
              <a:t>Confronta le mosse
della stessa posizione
e premia quella esatta</a:t>
            </a:r>
            <a:endParaRPr lang="it-IT" sz="1400"/>
          </a:p>
        </p:txBody>
      </p:sp>
      <p:sp>
        <p:nvSpPr>
          <p:cNvPr id="28" name="Box"/>
          <p:cNvSpPr/>
          <p:nvPr/>
        </p:nvSpPr>
        <p:spPr>
          <a:xfrm>
            <a:off x="8503920" y="4315968"/>
            <a:ext cx="2148840" cy="329184"/>
          </a:xfrm>
          <a:prstGeom prst="roundRect">
            <a:avLst/>
          </a:prstGeom>
          <a:solidFill>
            <a:srgbClr val="E7F7F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9"/>
          <p:cNvSpPr txBox="1"/>
          <p:nvPr/>
        </p:nvSpPr>
        <p:spPr>
          <a:xfrm>
            <a:off x="8503920" y="432511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000" b="1">
                <a:solidFill>
                  <a:srgbClr val="18A6A6"/>
                </a:solidFill>
                <a:latin typeface="Aptos"/>
              </a:rPr>
              <a:t>Niente mosse illegali</a:t>
            </a:r>
            <a:endParaRPr lang="it-IT" sz="1000"/>
          </a:p>
        </p:txBody>
      </p:sp>
      <p:sp>
        <p:nvSpPr>
          <p:cNvPr id="30" name="Text 30"/>
          <p:cNvSpPr txBox="1"/>
          <p:nvPr/>
        </p:nvSpPr>
        <p:spPr>
          <a:xfrm>
            <a:off x="8366760" y="480060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100" b="1">
                <a:solidFill>
                  <a:srgbClr val="5C6B7A"/>
                </a:solidFill>
                <a:latin typeface="Aptos"/>
              </a:rPr>
              <a:t>71.593 parametri</a:t>
            </a:r>
            <a:endParaRPr lang="it-IT" sz="1100"/>
          </a:p>
        </p:txBody>
      </p:sp>
      <p:sp>
        <p:nvSpPr>
          <p:cNvPr id="31" name="Text 31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31/68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MODELLO A3 · PERCHÉ CAMBIA TUTTO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Da un elenco fisso alle mosse della posizione corrente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A3 chiede “quanto è buona questa mossa?”, non “quale delle 1.786 classi scelgo?”.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819656"/>
            <a:ext cx="5166360" cy="1655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4944" y="1819656"/>
            <a:ext cx="68580" cy="1655064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02536"/>
            <a:ext cx="4727448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Elenca le mosse legali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727448" cy="8321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python-chess genera soltanto quelle effettivamente consentite.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19656"/>
            <a:ext cx="5166360" cy="1655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819656"/>
            <a:ext cx="68580" cy="1655064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7376" y="2002536"/>
            <a:ext cx="4727448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Descrive ogni proposta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542032"/>
            <a:ext cx="4727448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1C2A40"/>
                </a:solidFill>
                <a:latin typeface="Aptos"/>
              </a:rPr>
              <a:t>Considera</a:t>
            </a:r>
            <a:r>
              <a:rPr sz="1300" b="0" dirty="0">
                <a:solidFill>
                  <a:srgbClr val="1C2A40"/>
                </a:solidFill>
                <a:latin typeface="Aptos"/>
              </a:rPr>
              <a:t> </a:t>
            </a:r>
            <a:r>
              <a:rPr lang="it-IT" sz="1300" b="0" dirty="0">
                <a:solidFill>
                  <a:srgbClr val="1C2A40"/>
                </a:solidFill>
                <a:latin typeface="Aptos"/>
              </a:rPr>
              <a:t>cella</a:t>
            </a:r>
            <a:r>
              <a:rPr sz="1300" b="0" dirty="0">
                <a:solidFill>
                  <a:srgbClr val="1C2A40"/>
                </a:solidFill>
                <a:latin typeface="Aptos"/>
              </a:rPr>
              <a:t> di </a:t>
            </a:r>
            <a:r>
              <a:rPr sz="1300" b="0" dirty="0" err="1">
                <a:solidFill>
                  <a:srgbClr val="1C2A40"/>
                </a:solidFill>
                <a:latin typeface="Aptos"/>
              </a:rPr>
              <a:t>partenza</a:t>
            </a:r>
            <a:r>
              <a:rPr sz="1300" b="0" dirty="0">
                <a:solidFill>
                  <a:srgbClr val="1C2A40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1C2A40"/>
                </a:solidFill>
                <a:latin typeface="Aptos"/>
              </a:rPr>
              <a:t>arrivo</a:t>
            </a:r>
            <a:r>
              <a:rPr sz="1300" b="0" dirty="0">
                <a:solidFill>
                  <a:srgbClr val="1C2A40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1C2A40"/>
                </a:solidFill>
                <a:latin typeface="Aptos"/>
              </a:rPr>
              <a:t>contesto</a:t>
            </a:r>
            <a:r>
              <a:rPr sz="13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1C2A40"/>
                </a:solidFill>
                <a:latin typeface="Aptos"/>
              </a:rPr>
              <a:t>globale</a:t>
            </a:r>
            <a:r>
              <a:rPr sz="1300" b="0" dirty="0">
                <a:solidFill>
                  <a:srgbClr val="1C2A40"/>
                </a:solidFill>
                <a:latin typeface="Aptos"/>
              </a:rPr>
              <a:t> e </a:t>
            </a:r>
            <a:r>
              <a:rPr sz="1300" b="0" dirty="0" err="1">
                <a:solidFill>
                  <a:srgbClr val="1C2A40"/>
                </a:solidFill>
                <a:latin typeface="Aptos"/>
              </a:rPr>
              <a:t>promozione</a:t>
            </a:r>
            <a:r>
              <a:rPr sz="1300" b="0" dirty="0">
                <a:solidFill>
                  <a:srgbClr val="1C2A40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3685032"/>
            <a:ext cx="5166360" cy="1655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4944" y="3685032"/>
            <a:ext cx="68580" cy="1655064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867912"/>
            <a:ext cx="4727448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Assegna un punteggio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07408"/>
            <a:ext cx="4727448" cy="8321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La rete confronta tutte le candidate dello stesso puzzle.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85032"/>
            <a:ext cx="5166360" cy="1655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685032"/>
            <a:ext cx="68580" cy="1655064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7376" y="3867912"/>
            <a:ext cx="4727448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Impara dalla soluzione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4407408"/>
            <a:ext cx="4727448" cy="8321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Aumenta il punteggio della mossa obiettivo rispetto alle alternative.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32/68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MODELLO A3 · RISULTATI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Valutare le candidate legali porta un miglioramento netto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Il modello trova la prima mossa risolutiva circa due volte su 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38528"/>
            <a:ext cx="5102352" cy="3236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38528"/>
            <a:ext cx="68580" cy="3236976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121408"/>
            <a:ext cx="466344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Misure principali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60904"/>
            <a:ext cx="4663440" cy="24140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A40"/>
                </a:solidFill>
                <a:latin typeface="Aptos"/>
              </a:rPr>
              <a:t>Top-1: 67,56% · errore: 32,44%.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A40"/>
                </a:solidFill>
                <a:latin typeface="Aptos"/>
              </a:rPr>
              <a:t>Top-3: 85,66%.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A40"/>
                </a:solidFill>
                <a:latin typeface="Aptos"/>
              </a:rPr>
              <a:t>Top-5: 91,86%.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A40"/>
                </a:solidFill>
                <a:latin typeface="Aptos"/>
              </a:rPr>
              <a:t>Mosse illegali: 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938528"/>
            <a:ext cx="5138928" cy="3236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53912" y="1938528"/>
            <a:ext cx="68580" cy="3236976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2121408"/>
            <a:ext cx="470001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Cosa ancora non vede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660904"/>
            <a:ext cx="4700016" cy="24140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A3 valuta partenza, arrivo e contesto della posizione attuale.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Non ricalcola esplicitamente una seconda rappresentazione GNN della scacchiera che risulterebbe dopo ogni mossa.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32704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705856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Questa limitazione guiderà A4; prima proviamo però a introdurre il tempo nel modello 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33/68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MODELLO B: IL FATTORE TEMPO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B: ad A3 aggiungiamo tempi simulati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La scelta delle mosse resta la stessa. Cambia solo l’informazione sul tempo data al modello.</a:t>
            </a:r>
            <a:endParaRPr lang="it-IT" sz="1300"/>
          </a:p>
        </p:txBody>
      </p:sp>
      <p:sp>
        <p:nvSpPr>
          <p:cNvPr id="6" name="Box"/>
          <p:cNvSpPr/>
          <p:nvPr/>
        </p:nvSpPr>
        <p:spPr>
          <a:xfrm>
            <a:off x="731520" y="2011680"/>
            <a:ext cx="1965960" cy="594360"/>
          </a:xfrm>
          <a:prstGeom prst="roundRect">
            <a:avLst/>
          </a:prstGeom>
          <a:solidFill>
            <a:srgbClr val="E7F7F5"/>
          </a:solidFill>
          <a:ln w="1270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7"/>
          <p:cNvSpPr txBox="1"/>
          <p:nvPr/>
        </p:nvSpPr>
        <p:spPr>
          <a:xfrm>
            <a:off x="786384" y="2084832"/>
            <a:ext cx="1856231" cy="466344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18A6A6"/>
                </a:solidFill>
                <a:latin typeface="Aptos"/>
              </a:rPr>
              <a:t>Contesto A3</a:t>
            </a:r>
            <a:endParaRPr lang="it-IT" sz="1200"/>
          </a:p>
        </p:txBody>
      </p:sp>
      <p:sp>
        <p:nvSpPr>
          <p:cNvPr id="8" name="Box"/>
          <p:cNvSpPr/>
          <p:nvPr/>
        </p:nvSpPr>
        <p:spPr>
          <a:xfrm>
            <a:off x="731520" y="3794760"/>
            <a:ext cx="1965960" cy="594360"/>
          </a:xfrm>
          <a:prstGeom prst="roundRect">
            <a:avLst/>
          </a:prstGeom>
          <a:solidFill>
            <a:srgbClr val="FFF4DD"/>
          </a:solidFill>
          <a:ln w="12700">
            <a:solidFill>
              <a:srgbClr val="F2A93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9"/>
          <p:cNvSpPr txBox="1"/>
          <p:nvPr/>
        </p:nvSpPr>
        <p:spPr>
          <a:xfrm>
            <a:off x="786384" y="3867912"/>
            <a:ext cx="1856231" cy="466344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F2A93B"/>
                </a:solidFill>
                <a:latin typeface="Aptos"/>
              </a:rPr>
              <a:t>3 valori temporali</a:t>
            </a:r>
            <a:endParaRPr lang="it-IT" sz="1200"/>
          </a:p>
        </p:txBody>
      </p:sp>
      <p:sp>
        <p:nvSpPr>
          <p:cNvPr id="10" name="Connector 10"/>
          <p:cNvSpPr/>
          <p:nvPr/>
        </p:nvSpPr>
        <p:spPr>
          <a:xfrm>
            <a:off x="2816352" y="4087368"/>
            <a:ext cx="978408" cy="914"/>
          </a:xfrm>
          <a:prstGeom prst="line">
            <a:avLst/>
          </a:prstGeom>
          <a:ln w="25400">
            <a:solidFill>
              <a:srgbClr val="F2A93B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Box"/>
          <p:cNvSpPr/>
          <p:nvPr/>
        </p:nvSpPr>
        <p:spPr>
          <a:xfrm>
            <a:off x="3886200" y="3703320"/>
            <a:ext cx="1874519" cy="777240"/>
          </a:xfrm>
          <a:prstGeom prst="roundRect">
            <a:avLst/>
          </a:prstGeom>
          <a:solidFill>
            <a:srgbClr val="FFF4DD"/>
          </a:solidFill>
          <a:ln w="12700">
            <a:solidFill>
              <a:srgbClr val="F2A93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2"/>
          <p:cNvSpPr txBox="1"/>
          <p:nvPr/>
        </p:nvSpPr>
        <p:spPr>
          <a:xfrm>
            <a:off x="3941063" y="3776472"/>
            <a:ext cx="1764791" cy="649224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F2A93B"/>
                </a:solidFill>
                <a:latin typeface="Aptos"/>
              </a:rPr>
              <a:t>Trasforma
il tempo</a:t>
            </a:r>
            <a:endParaRPr lang="it-IT" sz="1200"/>
          </a:p>
        </p:txBody>
      </p:sp>
      <p:sp>
        <p:nvSpPr>
          <p:cNvPr id="13" name="Connector 13"/>
          <p:cNvSpPr/>
          <p:nvPr/>
        </p:nvSpPr>
        <p:spPr>
          <a:xfrm flipV="1">
            <a:off x="4818888" y="2907792"/>
            <a:ext cx="914" cy="768095"/>
          </a:xfrm>
          <a:prstGeom prst="line">
            <a:avLst/>
          </a:prstGeom>
          <a:ln w="25400">
            <a:solidFill>
              <a:srgbClr val="F2A93B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Box"/>
          <p:cNvSpPr/>
          <p:nvPr/>
        </p:nvSpPr>
        <p:spPr>
          <a:xfrm>
            <a:off x="3749039" y="1965960"/>
            <a:ext cx="2148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5"/>
          <p:cNvSpPr txBox="1"/>
          <p:nvPr/>
        </p:nvSpPr>
        <p:spPr>
          <a:xfrm>
            <a:off x="3749039" y="2157984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600" b="1">
                <a:solidFill>
                  <a:srgbClr val="172033"/>
                </a:solidFill>
                <a:latin typeface="Aptos"/>
              </a:rPr>
              <a:t>Unisce i dati</a:t>
            </a:r>
            <a:endParaRPr lang="it-IT" sz="1600"/>
          </a:p>
        </p:txBody>
      </p:sp>
      <p:sp>
        <p:nvSpPr>
          <p:cNvPr id="16" name="Connector 16"/>
          <p:cNvSpPr/>
          <p:nvPr/>
        </p:nvSpPr>
        <p:spPr>
          <a:xfrm>
            <a:off x="6016752" y="2304288"/>
            <a:ext cx="886967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Box"/>
          <p:cNvSpPr/>
          <p:nvPr/>
        </p:nvSpPr>
        <p:spPr>
          <a:xfrm>
            <a:off x="6995160" y="2011680"/>
            <a:ext cx="1874519" cy="594360"/>
          </a:xfrm>
          <a:prstGeom prst="roundRect">
            <a:avLst/>
          </a:prstGeom>
          <a:solidFill>
            <a:srgbClr val="FFF4DD"/>
          </a:solidFill>
          <a:ln w="12700">
            <a:solidFill>
              <a:srgbClr val="F2A93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8"/>
          <p:cNvSpPr txBox="1"/>
          <p:nvPr/>
        </p:nvSpPr>
        <p:spPr>
          <a:xfrm>
            <a:off x="7050024" y="2084832"/>
            <a:ext cx="1764791" cy="466344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F2A93B"/>
                </a:solidFill>
                <a:latin typeface="Aptos"/>
              </a:rPr>
              <a:t>Valuta la mossa</a:t>
            </a:r>
            <a:endParaRPr lang="it-IT" sz="1200"/>
          </a:p>
        </p:txBody>
      </p:sp>
      <p:sp>
        <p:nvSpPr>
          <p:cNvPr id="19" name="Connector 19"/>
          <p:cNvSpPr/>
          <p:nvPr/>
        </p:nvSpPr>
        <p:spPr>
          <a:xfrm>
            <a:off x="8979408" y="2304288"/>
            <a:ext cx="758952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0" name="Box"/>
          <p:cNvSpPr/>
          <p:nvPr/>
        </p:nvSpPr>
        <p:spPr>
          <a:xfrm>
            <a:off x="9829800" y="201168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93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21"/>
          <p:cNvSpPr txBox="1"/>
          <p:nvPr/>
        </p:nvSpPr>
        <p:spPr>
          <a:xfrm>
            <a:off x="9884664" y="2084832"/>
            <a:ext cx="1399031" cy="466344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F2A93B"/>
                </a:solidFill>
                <a:latin typeface="Aptos"/>
              </a:rPr>
              <a:t>Sceglie</a:t>
            </a:r>
            <a:endParaRPr lang="it-IT" sz="1200"/>
          </a:p>
        </p:txBody>
      </p:sp>
      <p:sp>
        <p:nvSpPr>
          <p:cNvPr id="22" name="Box"/>
          <p:cNvSpPr/>
          <p:nvPr/>
        </p:nvSpPr>
        <p:spPr>
          <a:xfrm>
            <a:off x="6995160" y="3246120"/>
            <a:ext cx="4343400" cy="1481328"/>
          </a:xfrm>
          <a:prstGeom prst="roundRect">
            <a:avLst/>
          </a:prstGeom>
          <a:solidFill>
            <a:srgbClr val="FDECEF"/>
          </a:solidFill>
          <a:ln w="1270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3"/>
          <p:cNvSpPr txBox="1"/>
          <p:nvPr/>
        </p:nvSpPr>
        <p:spPr>
          <a:xfrm>
            <a:off x="7269480" y="3502152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500" b="1">
                <a:solidFill>
                  <a:srgbClr val="E85D75"/>
                </a:solidFill>
                <a:latin typeface="Aptos"/>
              </a:rPr>
              <a:t>Una condizione importante</a:t>
            </a:r>
            <a:endParaRPr lang="it-IT" sz="1500"/>
          </a:p>
        </p:txBody>
      </p:sp>
      <p:sp>
        <p:nvSpPr>
          <p:cNvPr id="24" name="Text 24"/>
          <p:cNvSpPr txBox="1"/>
          <p:nvPr/>
        </p:nvSpPr>
        <p:spPr>
          <a:xfrm>
            <a:off x="7269480" y="3986784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100" b="1">
                <a:solidFill>
                  <a:srgbClr val="172033"/>
                </a:solidFill>
                <a:latin typeface="Aptos"/>
              </a:rPr>
              <a:t>B ha bisogno dei tempi: senza di essi non lo si confronta come se fosse A3.</a:t>
            </a:r>
            <a:endParaRPr lang="it-IT" sz="1100"/>
          </a:p>
        </p:txBody>
      </p:sp>
      <p:sp>
        <p:nvSpPr>
          <p:cNvPr id="25" name="Text 25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34/68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MODELLO B · L’ESPERIMENTO TEMPORALE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Aggiungere il tempo non basta per prevedere meglio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È un confronto controllato: A3 e B hanno lo stesso obiettivo e la stessa strategia sulle mosse legali.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1663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68580" cy="3291840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103120"/>
            <a:ext cx="4727448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Che cosa aggiungiamo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42616"/>
            <a:ext cx="4727448" cy="2468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Tre campi di timing sintetico entrano in un piccolo encoder che produce 16 nuovi valori. Questi affiancano il contesto scacchistico di ciascuna candidata.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1663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68580" cy="3291840"/>
          </a:xfrm>
          <a:prstGeom prst="rect">
            <a:avLst/>
          </a:prstGeom>
          <a:solidFill>
            <a:srgbClr val="E65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7376" y="2103120"/>
            <a:ext cx="4727448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Che cosa succede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642616"/>
            <a:ext cx="4727448" cy="2468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A3: 67,56% Top-1.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B: 65,98% Top-1 · errore: 34,02%.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Delta: −1,58 punti percentuali.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Azzerare o neutralizzare il segnale non recupera il risultato di A3.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41848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Conclusione circoscritta: il nostro timing sintetico non migliora questa architettura.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35/68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MODELLO A4 · PASSO PER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La nuova idea: guardare la scacchiera dopo la mossa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A3 dice quali cinque mosse potrebbero essere buone. A4 prova a vedere cosa cambia davvero.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48072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8580" cy="1627632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11680"/>
            <a:ext cx="470916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1. Selezione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51176"/>
            <a:ext cx="4709160" cy="8046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A3 congelato propone le sue cinque mosse migliori.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7" y="1828800"/>
            <a:ext cx="5148072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6207" y="1828800"/>
            <a:ext cx="68580" cy="1627632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2011680"/>
            <a:ext cx="470916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2. Simulazione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551176"/>
            <a:ext cx="4709160" cy="8046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Ogni mossa viene applicata alla posizione originale.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75887"/>
            <a:ext cx="5148072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675887"/>
            <a:ext cx="68580" cy="1627632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3858768"/>
            <a:ext cx="470916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3. Nuovo grafo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398264"/>
            <a:ext cx="4709160" cy="8046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Costruiamo un grafo per ogni scacchiera risultante.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3675887"/>
            <a:ext cx="5148072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36207" y="3675887"/>
            <a:ext cx="68580" cy="1627632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55664" y="3858768"/>
            <a:ext cx="470916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4. Rivalutazione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398264"/>
            <a:ext cx="4709160" cy="8046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Una seconda GAT confronta le conseguenze e riordina le cinque mosse.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36/68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MODELLO A4 · ADDESTRAMENTO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Una seconda GAT che impara a riordinare le proposte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La GAT di A3 resta congelata: addestriamo la parte che studia le posizioni successive.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" y="1901952"/>
            <a:ext cx="5120640" cy="3346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0664" y="1901952"/>
            <a:ext cx="68580" cy="3346704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84832"/>
            <a:ext cx="4681727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253B"/>
                </a:solidFill>
                <a:latin typeface="Aptos"/>
              </a:rPr>
              <a:t>Come viene addestrato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24328"/>
            <a:ext cx="4681727" cy="2523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Il reranker lavora sulle cinque mosse proposte da A3, senza aggiungere artificialmente la soluzione se non è stata recuperata. La valutazione finale resta end-to-end.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901952"/>
            <a:ext cx="5120640" cy="3346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81344" y="1901952"/>
            <a:ext cx="68580" cy="3346704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084832"/>
            <a:ext cx="4681727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253B"/>
                </a:solidFill>
                <a:latin typeface="Aptos"/>
              </a:rPr>
              <a:t>Risultato verificato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24328"/>
            <a:ext cx="4681727" cy="2523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1C2A40"/>
                </a:solidFill>
                <a:latin typeface="Aptos"/>
              </a:rPr>
              <a:t>Top-1: 85,41% ·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errore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: 14,59%.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600" b="0" dirty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1C2A40"/>
                </a:solidFill>
                <a:latin typeface="Aptos"/>
              </a:rPr>
              <a:t>Guadagno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su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A3: +17,85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punti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600" b="0" dirty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1C2A40"/>
                </a:solidFill>
                <a:latin typeface="Aptos"/>
              </a:rPr>
              <a:t>Best checkpoint A4: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epoca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32; stop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anticipato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C2A40"/>
                </a:solidFill>
                <a:latin typeface="Aptos"/>
              </a:rPr>
              <a:t>successivo</a:t>
            </a:r>
            <a:r>
              <a:rPr sz="1600" b="0" dirty="0">
                <a:solidFill>
                  <a:srgbClr val="1C2A40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32704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705856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Il miglioramento non nasce da tempi aggiuntivi, ma dal valutare le conseguenze della mossa.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37/68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CHE COSA NON PUÒ FARE A4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A4 migliora la scelta, ma ha un limite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Se A3 non include la mossa corretta fra le sue cinque proposte, A4 non potrà sceglierla.</a:t>
            </a:r>
            <a:endParaRPr lang="it-IT" sz="1300"/>
          </a:p>
        </p:txBody>
      </p:sp>
      <p:sp>
        <p:nvSpPr>
          <p:cNvPr id="6" name="Box"/>
          <p:cNvSpPr/>
          <p:nvPr/>
        </p:nvSpPr>
        <p:spPr>
          <a:xfrm>
            <a:off x="685800" y="1645920"/>
            <a:ext cx="3657600" cy="3611880"/>
          </a:xfrm>
          <a:prstGeom prst="roundRect">
            <a:avLst/>
          </a:prstGeom>
          <a:solidFill>
            <a:srgbClr val="142033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7"/>
          <p:cNvSpPr txBox="1"/>
          <p:nvPr/>
        </p:nvSpPr>
        <p:spPr>
          <a:xfrm>
            <a:off x="1005840" y="201168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700" b="1">
                <a:solidFill>
                  <a:srgbClr val="8EA0B2"/>
                </a:solidFill>
                <a:latin typeface="Aptos"/>
              </a:rPr>
              <a:t>Risposta nelle prime 5</a:t>
            </a:r>
            <a:endParaRPr lang="it-IT" sz="1700"/>
          </a:p>
        </p:txBody>
      </p:sp>
      <p:sp>
        <p:nvSpPr>
          <p:cNvPr id="8" name="Text 8"/>
          <p:cNvSpPr txBox="1"/>
          <p:nvPr/>
        </p:nvSpPr>
        <p:spPr>
          <a:xfrm>
            <a:off x="960120" y="2697480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3600" b="1">
                <a:solidFill>
                  <a:srgbClr val="FFFFFF"/>
                </a:solidFill>
                <a:latin typeface="Aptos"/>
              </a:rPr>
              <a:t>91,858%</a:t>
            </a:r>
            <a:endParaRPr lang="it-IT" sz="3600"/>
          </a:p>
        </p:txBody>
      </p:sp>
      <p:sp>
        <p:nvSpPr>
          <p:cNvPr id="9" name="Text 9"/>
          <p:cNvSpPr txBox="1"/>
          <p:nvPr/>
        </p:nvSpPr>
        <p:spPr>
          <a:xfrm>
            <a:off x="1051560" y="345643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200" b="1">
                <a:solidFill>
                  <a:srgbClr val="35BDE7"/>
                </a:solidFill>
                <a:latin typeface="Aptos"/>
              </a:rPr>
              <a:t>Il massimo teorico con queste proposte</a:t>
            </a:r>
            <a:endParaRPr lang="it-IT" sz="1200"/>
          </a:p>
        </p:txBody>
      </p:sp>
      <p:sp>
        <p:nvSpPr>
          <p:cNvPr id="10" name="Box"/>
          <p:cNvSpPr/>
          <p:nvPr/>
        </p:nvSpPr>
        <p:spPr>
          <a:xfrm>
            <a:off x="4709160" y="1645920"/>
            <a:ext cx="3063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Box"/>
          <p:cNvSpPr/>
          <p:nvPr/>
        </p:nvSpPr>
        <p:spPr>
          <a:xfrm>
            <a:off x="4709160" y="1645920"/>
            <a:ext cx="73152" cy="1508760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2"/>
          <p:cNvSpPr txBox="1"/>
          <p:nvPr/>
        </p:nvSpPr>
        <p:spPr>
          <a:xfrm>
            <a:off x="4937760" y="181051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701 errori: mancava la risposta</a:t>
            </a:r>
            <a:endParaRPr lang="it-IT" sz="1600"/>
          </a:p>
        </p:txBody>
      </p:sp>
      <p:sp>
        <p:nvSpPr>
          <p:cNvPr id="13" name="Text 13"/>
          <p:cNvSpPr txBox="1"/>
          <p:nvPr/>
        </p:nvSpPr>
        <p:spPr>
          <a:xfrm>
            <a:off x="4937760" y="2414016"/>
            <a:ext cx="2651760" cy="704087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Nel 55,8% degli errori di A4, A3 non aveva proposto la mossa giusta.</a:t>
            </a:r>
            <a:endParaRPr lang="it-IT" sz="1150"/>
          </a:p>
        </p:txBody>
      </p:sp>
      <p:sp>
        <p:nvSpPr>
          <p:cNvPr id="14" name="Box"/>
          <p:cNvSpPr/>
          <p:nvPr/>
        </p:nvSpPr>
        <p:spPr>
          <a:xfrm>
            <a:off x="8092440" y="1645920"/>
            <a:ext cx="3063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5" name="Box"/>
          <p:cNvSpPr/>
          <p:nvPr/>
        </p:nvSpPr>
        <p:spPr>
          <a:xfrm>
            <a:off x="8092440" y="1645920"/>
            <a:ext cx="73152" cy="1508760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6"/>
          <p:cNvSpPr txBox="1"/>
          <p:nvPr/>
        </p:nvSpPr>
        <p:spPr>
          <a:xfrm>
            <a:off x="8321040" y="181051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555 errori: scelta finale</a:t>
            </a:r>
            <a:endParaRPr lang="it-IT" sz="1600"/>
          </a:p>
        </p:txBody>
      </p:sp>
      <p:sp>
        <p:nvSpPr>
          <p:cNvPr id="17" name="Text 17"/>
          <p:cNvSpPr txBox="1"/>
          <p:nvPr/>
        </p:nvSpPr>
        <p:spPr>
          <a:xfrm>
            <a:off x="8321040" y="2304288"/>
            <a:ext cx="2651760" cy="704087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Nel 44,2% degli errori, la risposta c’era ma A4 ha preferito un’altra mossa.</a:t>
            </a:r>
            <a:endParaRPr lang="it-IT" sz="1150"/>
          </a:p>
        </p:txBody>
      </p:sp>
      <p:sp>
        <p:nvSpPr>
          <p:cNvPr id="18" name="Box"/>
          <p:cNvSpPr/>
          <p:nvPr/>
        </p:nvSpPr>
        <p:spPr>
          <a:xfrm>
            <a:off x="4709160" y="3703320"/>
            <a:ext cx="6446520" cy="1554480"/>
          </a:xfrm>
          <a:prstGeom prst="roundRect">
            <a:avLst/>
          </a:prstGeom>
          <a:solidFill>
            <a:srgbClr val="E7F7F5"/>
          </a:solidFill>
          <a:ln w="1270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9"/>
          <p:cNvSpPr txBox="1"/>
          <p:nvPr/>
        </p:nvSpPr>
        <p:spPr>
          <a:xfrm>
            <a:off x="5029200" y="398678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8A6A6"/>
                </a:solidFill>
                <a:latin typeface="Aptos"/>
              </a:rPr>
              <a:t>Quando la risposta c’è</a:t>
            </a:r>
            <a:endParaRPr lang="it-IT" sz="1600"/>
          </a:p>
        </p:txBody>
      </p:sp>
      <p:sp>
        <p:nvSpPr>
          <p:cNvPr id="20" name="Text 20"/>
          <p:cNvSpPr txBox="1"/>
          <p:nvPr/>
        </p:nvSpPr>
        <p:spPr>
          <a:xfrm>
            <a:off x="7498079" y="3877056"/>
            <a:ext cx="3063240" cy="56692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2900" b="1">
                <a:solidFill>
                  <a:srgbClr val="172033"/>
                </a:solidFill>
                <a:latin typeface="Aptos"/>
              </a:rPr>
              <a:t>92,983%</a:t>
            </a:r>
            <a:endParaRPr lang="it-IT" sz="2900"/>
          </a:p>
        </p:txBody>
      </p:sp>
      <p:sp>
        <p:nvSpPr>
          <p:cNvPr id="21" name="Text 21"/>
          <p:cNvSpPr txBox="1"/>
          <p:nvPr/>
        </p:nvSpPr>
        <p:spPr>
          <a:xfrm>
            <a:off x="7680960" y="457200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100" b="0">
                <a:solidFill>
                  <a:srgbClr val="5C6B7A"/>
                </a:solidFill>
                <a:latin typeface="Aptos"/>
              </a:rPr>
              <a:t>A4 la sceglie correttamente</a:t>
            </a:r>
            <a:endParaRPr lang="it-IT" sz="1100"/>
          </a:p>
        </p:txBody>
      </p:sp>
      <p:sp>
        <p:nvSpPr>
          <p:cNvPr id="22" name="Text 22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38/68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CONFRONTO TRA MODELLI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Che problema ha affrontato ogni versione?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È utile leggere la progressione come una serie di ipotesi, non come una gara di sigle.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73936"/>
            <a:ext cx="10771632" cy="448056"/>
          </a:xfrm>
          <a:prstGeom prst="roundRect">
            <a:avLst>
              <a:gd name="adj" fmla="val 12000"/>
            </a:avLst>
          </a:prstGeom>
          <a:solidFill>
            <a:srgbClr val="15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92807"/>
            <a:ext cx="10058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Modello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1892807"/>
            <a:ext cx="137160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Top-1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892807"/>
            <a:ext cx="460857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Limite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92807"/>
            <a:ext cx="28346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Intervento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276856"/>
            <a:ext cx="1077163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368296"/>
            <a:ext cx="10058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104" y="2368296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A59F"/>
                </a:solidFill>
                <a:latin typeface="Aptos"/>
              </a:rPr>
              <a:t>39,62%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368296"/>
            <a:ext cx="4663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C2A40"/>
                </a:solidFill>
                <a:latin typeface="Aptos"/>
              </a:rPr>
              <a:t>Può proporre mosse illegali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68296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C2A40"/>
                </a:solidFill>
                <a:latin typeface="Aptos"/>
              </a:rPr>
              <a:t>Filtro post-predizione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807208"/>
            <a:ext cx="10771632" cy="502920"/>
          </a:xfrm>
          <a:prstGeom prst="rect">
            <a:avLst/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2898648"/>
            <a:ext cx="10058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A1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2898648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A59F"/>
                </a:solidFill>
                <a:latin typeface="Aptos"/>
              </a:rPr>
              <a:t>49,81%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2898648"/>
            <a:ext cx="4663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C2A40"/>
                </a:solidFill>
                <a:latin typeface="Aptos"/>
              </a:rPr>
              <a:t>I pesi non sono addestrati con il filtro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98648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C2A40"/>
                </a:solidFill>
                <a:latin typeface="Aptos"/>
              </a:rPr>
              <a:t>Maschera in training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337560"/>
            <a:ext cx="1077163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429000"/>
            <a:ext cx="10058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A2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75104" y="3429000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A59F"/>
                </a:solidFill>
                <a:latin typeface="Aptos"/>
              </a:rPr>
              <a:t>49,26%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3429000"/>
            <a:ext cx="4663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C2A40"/>
                </a:solidFill>
                <a:latin typeface="Aptos"/>
              </a:rPr>
              <a:t>Vincolo sì, vocabolario fisso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429000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C2A40"/>
                </a:solidFill>
                <a:latin typeface="Aptos"/>
              </a:rPr>
              <a:t>Scoring candidate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3867912"/>
            <a:ext cx="10771632" cy="502920"/>
          </a:xfrm>
          <a:prstGeom prst="rect">
            <a:avLst/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3959352"/>
            <a:ext cx="10058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A3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75104" y="3959352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A59F"/>
                </a:solidFill>
                <a:latin typeface="Aptos"/>
              </a:rPr>
              <a:t>67,56%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3959352"/>
            <a:ext cx="4663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C2A40"/>
                </a:solidFill>
                <a:latin typeface="Aptos"/>
              </a:rPr>
              <a:t>Non esamina esplicitamente il dopo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959352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C2A40"/>
                </a:solidFill>
                <a:latin typeface="Aptos"/>
              </a:rPr>
              <a:t>A4: nuova GAT post-mossa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4398264"/>
            <a:ext cx="1077163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4489704"/>
            <a:ext cx="10058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5104" y="4489704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A59F"/>
                </a:solidFill>
                <a:latin typeface="Aptos"/>
              </a:rPr>
              <a:t>65,98%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02152" y="4489704"/>
            <a:ext cx="4663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C2A40"/>
                </a:solidFill>
                <a:latin typeface="Aptos"/>
              </a:rPr>
              <a:t>Timing sintetico non utile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489704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C2A40"/>
                </a:solidFill>
                <a:latin typeface="Aptos"/>
              </a:rPr>
              <a:t>Ablazione negativa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4928616"/>
            <a:ext cx="10771632" cy="502920"/>
          </a:xfrm>
          <a:prstGeom prst="rect">
            <a:avLst/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" y="5020056"/>
            <a:ext cx="10058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A4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75104" y="5020056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A59F"/>
                </a:solidFill>
                <a:latin typeface="Aptos"/>
              </a:rPr>
              <a:t>85,41%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02152" y="5020056"/>
            <a:ext cx="4663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C2A40"/>
                </a:solidFill>
                <a:latin typeface="Aptos"/>
              </a:rPr>
              <a:t>Dipende dalle prime cinque di A3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020056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C2A40"/>
                </a:solidFill>
                <a:latin typeface="Aptos"/>
              </a:rPr>
              <a:t>Limite residuo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39/68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ADDESTRAMENTO ·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Come fa il modello a imparare da un puzzle?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All’inizio i punteggi sono poco utili. Il confronto con la mossa corretta modifica gradualmente i pesi della rete.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1883664"/>
            <a:ext cx="5166360" cy="3364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2376" y="1883664"/>
            <a:ext cx="68580" cy="3364992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066544"/>
            <a:ext cx="4727448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Un passaggio di addestramento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606040"/>
            <a:ext cx="4727448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Prendiamo un gruppo di posizioni, calcoliamo i punteggi per le mosse e misuriamo quanto la previsione è distante dalla soluzione. L’ottimizzatore aggiorna i parametri.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83664"/>
            <a:ext cx="5166360" cy="3364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883664"/>
            <a:ext cx="68580" cy="3364992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2066544"/>
            <a:ext cx="4727448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Quando fermarsi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606040"/>
            <a:ext cx="4727448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1C2A40"/>
                </a:solidFill>
                <a:latin typeface="Aptos"/>
              </a:rPr>
              <a:t>Dopo ogni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epoca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controlliamo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il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comportamento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sulla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validazione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.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Conserviamo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il checkpoint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migliore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e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interrompiamo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il training se non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migliora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per un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certo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C2A40"/>
                </a:solidFill>
                <a:latin typeface="Aptos"/>
              </a:rPr>
              <a:t>periodo</a:t>
            </a:r>
            <a:r>
              <a:rPr sz="1500" b="0" dirty="0">
                <a:solidFill>
                  <a:srgbClr val="1C2A40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50992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724144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La valutazione finale viene fatta sul test, rimasto escluso dalle decisioni di addestramento.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40/68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IPERPARAMETRI · SPIEGATI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Le impostazioni comuni e a che cosa servono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Non sono numeri casuali: ciascuno controlla una parte del processo di apprendimento.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1819656"/>
            <a:ext cx="3621024" cy="1773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656" y="1819656"/>
            <a:ext cx="68580" cy="1773936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02536"/>
            <a:ext cx="3182112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15253B"/>
                </a:solidFill>
                <a:latin typeface="Aptos"/>
              </a:rPr>
              <a:t>Batch size · 128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42032"/>
            <a:ext cx="3182112" cy="9509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A40"/>
                </a:solidFill>
                <a:latin typeface="Aptos"/>
              </a:rPr>
              <a:t>Quanti puzzle elaboriamo insieme prima di aggiornare i pesi.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4" y="1819656"/>
            <a:ext cx="3621024" cy="1773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35424" y="1819656"/>
            <a:ext cx="68580" cy="1773936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2002536"/>
            <a:ext cx="3182112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15253B"/>
                </a:solidFill>
                <a:latin typeface="Aptos"/>
              </a:rPr>
              <a:t>Learning rate · 0,0005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542032"/>
            <a:ext cx="3182112" cy="9509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A40"/>
                </a:solidFill>
                <a:latin typeface="Aptos"/>
              </a:rPr>
              <a:t>Quanto grande è ogni aggiornamento: troppo alto può rendere instabile il training.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4192" y="1819656"/>
            <a:ext cx="3621024" cy="1773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94192" y="1819656"/>
            <a:ext cx="68580" cy="1773936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13648" y="2002536"/>
            <a:ext cx="3182112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15253B"/>
                </a:solidFill>
                <a:latin typeface="Aptos"/>
              </a:rPr>
              <a:t>Adam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542032"/>
            <a:ext cx="3182112" cy="9509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A40"/>
                </a:solidFill>
                <a:latin typeface="Aptos"/>
              </a:rPr>
              <a:t>Algoritmo che decide come aggiornare i pesi usando i gradienti.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" y="3813048"/>
            <a:ext cx="3621024" cy="1773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6656" y="3813048"/>
            <a:ext cx="68580" cy="1773936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3995928"/>
            <a:ext cx="3182112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15253B"/>
                </a:solidFill>
                <a:latin typeface="Aptos"/>
              </a:rPr>
              <a:t>Weight decay · 0,0001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535424"/>
            <a:ext cx="3182112" cy="9509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A40"/>
                </a:solidFill>
                <a:latin typeface="Aptos"/>
              </a:rPr>
              <a:t>Regolarizzazione che scoraggia pesi eccessivamente grandi.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35424" y="3813048"/>
            <a:ext cx="3621024" cy="1773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35424" y="3813048"/>
            <a:ext cx="68580" cy="1773936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3995928"/>
            <a:ext cx="3182112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15253B"/>
                </a:solidFill>
                <a:latin typeface="Aptos"/>
              </a:rPr>
              <a:t>Dropout · 0,30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535424"/>
            <a:ext cx="3182112" cy="9509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A40"/>
                </a:solidFill>
                <a:latin typeface="Aptos"/>
              </a:rPr>
              <a:t>Durante il training disattiviamo parte delle attivazioni per ridurre l’overfitting.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94192" y="3813048"/>
            <a:ext cx="3621024" cy="1773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94192" y="3813048"/>
            <a:ext cx="68580" cy="1773936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13648" y="3995928"/>
            <a:ext cx="3182112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15253B"/>
                </a:solidFill>
                <a:latin typeface="Aptos"/>
              </a:rPr>
              <a:t>Seed · 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4535424"/>
            <a:ext cx="3182112" cy="9509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A40"/>
                </a:solidFill>
                <a:latin typeface="Aptos"/>
              </a:rPr>
              <a:t>Fissa la casualità dove possibile per rendere le prove più ripetibili.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41/68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EPOCHE E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Quanto addestriamo e quale versione conserviamo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Un massimo di 300 epoche non significa che ogni modello abbia effettuato esattamente 300 epoche.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" y="1883664"/>
            <a:ext cx="5120640" cy="3438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0664" y="1883664"/>
            <a:ext cx="68580" cy="3438144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66544"/>
            <a:ext cx="4681727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253B"/>
                </a:solidFill>
                <a:latin typeface="Aptos"/>
              </a:rPr>
              <a:t>Il criterio di arresto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06040"/>
            <a:ext cx="4681727" cy="2615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Fissiamo un massimo di 300 epoche. Se la metrica monitorata non migliora per 12 epoche, fermiamo l’addestramento. Uno scheduler può ridurre il learning rate quando il progresso rallenta.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883664"/>
            <a:ext cx="5120640" cy="3438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81344" y="1883664"/>
            <a:ext cx="68580" cy="3438144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066544"/>
            <a:ext cx="4681727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253B"/>
                </a:solidFill>
                <a:latin typeface="Aptos"/>
              </a:rPr>
              <a:t>Checkpoint “best”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4681727" cy="2615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A40"/>
                </a:solidFill>
                <a:latin typeface="Aptos"/>
              </a:rPr>
              <a:t>Salviamo i parametri del modello al miglior risultato di validazione, non necessariamente all’ultima epoca.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A40"/>
                </a:solidFill>
                <a:latin typeface="Aptos"/>
              </a:rPr>
              <a:t>Epoche migliori verificate: A = 162; A4 = 32. Per A2, A3 e B consultare i report dei run prima di aggiungere valori.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50992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724144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I risultati finali usano i checkpoint ufficiali congelati.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42/68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5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1371600" cy="5120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CA59F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01952"/>
            <a:ext cx="1088136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Aptos"/>
              </a:rPr>
              <a:t>Esperimenti e risultati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163824"/>
            <a:ext cx="97840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Stesse domande, protocolli dichiarati e dati di test separati.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GRAPHMATE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43/68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COME ABBIAMO MISURATO I RISULTATI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Tre verifiche, ciascuna con uno scopo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Non confrontiamo numeri ottenuti da prove diverse come se fossero la stessa cosa.</a:t>
            </a:r>
            <a:endParaRPr lang="it-IT" sz="1300"/>
          </a:p>
        </p:txBody>
      </p:sp>
      <p:sp>
        <p:nvSpPr>
          <p:cNvPr id="6" name="Box"/>
          <p:cNvSpPr/>
          <p:nvPr/>
        </p:nvSpPr>
        <p:spPr>
          <a:xfrm>
            <a:off x="685800" y="160020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Box"/>
          <p:cNvSpPr/>
          <p:nvPr/>
        </p:nvSpPr>
        <p:spPr>
          <a:xfrm>
            <a:off x="685800" y="1600200"/>
            <a:ext cx="73152" cy="3337560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8"/>
          <p:cNvSpPr txBox="1"/>
          <p:nvPr/>
        </p:nvSpPr>
        <p:spPr>
          <a:xfrm>
            <a:off x="905256" y="1783080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800" b="1">
                <a:solidFill>
                  <a:srgbClr val="18A6A6"/>
                </a:solidFill>
                <a:latin typeface="Aptos"/>
              </a:rPr>
              <a:t>1</a:t>
            </a:r>
            <a:endParaRPr lang="it-IT" sz="1800"/>
          </a:p>
        </p:txBody>
      </p:sp>
      <p:sp>
        <p:nvSpPr>
          <p:cNvPr id="9" name="Text 9"/>
          <p:cNvSpPr txBox="1"/>
          <p:nvPr/>
        </p:nvSpPr>
        <p:spPr>
          <a:xfrm>
            <a:off x="1417320" y="176479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1 · Puzzle Lichess</a:t>
            </a:r>
            <a:endParaRPr lang="it-IT" sz="1600"/>
          </a:p>
        </p:txBody>
      </p:sp>
      <p:sp>
        <p:nvSpPr>
          <p:cNvPr id="10" name="Text 10"/>
          <p:cNvSpPr txBox="1"/>
          <p:nvPr/>
        </p:nvSpPr>
        <p:spPr>
          <a:xfrm>
            <a:off x="914400" y="2258568"/>
            <a:ext cx="3017520" cy="253288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Su 8.610 puzzle misuriamo quante prime mosse sono corrette. Guardiamo anche le prime 3/5 scelte e i diversi livelli di difficoltà.</a:t>
            </a:r>
            <a:endParaRPr lang="it-IT" sz="1150"/>
          </a:p>
        </p:txBody>
      </p:sp>
      <p:sp>
        <p:nvSpPr>
          <p:cNvPr id="11" name="Box"/>
          <p:cNvSpPr/>
          <p:nvPr/>
        </p:nvSpPr>
        <p:spPr>
          <a:xfrm>
            <a:off x="4389120" y="160020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"/>
          <p:cNvSpPr/>
          <p:nvPr/>
        </p:nvSpPr>
        <p:spPr>
          <a:xfrm>
            <a:off x="4389120" y="1600200"/>
            <a:ext cx="73152" cy="3337560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3"/>
          <p:cNvSpPr txBox="1"/>
          <p:nvPr/>
        </p:nvSpPr>
        <p:spPr>
          <a:xfrm>
            <a:off x="4608576" y="1783080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800" b="1">
                <a:solidFill>
                  <a:srgbClr val="F2A93B"/>
                </a:solidFill>
                <a:latin typeface="Aptos"/>
              </a:rPr>
              <a:t>2</a:t>
            </a:r>
            <a:endParaRPr lang="it-IT" sz="1800"/>
          </a:p>
        </p:txBody>
      </p:sp>
      <p:sp>
        <p:nvSpPr>
          <p:cNvPr id="14" name="Text 14"/>
          <p:cNvSpPr txBox="1"/>
          <p:nvPr/>
        </p:nvSpPr>
        <p:spPr>
          <a:xfrm>
            <a:off x="5120640" y="176479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2 · Il tempo aiuta?</a:t>
            </a:r>
            <a:endParaRPr lang="it-IT" sz="1600"/>
          </a:p>
        </p:txBody>
      </p:sp>
      <p:sp>
        <p:nvSpPr>
          <p:cNvPr id="15" name="Text 15"/>
          <p:cNvSpPr txBox="1"/>
          <p:nvPr/>
        </p:nvSpPr>
        <p:spPr>
          <a:xfrm>
            <a:off x="4617720" y="2258568"/>
            <a:ext cx="3017520" cy="253288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Mettiamo A3 e B sugli stessi puzzle: l’unica differenza prevista è il timing sintetico. Controlliamo anche se la differenza è significativa.</a:t>
            </a:r>
            <a:endParaRPr lang="it-IT" sz="1150"/>
          </a:p>
        </p:txBody>
      </p:sp>
      <p:sp>
        <p:nvSpPr>
          <p:cNvPr id="16" name="Box"/>
          <p:cNvSpPr/>
          <p:nvPr/>
        </p:nvSpPr>
        <p:spPr>
          <a:xfrm>
            <a:off x="8092440" y="160020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7" name="Box"/>
          <p:cNvSpPr/>
          <p:nvPr/>
        </p:nvSpPr>
        <p:spPr>
          <a:xfrm>
            <a:off x="8092440" y="1600200"/>
            <a:ext cx="73152" cy="3337560"/>
          </a:xfrm>
          <a:prstGeom prst="roundRect">
            <a:avLst/>
          </a:prstGeom>
          <a:solidFill>
            <a:srgbClr val="7868E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8"/>
          <p:cNvSpPr txBox="1"/>
          <p:nvPr/>
        </p:nvSpPr>
        <p:spPr>
          <a:xfrm>
            <a:off x="8311896" y="1783080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800" b="1">
                <a:solidFill>
                  <a:srgbClr val="7868E6"/>
                </a:solidFill>
                <a:latin typeface="Aptos"/>
              </a:rPr>
              <a:t>3</a:t>
            </a:r>
            <a:endParaRPr lang="it-IT" sz="1800"/>
          </a:p>
        </p:txBody>
      </p:sp>
      <p:sp>
        <p:nvSpPr>
          <p:cNvPr id="19" name="Text 19"/>
          <p:cNvSpPr txBox="1"/>
          <p:nvPr/>
        </p:nvSpPr>
        <p:spPr>
          <a:xfrm>
            <a:off x="8823960" y="176479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3 · Puzzle classici</a:t>
            </a:r>
            <a:endParaRPr lang="it-IT" sz="1600"/>
          </a:p>
        </p:txBody>
      </p:sp>
      <p:sp>
        <p:nvSpPr>
          <p:cNvPr id="20" name="Text 20"/>
          <p:cNvSpPr txBox="1"/>
          <p:nvPr/>
        </p:nvSpPr>
        <p:spPr>
          <a:xfrm>
            <a:off x="8321040" y="2258568"/>
            <a:ext cx="3017520" cy="253288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Proviamo 200 composizioni indipendenti da Lichess: da matto in 1 a matto in 10. Verifichiamo le chiavi con Popeye.</a:t>
            </a:r>
            <a:endParaRPr lang="it-IT" sz="1150"/>
          </a:p>
        </p:txBody>
      </p:sp>
      <p:sp>
        <p:nvSpPr>
          <p:cNvPr id="21" name="Text 21"/>
          <p:cNvSpPr txBox="1"/>
          <p:nvPr/>
        </p:nvSpPr>
        <p:spPr>
          <a:xfrm>
            <a:off x="868680" y="5413248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500" b="1">
                <a:solidFill>
                  <a:srgbClr val="172033"/>
                </a:solidFill>
                <a:latin typeface="Aptos"/>
              </a:rPr>
              <a:t>La misura principale è semplice: il modello ha indicato la prima mossa corretta?</a:t>
            </a:r>
            <a:endParaRPr lang="it-IT" sz="1500"/>
          </a:p>
        </p:txBody>
      </p:sp>
      <p:sp>
        <p:nvSpPr>
          <p:cNvPr id="22" name="Text 22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44/68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RISULTATI SUI PUZZLE LICHESS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Dai primi tentativi ad A4: quanto miglioriamo?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Su 100 puzzle, A indovina circa 40 prime mosse; A4 ne indovina circa 85.</a:t>
            </a:r>
            <a:endParaRPr lang="it-IT" sz="1300"/>
          </a:p>
        </p:txBody>
      </p:sp>
      <p:sp>
        <p:nvSpPr>
          <p:cNvPr id="6" name="Text 6"/>
          <p:cNvSpPr txBox="1"/>
          <p:nvPr/>
        </p:nvSpPr>
        <p:spPr>
          <a:xfrm>
            <a:off x="685800" y="1508760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A</a:t>
            </a:r>
            <a:endParaRPr lang="it-IT" sz="1050"/>
          </a:p>
        </p:txBody>
      </p:sp>
      <p:sp>
        <p:nvSpPr>
          <p:cNvPr id="7" name="Box"/>
          <p:cNvSpPr/>
          <p:nvPr/>
        </p:nvSpPr>
        <p:spPr>
          <a:xfrm>
            <a:off x="2240280" y="1581912"/>
            <a:ext cx="5303520" cy="448056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Box"/>
          <p:cNvSpPr/>
          <p:nvPr/>
        </p:nvSpPr>
        <p:spPr>
          <a:xfrm>
            <a:off x="2240280" y="1581912"/>
            <a:ext cx="2101079" cy="448056"/>
          </a:xfrm>
          <a:prstGeom prst="round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9"/>
          <p:cNvSpPr txBox="1"/>
          <p:nvPr/>
        </p:nvSpPr>
        <p:spPr>
          <a:xfrm>
            <a:off x="7589519" y="1508760"/>
            <a:ext cx="82296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64008" rIns="0" bIns="64008" anchor="ctr"/>
          <a:lstStyle/>
          <a:p>
            <a:pPr algn="r"/>
            <a:r>
              <a:rPr lang="it-IT" sz="1000" b="1">
                <a:solidFill>
                  <a:srgbClr val="172033"/>
                </a:solidFill>
                <a:latin typeface="Aptos"/>
              </a:rPr>
              <a:t>39.6%</a:t>
            </a:r>
            <a:endParaRPr lang="it-IT" sz="1000"/>
          </a:p>
        </p:txBody>
      </p:sp>
      <p:sp>
        <p:nvSpPr>
          <p:cNvPr id="10" name="Text 10"/>
          <p:cNvSpPr txBox="1"/>
          <p:nvPr/>
        </p:nvSpPr>
        <p:spPr>
          <a:xfrm>
            <a:off x="685800" y="2249424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A1</a:t>
            </a:r>
            <a:endParaRPr lang="it-IT" sz="1050"/>
          </a:p>
        </p:txBody>
      </p:sp>
      <p:sp>
        <p:nvSpPr>
          <p:cNvPr id="11" name="Box"/>
          <p:cNvSpPr/>
          <p:nvPr/>
        </p:nvSpPr>
        <p:spPr>
          <a:xfrm>
            <a:off x="2240280" y="2322576"/>
            <a:ext cx="5303520" cy="448056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Box"/>
          <p:cNvSpPr/>
          <p:nvPr/>
        </p:nvSpPr>
        <p:spPr>
          <a:xfrm>
            <a:off x="2240280" y="2322576"/>
            <a:ext cx="2641906" cy="448056"/>
          </a:xfrm>
          <a:prstGeom prst="roundRect">
            <a:avLst/>
          </a:prstGeom>
          <a:solidFill>
            <a:srgbClr val="9B8AF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3"/>
          <p:cNvSpPr txBox="1"/>
          <p:nvPr/>
        </p:nvSpPr>
        <p:spPr>
          <a:xfrm>
            <a:off x="7589519" y="2249424"/>
            <a:ext cx="82296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64008" rIns="0" bIns="64008" anchor="ctr"/>
          <a:lstStyle/>
          <a:p>
            <a:pPr algn="r"/>
            <a:r>
              <a:rPr lang="it-IT" sz="1000" b="1">
                <a:solidFill>
                  <a:srgbClr val="172033"/>
                </a:solidFill>
                <a:latin typeface="Aptos"/>
              </a:rPr>
              <a:t>49.8%</a:t>
            </a:r>
            <a:endParaRPr lang="it-IT" sz="1000"/>
          </a:p>
        </p:txBody>
      </p:sp>
      <p:sp>
        <p:nvSpPr>
          <p:cNvPr id="14" name="Text 14"/>
          <p:cNvSpPr txBox="1"/>
          <p:nvPr/>
        </p:nvSpPr>
        <p:spPr>
          <a:xfrm>
            <a:off x="685800" y="2990088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A2</a:t>
            </a:r>
            <a:endParaRPr lang="it-IT" sz="1050"/>
          </a:p>
        </p:txBody>
      </p:sp>
      <p:sp>
        <p:nvSpPr>
          <p:cNvPr id="15" name="Box"/>
          <p:cNvSpPr/>
          <p:nvPr/>
        </p:nvSpPr>
        <p:spPr>
          <a:xfrm>
            <a:off x="2240280" y="3063240"/>
            <a:ext cx="5303520" cy="448056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Box"/>
          <p:cNvSpPr/>
          <p:nvPr/>
        </p:nvSpPr>
        <p:spPr>
          <a:xfrm>
            <a:off x="2240280" y="3063240"/>
            <a:ext cx="2612338" cy="448056"/>
          </a:xfrm>
          <a:prstGeom prst="roundRect">
            <a:avLst/>
          </a:prstGeom>
          <a:solidFill>
            <a:srgbClr val="377D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7"/>
          <p:cNvSpPr txBox="1"/>
          <p:nvPr/>
        </p:nvSpPr>
        <p:spPr>
          <a:xfrm>
            <a:off x="7589519" y="2990088"/>
            <a:ext cx="82296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64008" rIns="0" bIns="64008" anchor="ctr"/>
          <a:lstStyle/>
          <a:p>
            <a:pPr algn="r"/>
            <a:r>
              <a:rPr lang="it-IT" sz="1000" b="1">
                <a:solidFill>
                  <a:srgbClr val="172033"/>
                </a:solidFill>
                <a:latin typeface="Aptos"/>
              </a:rPr>
              <a:t>49.3%</a:t>
            </a:r>
            <a:endParaRPr lang="it-IT" sz="1000"/>
          </a:p>
        </p:txBody>
      </p:sp>
      <p:sp>
        <p:nvSpPr>
          <p:cNvPr id="18" name="Text 18"/>
          <p:cNvSpPr txBox="1"/>
          <p:nvPr/>
        </p:nvSpPr>
        <p:spPr>
          <a:xfrm>
            <a:off x="685800" y="3730752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A3</a:t>
            </a:r>
            <a:endParaRPr lang="it-IT" sz="1050"/>
          </a:p>
        </p:txBody>
      </p:sp>
      <p:sp>
        <p:nvSpPr>
          <p:cNvPr id="19" name="Box"/>
          <p:cNvSpPr/>
          <p:nvPr/>
        </p:nvSpPr>
        <p:spPr>
          <a:xfrm>
            <a:off x="2240280" y="3803904"/>
            <a:ext cx="5303520" cy="448056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Box"/>
          <p:cNvSpPr/>
          <p:nvPr/>
        </p:nvSpPr>
        <p:spPr>
          <a:xfrm>
            <a:off x="2240280" y="3803904"/>
            <a:ext cx="3583111" cy="448056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21"/>
          <p:cNvSpPr txBox="1"/>
          <p:nvPr/>
        </p:nvSpPr>
        <p:spPr>
          <a:xfrm>
            <a:off x="7589519" y="3730752"/>
            <a:ext cx="82296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64008" rIns="0" bIns="64008" anchor="ctr"/>
          <a:lstStyle/>
          <a:p>
            <a:pPr algn="r"/>
            <a:r>
              <a:rPr lang="it-IT" sz="1000" b="1">
                <a:solidFill>
                  <a:srgbClr val="172033"/>
                </a:solidFill>
                <a:latin typeface="Aptos"/>
              </a:rPr>
              <a:t>67.6%</a:t>
            </a:r>
            <a:endParaRPr lang="it-IT" sz="1000"/>
          </a:p>
        </p:txBody>
      </p:sp>
      <p:sp>
        <p:nvSpPr>
          <p:cNvPr id="22" name="Text 22"/>
          <p:cNvSpPr txBox="1"/>
          <p:nvPr/>
        </p:nvSpPr>
        <p:spPr>
          <a:xfrm>
            <a:off x="685800" y="4471416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B</a:t>
            </a:r>
            <a:endParaRPr lang="it-IT" sz="1050"/>
          </a:p>
        </p:txBody>
      </p:sp>
      <p:sp>
        <p:nvSpPr>
          <p:cNvPr id="23" name="Box"/>
          <p:cNvSpPr/>
          <p:nvPr/>
        </p:nvSpPr>
        <p:spPr>
          <a:xfrm>
            <a:off x="2240280" y="4544568"/>
            <a:ext cx="5303520" cy="448056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4" name="Box"/>
          <p:cNvSpPr/>
          <p:nvPr/>
        </p:nvSpPr>
        <p:spPr>
          <a:xfrm>
            <a:off x="2240280" y="4544568"/>
            <a:ext cx="3499336" cy="448056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5"/>
          <p:cNvSpPr txBox="1"/>
          <p:nvPr/>
        </p:nvSpPr>
        <p:spPr>
          <a:xfrm>
            <a:off x="7589519" y="4471416"/>
            <a:ext cx="82296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64008" rIns="0" bIns="64008" anchor="ctr"/>
          <a:lstStyle/>
          <a:p>
            <a:pPr algn="r"/>
            <a:r>
              <a:rPr lang="it-IT" sz="1000" b="1">
                <a:solidFill>
                  <a:srgbClr val="172033"/>
                </a:solidFill>
                <a:latin typeface="Aptos"/>
              </a:rPr>
              <a:t>66.0%</a:t>
            </a:r>
            <a:endParaRPr lang="it-IT" sz="1000"/>
          </a:p>
        </p:txBody>
      </p:sp>
      <p:sp>
        <p:nvSpPr>
          <p:cNvPr id="26" name="Text 26"/>
          <p:cNvSpPr txBox="1"/>
          <p:nvPr/>
        </p:nvSpPr>
        <p:spPr>
          <a:xfrm>
            <a:off x="685800" y="5212080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A4</a:t>
            </a:r>
            <a:endParaRPr lang="it-IT" sz="1050"/>
          </a:p>
        </p:txBody>
      </p:sp>
      <p:sp>
        <p:nvSpPr>
          <p:cNvPr id="27" name="Box"/>
          <p:cNvSpPr/>
          <p:nvPr/>
        </p:nvSpPr>
        <p:spPr>
          <a:xfrm>
            <a:off x="2240280" y="5285232"/>
            <a:ext cx="5303520" cy="448056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8" name="Box"/>
          <p:cNvSpPr/>
          <p:nvPr/>
        </p:nvSpPr>
        <p:spPr>
          <a:xfrm>
            <a:off x="2240280" y="5285232"/>
            <a:ext cx="4529858" cy="448056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9"/>
          <p:cNvSpPr txBox="1"/>
          <p:nvPr/>
        </p:nvSpPr>
        <p:spPr>
          <a:xfrm>
            <a:off x="7589519" y="5212080"/>
            <a:ext cx="82296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64008" rIns="0" bIns="64008" anchor="ctr"/>
          <a:lstStyle/>
          <a:p>
            <a:pPr algn="r"/>
            <a:r>
              <a:rPr lang="it-IT" sz="1000" b="1">
                <a:solidFill>
                  <a:srgbClr val="172033"/>
                </a:solidFill>
                <a:latin typeface="Aptos"/>
              </a:rPr>
              <a:t>85.4%</a:t>
            </a:r>
            <a:endParaRPr lang="it-IT" sz="1000"/>
          </a:p>
        </p:txBody>
      </p:sp>
      <p:sp>
        <p:nvSpPr>
          <p:cNvPr id="30" name="Box"/>
          <p:cNvSpPr/>
          <p:nvPr/>
        </p:nvSpPr>
        <p:spPr>
          <a:xfrm>
            <a:off x="8503920" y="1737360"/>
            <a:ext cx="2743200" cy="1325880"/>
          </a:xfrm>
          <a:prstGeom prst="roundRect">
            <a:avLst/>
          </a:prstGeom>
          <a:solidFill>
            <a:srgbClr val="E7F7F5"/>
          </a:solidFill>
          <a:ln w="1270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31"/>
          <p:cNvSpPr txBox="1"/>
          <p:nvPr/>
        </p:nvSpPr>
        <p:spPr>
          <a:xfrm>
            <a:off x="8732520" y="1975104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2400" b="1">
                <a:solidFill>
                  <a:srgbClr val="18A6A6"/>
                </a:solidFill>
                <a:latin typeface="Aptos"/>
              </a:rPr>
              <a:t>+27,94 punti</a:t>
            </a:r>
            <a:endParaRPr lang="it-IT" sz="2400"/>
          </a:p>
        </p:txBody>
      </p:sp>
      <p:sp>
        <p:nvSpPr>
          <p:cNvPr id="32" name="Text 32"/>
          <p:cNvSpPr txBox="1"/>
          <p:nvPr/>
        </p:nvSpPr>
        <p:spPr>
          <a:xfrm>
            <a:off x="8732520" y="25146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100" b="1">
                <a:solidFill>
                  <a:srgbClr val="5C6B7A"/>
                </a:solidFill>
                <a:latin typeface="Aptos"/>
              </a:rPr>
              <a:t>A3 rispetto ad A</a:t>
            </a:r>
            <a:endParaRPr lang="it-IT" sz="1100"/>
          </a:p>
        </p:txBody>
      </p:sp>
      <p:sp>
        <p:nvSpPr>
          <p:cNvPr id="33" name="Box"/>
          <p:cNvSpPr/>
          <p:nvPr/>
        </p:nvSpPr>
        <p:spPr>
          <a:xfrm>
            <a:off x="8503920" y="3401568"/>
            <a:ext cx="2743200" cy="1325880"/>
          </a:xfrm>
          <a:prstGeom prst="roundRect">
            <a:avLst/>
          </a:prstGeom>
          <a:solidFill>
            <a:srgbClr val="FDECEF"/>
          </a:solidFill>
          <a:ln w="1270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4"/>
          <p:cNvSpPr txBox="1"/>
          <p:nvPr/>
        </p:nvSpPr>
        <p:spPr>
          <a:xfrm>
            <a:off x="8732520" y="363931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2400" b="1">
                <a:solidFill>
                  <a:srgbClr val="E85D75"/>
                </a:solidFill>
                <a:latin typeface="Aptos"/>
              </a:rPr>
              <a:t>+17,85 punti</a:t>
            </a:r>
            <a:endParaRPr lang="it-IT" sz="2400"/>
          </a:p>
        </p:txBody>
      </p:sp>
      <p:sp>
        <p:nvSpPr>
          <p:cNvPr id="35" name="Text 35"/>
          <p:cNvSpPr txBox="1"/>
          <p:nvPr/>
        </p:nvSpPr>
        <p:spPr>
          <a:xfrm>
            <a:off x="8732520" y="41788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100" b="1">
                <a:solidFill>
                  <a:srgbClr val="5C6B7A"/>
                </a:solidFill>
                <a:latin typeface="Aptos"/>
              </a:rPr>
              <a:t>A4 rispetto ad A3</a:t>
            </a:r>
            <a:endParaRPr lang="it-IT" sz="1100"/>
          </a:p>
        </p:txBody>
      </p:sp>
      <p:sp>
        <p:nvSpPr>
          <p:cNvPr id="36" name="Text 36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45/68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PERCHÉ LE REGOLE AIUTANO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Imparare a scegliere fra mosse legali cambia tutto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Filtrare le mosse impossibili aiuta; valutarle una per una, come fa A3, aiuta ancora di più.</a:t>
            </a:r>
            <a:endParaRPr lang="it-IT" sz="1300"/>
          </a:p>
        </p:txBody>
      </p:sp>
      <p:sp>
        <p:nvSpPr>
          <p:cNvPr id="6" name="Connector 6"/>
          <p:cNvSpPr/>
          <p:nvPr/>
        </p:nvSpPr>
        <p:spPr>
          <a:xfrm>
            <a:off x="777240" y="5303520"/>
            <a:ext cx="6583680" cy="914"/>
          </a:xfrm>
          <a:prstGeom prst="line">
            <a:avLst/>
          </a:prstGeom>
          <a:ln w="12700">
            <a:solidFill>
              <a:srgbClr val="8EA0B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Connector 7"/>
          <p:cNvSpPr/>
          <p:nvPr/>
        </p:nvSpPr>
        <p:spPr>
          <a:xfrm>
            <a:off x="777240" y="1828800"/>
            <a:ext cx="914" cy="3474720"/>
          </a:xfrm>
          <a:prstGeom prst="line">
            <a:avLst/>
          </a:prstGeom>
          <a:ln w="12700">
            <a:solidFill>
              <a:srgbClr val="8EA0B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8" name="Connector 8"/>
          <p:cNvSpPr/>
          <p:nvPr/>
        </p:nvSpPr>
        <p:spPr>
          <a:xfrm>
            <a:off x="777240" y="5303520"/>
            <a:ext cx="6583680" cy="914"/>
          </a:xfrm>
          <a:prstGeom prst="line">
            <a:avLst/>
          </a:prstGeom>
          <a:ln w="889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9"/>
          <p:cNvSpPr txBox="1"/>
          <p:nvPr/>
        </p:nvSpPr>
        <p:spPr>
          <a:xfrm>
            <a:off x="393192" y="5193792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800" b="0">
                <a:solidFill>
                  <a:srgbClr val="5C6B7A"/>
                </a:solidFill>
                <a:latin typeface="Aptos"/>
              </a:rPr>
              <a:t>0</a:t>
            </a:r>
            <a:endParaRPr lang="it-IT" sz="800"/>
          </a:p>
        </p:txBody>
      </p:sp>
      <p:sp>
        <p:nvSpPr>
          <p:cNvPr id="10" name="Connector 10"/>
          <p:cNvSpPr/>
          <p:nvPr/>
        </p:nvSpPr>
        <p:spPr>
          <a:xfrm>
            <a:off x="777240" y="4434840"/>
            <a:ext cx="6583680" cy="914"/>
          </a:xfrm>
          <a:prstGeom prst="line">
            <a:avLst/>
          </a:prstGeom>
          <a:ln w="889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11"/>
          <p:cNvSpPr txBox="1"/>
          <p:nvPr/>
        </p:nvSpPr>
        <p:spPr>
          <a:xfrm>
            <a:off x="393192" y="4325112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800" b="0">
                <a:solidFill>
                  <a:srgbClr val="5C6B7A"/>
                </a:solidFill>
                <a:latin typeface="Aptos"/>
              </a:rPr>
              <a:t>25</a:t>
            </a:r>
            <a:endParaRPr lang="it-IT" sz="800"/>
          </a:p>
        </p:txBody>
      </p:sp>
      <p:sp>
        <p:nvSpPr>
          <p:cNvPr id="12" name="Connector 12"/>
          <p:cNvSpPr/>
          <p:nvPr/>
        </p:nvSpPr>
        <p:spPr>
          <a:xfrm>
            <a:off x="777240" y="3566160"/>
            <a:ext cx="6583680" cy="914"/>
          </a:xfrm>
          <a:prstGeom prst="line">
            <a:avLst/>
          </a:prstGeom>
          <a:ln w="889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3"/>
          <p:cNvSpPr txBox="1"/>
          <p:nvPr/>
        </p:nvSpPr>
        <p:spPr>
          <a:xfrm>
            <a:off x="393192" y="3456432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800" b="0">
                <a:solidFill>
                  <a:srgbClr val="5C6B7A"/>
                </a:solidFill>
                <a:latin typeface="Aptos"/>
              </a:rPr>
              <a:t>50</a:t>
            </a:r>
            <a:endParaRPr lang="it-IT" sz="800"/>
          </a:p>
        </p:txBody>
      </p:sp>
      <p:sp>
        <p:nvSpPr>
          <p:cNvPr id="14" name="Connector 14"/>
          <p:cNvSpPr/>
          <p:nvPr/>
        </p:nvSpPr>
        <p:spPr>
          <a:xfrm>
            <a:off x="777240" y="2697479"/>
            <a:ext cx="6583680" cy="914"/>
          </a:xfrm>
          <a:prstGeom prst="line">
            <a:avLst/>
          </a:prstGeom>
          <a:ln w="889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5"/>
          <p:cNvSpPr txBox="1"/>
          <p:nvPr/>
        </p:nvSpPr>
        <p:spPr>
          <a:xfrm>
            <a:off x="393192" y="2587751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800" b="0">
                <a:solidFill>
                  <a:srgbClr val="5C6B7A"/>
                </a:solidFill>
                <a:latin typeface="Aptos"/>
              </a:rPr>
              <a:t>75</a:t>
            </a:r>
            <a:endParaRPr lang="it-IT" sz="800"/>
          </a:p>
        </p:txBody>
      </p:sp>
      <p:sp>
        <p:nvSpPr>
          <p:cNvPr id="16" name="Connector 16"/>
          <p:cNvSpPr/>
          <p:nvPr/>
        </p:nvSpPr>
        <p:spPr>
          <a:xfrm>
            <a:off x="777240" y="1828800"/>
            <a:ext cx="6583680" cy="914"/>
          </a:xfrm>
          <a:prstGeom prst="line">
            <a:avLst/>
          </a:prstGeom>
          <a:ln w="889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7"/>
          <p:cNvSpPr txBox="1"/>
          <p:nvPr/>
        </p:nvSpPr>
        <p:spPr>
          <a:xfrm>
            <a:off x="393192" y="1719072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800" b="0">
                <a:solidFill>
                  <a:srgbClr val="5C6B7A"/>
                </a:solidFill>
                <a:latin typeface="Aptos"/>
              </a:rPr>
              <a:t>100</a:t>
            </a:r>
            <a:endParaRPr lang="it-IT" sz="800"/>
          </a:p>
        </p:txBody>
      </p:sp>
      <p:sp>
        <p:nvSpPr>
          <p:cNvPr id="18" name="Text 18"/>
          <p:cNvSpPr txBox="1"/>
          <p:nvPr/>
        </p:nvSpPr>
        <p:spPr>
          <a:xfrm>
            <a:off x="502920" y="537667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800" b="0">
                <a:solidFill>
                  <a:srgbClr val="5C6B7A"/>
                </a:solidFill>
                <a:latin typeface="Aptos"/>
              </a:rPr>
              <a:t>A</a:t>
            </a:r>
            <a:endParaRPr lang="it-IT" sz="800"/>
          </a:p>
        </p:txBody>
      </p:sp>
      <p:sp>
        <p:nvSpPr>
          <p:cNvPr id="19" name="Text 19"/>
          <p:cNvSpPr txBox="1"/>
          <p:nvPr/>
        </p:nvSpPr>
        <p:spPr>
          <a:xfrm>
            <a:off x="2697480" y="537667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800" b="0">
                <a:solidFill>
                  <a:srgbClr val="5C6B7A"/>
                </a:solidFill>
                <a:latin typeface="Aptos"/>
              </a:rPr>
              <a:t>A1</a:t>
            </a:r>
            <a:endParaRPr lang="it-IT" sz="800"/>
          </a:p>
        </p:txBody>
      </p:sp>
      <p:sp>
        <p:nvSpPr>
          <p:cNvPr id="20" name="Text 20"/>
          <p:cNvSpPr txBox="1"/>
          <p:nvPr/>
        </p:nvSpPr>
        <p:spPr>
          <a:xfrm>
            <a:off x="4892040" y="537667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800" b="0">
                <a:solidFill>
                  <a:srgbClr val="5C6B7A"/>
                </a:solidFill>
                <a:latin typeface="Aptos"/>
              </a:rPr>
              <a:t>A2</a:t>
            </a:r>
            <a:endParaRPr lang="it-IT" sz="800"/>
          </a:p>
        </p:txBody>
      </p:sp>
      <p:sp>
        <p:nvSpPr>
          <p:cNvPr id="21" name="Text 21"/>
          <p:cNvSpPr txBox="1"/>
          <p:nvPr/>
        </p:nvSpPr>
        <p:spPr>
          <a:xfrm>
            <a:off x="7086600" y="537667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800" b="0">
                <a:solidFill>
                  <a:srgbClr val="5C6B7A"/>
                </a:solidFill>
                <a:latin typeface="Aptos"/>
              </a:rPr>
              <a:t>A3</a:t>
            </a:r>
            <a:endParaRPr lang="it-IT" sz="800"/>
          </a:p>
        </p:txBody>
      </p:sp>
      <p:sp>
        <p:nvSpPr>
          <p:cNvPr id="22" name="Connector 22"/>
          <p:cNvSpPr/>
          <p:nvPr/>
        </p:nvSpPr>
        <p:spPr>
          <a:xfrm flipV="1">
            <a:off x="777240" y="3572761"/>
            <a:ext cx="2194560" cy="354073"/>
          </a:xfrm>
          <a:prstGeom prst="line">
            <a:avLst/>
          </a:prstGeom>
          <a:ln w="3175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3" name="Connector 23"/>
          <p:cNvSpPr/>
          <p:nvPr/>
        </p:nvSpPr>
        <p:spPr>
          <a:xfrm>
            <a:off x="2971800" y="3572761"/>
            <a:ext cx="2194559" cy="19110"/>
          </a:xfrm>
          <a:prstGeom prst="line">
            <a:avLst/>
          </a:prstGeom>
          <a:ln w="3175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4" name="Connector 24"/>
          <p:cNvSpPr/>
          <p:nvPr/>
        </p:nvSpPr>
        <p:spPr>
          <a:xfrm flipV="1">
            <a:off x="5166359" y="2955999"/>
            <a:ext cx="2194560" cy="635873"/>
          </a:xfrm>
          <a:prstGeom prst="line">
            <a:avLst/>
          </a:prstGeom>
          <a:ln w="3175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5" name="Box"/>
          <p:cNvSpPr/>
          <p:nvPr/>
        </p:nvSpPr>
        <p:spPr>
          <a:xfrm>
            <a:off x="722376" y="3871971"/>
            <a:ext cx="109728" cy="1097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Box"/>
          <p:cNvSpPr/>
          <p:nvPr/>
        </p:nvSpPr>
        <p:spPr>
          <a:xfrm>
            <a:off x="2916936" y="3517897"/>
            <a:ext cx="109728" cy="1097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7" name="Box"/>
          <p:cNvSpPr/>
          <p:nvPr/>
        </p:nvSpPr>
        <p:spPr>
          <a:xfrm>
            <a:off x="5111496" y="3537008"/>
            <a:ext cx="109728" cy="1097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8" name="Box"/>
          <p:cNvSpPr/>
          <p:nvPr/>
        </p:nvSpPr>
        <p:spPr>
          <a:xfrm>
            <a:off x="7306056" y="2901135"/>
            <a:ext cx="109728" cy="1097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9" name="Connector 29"/>
          <p:cNvSpPr/>
          <p:nvPr/>
        </p:nvSpPr>
        <p:spPr>
          <a:xfrm flipV="1">
            <a:off x="777240" y="2853842"/>
            <a:ext cx="2194560" cy="510436"/>
          </a:xfrm>
          <a:prstGeom prst="line">
            <a:avLst/>
          </a:prstGeom>
          <a:ln w="31750">
            <a:solidFill>
              <a:srgbClr val="377DFF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0" name="Connector 30"/>
          <p:cNvSpPr/>
          <p:nvPr/>
        </p:nvSpPr>
        <p:spPr>
          <a:xfrm flipV="1">
            <a:off x="2971800" y="2819095"/>
            <a:ext cx="2194559" cy="34747"/>
          </a:xfrm>
          <a:prstGeom prst="line">
            <a:avLst/>
          </a:prstGeom>
          <a:ln w="31750">
            <a:solidFill>
              <a:srgbClr val="377DFF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1" name="Connector 31"/>
          <p:cNvSpPr/>
          <p:nvPr/>
        </p:nvSpPr>
        <p:spPr>
          <a:xfrm flipV="1">
            <a:off x="5166359" y="2327074"/>
            <a:ext cx="2194560" cy="492020"/>
          </a:xfrm>
          <a:prstGeom prst="line">
            <a:avLst/>
          </a:prstGeom>
          <a:ln w="31750">
            <a:solidFill>
              <a:srgbClr val="377DFF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2" name="Box"/>
          <p:cNvSpPr/>
          <p:nvPr/>
        </p:nvSpPr>
        <p:spPr>
          <a:xfrm>
            <a:off x="722376" y="3309414"/>
            <a:ext cx="109728" cy="109728"/>
          </a:xfrm>
          <a:prstGeom prst="roundRect">
            <a:avLst/>
          </a:prstGeom>
          <a:solidFill>
            <a:srgbClr val="377D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3" name="Box"/>
          <p:cNvSpPr/>
          <p:nvPr/>
        </p:nvSpPr>
        <p:spPr>
          <a:xfrm>
            <a:off x="2916936" y="2798978"/>
            <a:ext cx="109728" cy="109728"/>
          </a:xfrm>
          <a:prstGeom prst="roundRect">
            <a:avLst/>
          </a:prstGeom>
          <a:solidFill>
            <a:srgbClr val="377D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4" name="Box"/>
          <p:cNvSpPr/>
          <p:nvPr/>
        </p:nvSpPr>
        <p:spPr>
          <a:xfrm>
            <a:off x="5111496" y="2764231"/>
            <a:ext cx="109728" cy="109728"/>
          </a:xfrm>
          <a:prstGeom prst="roundRect">
            <a:avLst/>
          </a:prstGeom>
          <a:solidFill>
            <a:srgbClr val="377D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5" name="Box"/>
          <p:cNvSpPr/>
          <p:nvPr/>
        </p:nvSpPr>
        <p:spPr>
          <a:xfrm>
            <a:off x="7306056" y="2272210"/>
            <a:ext cx="109728" cy="109728"/>
          </a:xfrm>
          <a:prstGeom prst="roundRect">
            <a:avLst/>
          </a:prstGeom>
          <a:solidFill>
            <a:srgbClr val="377D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6" name="Connector 36"/>
          <p:cNvSpPr/>
          <p:nvPr/>
        </p:nvSpPr>
        <p:spPr>
          <a:xfrm flipV="1">
            <a:off x="777240" y="2539032"/>
            <a:ext cx="2194560" cy="584100"/>
          </a:xfrm>
          <a:prstGeom prst="line">
            <a:avLst/>
          </a:prstGeom>
          <a:ln w="31750">
            <a:solidFill>
              <a:srgbClr val="7868E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7" name="Connector 37"/>
          <p:cNvSpPr/>
          <p:nvPr/>
        </p:nvSpPr>
        <p:spPr>
          <a:xfrm flipV="1">
            <a:off x="2971800" y="2483089"/>
            <a:ext cx="2194559" cy="55942"/>
          </a:xfrm>
          <a:prstGeom prst="line">
            <a:avLst/>
          </a:prstGeom>
          <a:ln w="31750">
            <a:solidFill>
              <a:srgbClr val="7868E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8" name="Connector 38"/>
          <p:cNvSpPr/>
          <p:nvPr/>
        </p:nvSpPr>
        <p:spPr>
          <a:xfrm flipV="1">
            <a:off x="5166359" y="2111642"/>
            <a:ext cx="2194560" cy="371447"/>
          </a:xfrm>
          <a:prstGeom prst="line">
            <a:avLst/>
          </a:prstGeom>
          <a:ln w="31750">
            <a:solidFill>
              <a:srgbClr val="7868E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9" name="Box"/>
          <p:cNvSpPr/>
          <p:nvPr/>
        </p:nvSpPr>
        <p:spPr>
          <a:xfrm>
            <a:off x="722376" y="3068269"/>
            <a:ext cx="109728" cy="109728"/>
          </a:xfrm>
          <a:prstGeom prst="roundRect">
            <a:avLst/>
          </a:prstGeom>
          <a:solidFill>
            <a:srgbClr val="7868E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0" name="Box"/>
          <p:cNvSpPr/>
          <p:nvPr/>
        </p:nvSpPr>
        <p:spPr>
          <a:xfrm>
            <a:off x="2916936" y="2484168"/>
            <a:ext cx="109728" cy="109728"/>
          </a:xfrm>
          <a:prstGeom prst="roundRect">
            <a:avLst/>
          </a:prstGeom>
          <a:solidFill>
            <a:srgbClr val="7868E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1" name="Box"/>
          <p:cNvSpPr/>
          <p:nvPr/>
        </p:nvSpPr>
        <p:spPr>
          <a:xfrm>
            <a:off x="5111496" y="2428225"/>
            <a:ext cx="109728" cy="109728"/>
          </a:xfrm>
          <a:prstGeom prst="roundRect">
            <a:avLst/>
          </a:prstGeom>
          <a:solidFill>
            <a:srgbClr val="7868E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2" name="Box"/>
          <p:cNvSpPr/>
          <p:nvPr/>
        </p:nvSpPr>
        <p:spPr>
          <a:xfrm>
            <a:off x="7306056" y="2056778"/>
            <a:ext cx="109728" cy="109728"/>
          </a:xfrm>
          <a:prstGeom prst="roundRect">
            <a:avLst/>
          </a:prstGeom>
          <a:solidFill>
            <a:srgbClr val="7868E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3" name="Box"/>
          <p:cNvSpPr/>
          <p:nvPr/>
        </p:nvSpPr>
        <p:spPr>
          <a:xfrm>
            <a:off x="777240" y="1536192"/>
            <a:ext cx="182880" cy="73152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4"/>
          <p:cNvSpPr txBox="1"/>
          <p:nvPr/>
        </p:nvSpPr>
        <p:spPr>
          <a:xfrm>
            <a:off x="1033271" y="1481328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72033"/>
                </a:solidFill>
                <a:latin typeface="Aptos"/>
              </a:rPr>
              <a:t>Top‑1</a:t>
            </a:r>
            <a:endParaRPr lang="it-IT" sz="900"/>
          </a:p>
        </p:txBody>
      </p:sp>
      <p:sp>
        <p:nvSpPr>
          <p:cNvPr id="45" name="Box"/>
          <p:cNvSpPr/>
          <p:nvPr/>
        </p:nvSpPr>
        <p:spPr>
          <a:xfrm>
            <a:off x="2286000" y="1536192"/>
            <a:ext cx="182880" cy="73152"/>
          </a:xfrm>
          <a:prstGeom prst="roundRect">
            <a:avLst/>
          </a:prstGeom>
          <a:solidFill>
            <a:srgbClr val="377D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6"/>
          <p:cNvSpPr txBox="1"/>
          <p:nvPr/>
        </p:nvSpPr>
        <p:spPr>
          <a:xfrm>
            <a:off x="2542032" y="1481328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72033"/>
                </a:solidFill>
                <a:latin typeface="Aptos"/>
              </a:rPr>
              <a:t>Top‑3</a:t>
            </a:r>
            <a:endParaRPr lang="it-IT" sz="900"/>
          </a:p>
        </p:txBody>
      </p:sp>
      <p:sp>
        <p:nvSpPr>
          <p:cNvPr id="47" name="Box"/>
          <p:cNvSpPr/>
          <p:nvPr/>
        </p:nvSpPr>
        <p:spPr>
          <a:xfrm>
            <a:off x="3794760" y="1536192"/>
            <a:ext cx="182880" cy="73152"/>
          </a:xfrm>
          <a:prstGeom prst="roundRect">
            <a:avLst/>
          </a:prstGeom>
          <a:solidFill>
            <a:srgbClr val="7868E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8"/>
          <p:cNvSpPr txBox="1"/>
          <p:nvPr/>
        </p:nvSpPr>
        <p:spPr>
          <a:xfrm>
            <a:off x="4050792" y="1481328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72033"/>
                </a:solidFill>
                <a:latin typeface="Aptos"/>
              </a:rPr>
              <a:t>Top‑5</a:t>
            </a:r>
            <a:endParaRPr lang="it-IT" sz="900"/>
          </a:p>
        </p:txBody>
      </p:sp>
      <p:sp>
        <p:nvSpPr>
          <p:cNvPr id="49" name="Box"/>
          <p:cNvSpPr/>
          <p:nvPr/>
        </p:nvSpPr>
        <p:spPr>
          <a:xfrm>
            <a:off x="7818120" y="1783080"/>
            <a:ext cx="3520440" cy="1234440"/>
          </a:xfrm>
          <a:prstGeom prst="roundRect">
            <a:avLst/>
          </a:prstGeom>
          <a:solidFill>
            <a:srgbClr val="FDECEF"/>
          </a:solidFill>
          <a:ln w="1270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50"/>
          <p:cNvSpPr txBox="1"/>
          <p:nvPr/>
        </p:nvSpPr>
        <p:spPr>
          <a:xfrm>
            <a:off x="8092440" y="199339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2400" b="1">
                <a:solidFill>
                  <a:srgbClr val="E85D75"/>
                </a:solidFill>
                <a:latin typeface="Aptos"/>
              </a:rPr>
              <a:t>30,232%</a:t>
            </a:r>
            <a:endParaRPr lang="it-IT" sz="2400"/>
          </a:p>
        </p:txBody>
      </p:sp>
      <p:sp>
        <p:nvSpPr>
          <p:cNvPr id="51" name="Text 51"/>
          <p:cNvSpPr txBox="1"/>
          <p:nvPr/>
        </p:nvSpPr>
        <p:spPr>
          <a:xfrm>
            <a:off x="8092440" y="252374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100" b="1">
                <a:solidFill>
                  <a:srgbClr val="5C6B7A"/>
                </a:solidFill>
                <a:latin typeface="Aptos"/>
              </a:rPr>
              <a:t>Prime scelte illegali di A</a:t>
            </a:r>
            <a:endParaRPr lang="it-IT" sz="1100"/>
          </a:p>
        </p:txBody>
      </p:sp>
      <p:sp>
        <p:nvSpPr>
          <p:cNvPr id="52" name="Box"/>
          <p:cNvSpPr/>
          <p:nvPr/>
        </p:nvSpPr>
        <p:spPr>
          <a:xfrm>
            <a:off x="7818120" y="3273552"/>
            <a:ext cx="3520440" cy="1234440"/>
          </a:xfrm>
          <a:prstGeom prst="roundRect">
            <a:avLst/>
          </a:prstGeom>
          <a:solidFill>
            <a:srgbClr val="E7F7F5"/>
          </a:solidFill>
          <a:ln w="1270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3"/>
          <p:cNvSpPr txBox="1"/>
          <p:nvPr/>
        </p:nvSpPr>
        <p:spPr>
          <a:xfrm>
            <a:off x="8092440" y="3493008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2400" b="1">
                <a:solidFill>
                  <a:srgbClr val="18A6A6"/>
                </a:solidFill>
                <a:latin typeface="Aptos"/>
              </a:rPr>
              <a:t>0%</a:t>
            </a:r>
            <a:endParaRPr lang="it-IT" sz="2400"/>
          </a:p>
        </p:txBody>
      </p:sp>
      <p:sp>
        <p:nvSpPr>
          <p:cNvPr id="54" name="Text 54"/>
          <p:cNvSpPr txBox="1"/>
          <p:nvPr/>
        </p:nvSpPr>
        <p:spPr>
          <a:xfrm>
            <a:off x="8092440" y="402336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100" b="1">
                <a:solidFill>
                  <a:srgbClr val="5C6B7A"/>
                </a:solidFill>
                <a:latin typeface="Aptos"/>
              </a:rPr>
              <a:t>Prime scelte illegali di A2 e A3</a:t>
            </a:r>
            <a:endParaRPr lang="it-IT" sz="1100"/>
          </a:p>
        </p:txBody>
      </p:sp>
      <p:sp>
        <p:nvSpPr>
          <p:cNvPr id="55" name="Text 55"/>
          <p:cNvSpPr txBox="1"/>
          <p:nvPr/>
        </p:nvSpPr>
        <p:spPr>
          <a:xfrm>
            <a:off x="7818120" y="4892040"/>
            <a:ext cx="3520440" cy="62179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300" b="1">
                <a:solidFill>
                  <a:srgbClr val="172033"/>
                </a:solidFill>
                <a:latin typeface="Aptos"/>
              </a:rPr>
              <a:t>A3 non filtra soltanto: confronta direttamente le mosse consentite.</a:t>
            </a:r>
            <a:endParaRPr lang="it-IT" sz="1300"/>
          </a:p>
        </p:txBody>
      </p:sp>
      <p:sp>
        <p:nvSpPr>
          <p:cNvPr id="56" name="Text 56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46/68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IL TEMPO È UTILE?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I tempi simulati non hanno migliorato A3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A3 ottiene il 67,6% senza timing; B, con i tempi sintetici, il 66,0%.</a:t>
            </a:r>
            <a:endParaRPr lang="it-IT" sz="1300"/>
          </a:p>
        </p:txBody>
      </p:sp>
      <p:sp>
        <p:nvSpPr>
          <p:cNvPr id="6" name="Text 6"/>
          <p:cNvSpPr txBox="1"/>
          <p:nvPr/>
        </p:nvSpPr>
        <p:spPr>
          <a:xfrm>
            <a:off x="685800" y="1600200"/>
            <a:ext cx="1417320" cy="75895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A3: senza tempo</a:t>
            </a:r>
            <a:endParaRPr lang="it-IT" sz="1050"/>
          </a:p>
        </p:txBody>
      </p:sp>
      <p:sp>
        <p:nvSpPr>
          <p:cNvPr id="7" name="Box"/>
          <p:cNvSpPr/>
          <p:nvPr/>
        </p:nvSpPr>
        <p:spPr>
          <a:xfrm>
            <a:off x="2240280" y="1673352"/>
            <a:ext cx="4526280" cy="612647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Box"/>
          <p:cNvSpPr/>
          <p:nvPr/>
        </p:nvSpPr>
        <p:spPr>
          <a:xfrm>
            <a:off x="2240280" y="1673352"/>
            <a:ext cx="4077333" cy="612647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9"/>
          <p:cNvSpPr txBox="1"/>
          <p:nvPr/>
        </p:nvSpPr>
        <p:spPr>
          <a:xfrm>
            <a:off x="6812280" y="1600200"/>
            <a:ext cx="822960" cy="758952"/>
          </a:xfrm>
          <a:prstGeom prst="rect">
            <a:avLst/>
          </a:prstGeom>
          <a:noFill/>
          <a:ln>
            <a:noFill/>
          </a:ln>
        </p:spPr>
        <p:txBody>
          <a:bodyPr wrap="none" lIns="0" tIns="64008" rIns="0" bIns="64008" anchor="ctr"/>
          <a:lstStyle/>
          <a:p>
            <a:pPr algn="r"/>
            <a:r>
              <a:rPr lang="it-IT" sz="1000" b="1">
                <a:solidFill>
                  <a:srgbClr val="172033"/>
                </a:solidFill>
                <a:latin typeface="Aptos"/>
              </a:rPr>
              <a:t>67.6%</a:t>
            </a:r>
            <a:endParaRPr lang="it-IT" sz="1000"/>
          </a:p>
        </p:txBody>
      </p:sp>
      <p:sp>
        <p:nvSpPr>
          <p:cNvPr id="10" name="Text 10"/>
          <p:cNvSpPr txBox="1"/>
          <p:nvPr/>
        </p:nvSpPr>
        <p:spPr>
          <a:xfrm>
            <a:off x="685800" y="2505456"/>
            <a:ext cx="1417320" cy="75895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B: tempo simulato</a:t>
            </a:r>
            <a:endParaRPr lang="it-IT" sz="1050"/>
          </a:p>
        </p:txBody>
      </p:sp>
      <p:sp>
        <p:nvSpPr>
          <p:cNvPr id="11" name="Box"/>
          <p:cNvSpPr/>
          <p:nvPr/>
        </p:nvSpPr>
        <p:spPr>
          <a:xfrm>
            <a:off x="2240280" y="2578608"/>
            <a:ext cx="4526280" cy="612647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Box"/>
          <p:cNvSpPr/>
          <p:nvPr/>
        </p:nvSpPr>
        <p:spPr>
          <a:xfrm>
            <a:off x="2240280" y="2578608"/>
            <a:ext cx="3982003" cy="612647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3"/>
          <p:cNvSpPr txBox="1"/>
          <p:nvPr/>
        </p:nvSpPr>
        <p:spPr>
          <a:xfrm>
            <a:off x="6812280" y="2505456"/>
            <a:ext cx="822960" cy="758952"/>
          </a:xfrm>
          <a:prstGeom prst="rect">
            <a:avLst/>
          </a:prstGeom>
          <a:noFill/>
          <a:ln>
            <a:noFill/>
          </a:ln>
        </p:spPr>
        <p:txBody>
          <a:bodyPr wrap="none" lIns="0" tIns="64008" rIns="0" bIns="64008" anchor="ctr"/>
          <a:lstStyle/>
          <a:p>
            <a:pPr algn="r"/>
            <a:r>
              <a:rPr lang="it-IT" sz="1000" b="1">
                <a:solidFill>
                  <a:srgbClr val="172033"/>
                </a:solidFill>
                <a:latin typeface="Aptos"/>
              </a:rPr>
              <a:t>66.0%</a:t>
            </a:r>
            <a:endParaRPr lang="it-IT" sz="1000"/>
          </a:p>
        </p:txBody>
      </p:sp>
      <p:sp>
        <p:nvSpPr>
          <p:cNvPr id="14" name="Text 14"/>
          <p:cNvSpPr txBox="1"/>
          <p:nvPr/>
        </p:nvSpPr>
        <p:spPr>
          <a:xfrm>
            <a:off x="685800" y="3410712"/>
            <a:ext cx="1417320" cy="75895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B: tempo neutro</a:t>
            </a:r>
            <a:endParaRPr lang="it-IT" sz="1050"/>
          </a:p>
        </p:txBody>
      </p:sp>
      <p:sp>
        <p:nvSpPr>
          <p:cNvPr id="15" name="Box"/>
          <p:cNvSpPr/>
          <p:nvPr/>
        </p:nvSpPr>
        <p:spPr>
          <a:xfrm>
            <a:off x="2240280" y="3483864"/>
            <a:ext cx="4526280" cy="612647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Box"/>
          <p:cNvSpPr/>
          <p:nvPr/>
        </p:nvSpPr>
        <p:spPr>
          <a:xfrm>
            <a:off x="2240280" y="3483864"/>
            <a:ext cx="3989016" cy="612647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7"/>
          <p:cNvSpPr txBox="1"/>
          <p:nvPr/>
        </p:nvSpPr>
        <p:spPr>
          <a:xfrm>
            <a:off x="6812280" y="3410712"/>
            <a:ext cx="822960" cy="758952"/>
          </a:xfrm>
          <a:prstGeom prst="rect">
            <a:avLst/>
          </a:prstGeom>
          <a:noFill/>
          <a:ln>
            <a:noFill/>
          </a:ln>
        </p:spPr>
        <p:txBody>
          <a:bodyPr wrap="none" lIns="0" tIns="64008" rIns="0" bIns="64008" anchor="ctr"/>
          <a:lstStyle/>
          <a:p>
            <a:pPr algn="r"/>
            <a:r>
              <a:rPr lang="it-IT" sz="1000" b="1">
                <a:solidFill>
                  <a:srgbClr val="172033"/>
                </a:solidFill>
                <a:latin typeface="Aptos"/>
              </a:rPr>
              <a:t>66.1%</a:t>
            </a:r>
            <a:endParaRPr lang="it-IT" sz="1000"/>
          </a:p>
        </p:txBody>
      </p:sp>
      <p:sp>
        <p:nvSpPr>
          <p:cNvPr id="18" name="Text 18"/>
          <p:cNvSpPr txBox="1"/>
          <p:nvPr/>
        </p:nvSpPr>
        <p:spPr>
          <a:xfrm>
            <a:off x="685800" y="4315968"/>
            <a:ext cx="1417320" cy="75895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B: tempo azzerato</a:t>
            </a:r>
            <a:endParaRPr lang="it-IT" sz="1050"/>
          </a:p>
        </p:txBody>
      </p:sp>
      <p:sp>
        <p:nvSpPr>
          <p:cNvPr id="19" name="Box"/>
          <p:cNvSpPr/>
          <p:nvPr/>
        </p:nvSpPr>
        <p:spPr>
          <a:xfrm>
            <a:off x="2240280" y="4389120"/>
            <a:ext cx="4526280" cy="612647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Box"/>
          <p:cNvSpPr/>
          <p:nvPr/>
        </p:nvSpPr>
        <p:spPr>
          <a:xfrm>
            <a:off x="2240280" y="4389120"/>
            <a:ext cx="3989016" cy="612647"/>
          </a:xfrm>
          <a:prstGeom prst="roundRect">
            <a:avLst/>
          </a:prstGeom>
          <a:solidFill>
            <a:srgbClr val="8EA0B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21"/>
          <p:cNvSpPr txBox="1"/>
          <p:nvPr/>
        </p:nvSpPr>
        <p:spPr>
          <a:xfrm>
            <a:off x="6812280" y="4315968"/>
            <a:ext cx="822960" cy="758952"/>
          </a:xfrm>
          <a:prstGeom prst="rect">
            <a:avLst/>
          </a:prstGeom>
          <a:noFill/>
          <a:ln>
            <a:noFill/>
          </a:ln>
        </p:spPr>
        <p:txBody>
          <a:bodyPr wrap="none" lIns="0" tIns="64008" rIns="0" bIns="64008" anchor="ctr"/>
          <a:lstStyle/>
          <a:p>
            <a:pPr algn="r"/>
            <a:r>
              <a:rPr lang="it-IT" sz="1000" b="1">
                <a:solidFill>
                  <a:srgbClr val="172033"/>
                </a:solidFill>
                <a:latin typeface="Aptos"/>
              </a:rPr>
              <a:t>66.1%</a:t>
            </a:r>
            <a:endParaRPr lang="it-IT" sz="1000"/>
          </a:p>
        </p:txBody>
      </p:sp>
      <p:sp>
        <p:nvSpPr>
          <p:cNvPr id="22" name="Box"/>
          <p:cNvSpPr/>
          <p:nvPr/>
        </p:nvSpPr>
        <p:spPr>
          <a:xfrm>
            <a:off x="7818120" y="1664208"/>
            <a:ext cx="3520440" cy="1417320"/>
          </a:xfrm>
          <a:prstGeom prst="roundRect">
            <a:avLst/>
          </a:prstGeom>
          <a:solidFill>
            <a:srgbClr val="FDECEF"/>
          </a:solidFill>
          <a:ln w="1270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3"/>
          <p:cNvSpPr txBox="1"/>
          <p:nvPr/>
        </p:nvSpPr>
        <p:spPr>
          <a:xfrm>
            <a:off x="8092440" y="1965960"/>
            <a:ext cx="2971800" cy="40233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2500" b="1">
                <a:solidFill>
                  <a:srgbClr val="E85D75"/>
                </a:solidFill>
                <a:latin typeface="Aptos"/>
              </a:rPr>
              <a:t>−1,580 pp</a:t>
            </a:r>
            <a:endParaRPr lang="it-IT" sz="2500"/>
          </a:p>
        </p:txBody>
      </p:sp>
      <p:sp>
        <p:nvSpPr>
          <p:cNvPr id="24" name="Text 24"/>
          <p:cNvSpPr txBox="1"/>
          <p:nvPr/>
        </p:nvSpPr>
        <p:spPr>
          <a:xfrm>
            <a:off x="8092440" y="2542032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100" b="1">
                <a:solidFill>
                  <a:srgbClr val="5C6B7A"/>
                </a:solidFill>
                <a:latin typeface="Aptos"/>
              </a:rPr>
              <a:t>Differenza B − A3</a:t>
            </a:r>
            <a:endParaRPr lang="it-IT" sz="1100"/>
          </a:p>
        </p:txBody>
      </p:sp>
      <p:sp>
        <p:nvSpPr>
          <p:cNvPr id="25" name="Box"/>
          <p:cNvSpPr/>
          <p:nvPr/>
        </p:nvSpPr>
        <p:spPr>
          <a:xfrm>
            <a:off x="7818120" y="3401568"/>
            <a:ext cx="3520440" cy="1600200"/>
          </a:xfrm>
          <a:prstGeom prst="roundRect">
            <a:avLst/>
          </a:prstGeom>
          <a:solidFill>
            <a:srgbClr val="142033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6"/>
          <p:cNvSpPr txBox="1"/>
          <p:nvPr/>
        </p:nvSpPr>
        <p:spPr>
          <a:xfrm>
            <a:off x="8092440" y="365760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400" b="1">
                <a:solidFill>
                  <a:srgbClr val="8EA0B2"/>
                </a:solidFill>
                <a:latin typeface="Aptos"/>
              </a:rPr>
              <a:t>Confronto statistico</a:t>
            </a:r>
            <a:endParaRPr lang="it-IT" sz="1400"/>
          </a:p>
        </p:txBody>
      </p:sp>
      <p:sp>
        <p:nvSpPr>
          <p:cNvPr id="27" name="Text 27"/>
          <p:cNvSpPr txBox="1"/>
          <p:nvPr/>
        </p:nvSpPr>
        <p:spPr>
          <a:xfrm>
            <a:off x="8092440" y="4133087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500" b="1">
                <a:solidFill>
                  <a:srgbClr val="FFFFFF"/>
                </a:solidFill>
                <a:latin typeface="Aptos"/>
              </a:rPr>
              <a:t>La differenza è misurabile:</a:t>
            </a:r>
            <a:endParaRPr lang="it-IT" sz="1500"/>
          </a:p>
          <a:p>
            <a:pPr algn="ctr"/>
            <a:r>
              <a:rPr lang="it-IT" sz="1500" b="1">
                <a:solidFill>
                  <a:srgbClr val="FFFFFF"/>
                </a:solidFill>
                <a:latin typeface="Aptos"/>
              </a:rPr>
              <a:t>p = 1,2238 × 10⁻⁶</a:t>
            </a:r>
            <a:endParaRPr lang="it-IT" sz="1500"/>
          </a:p>
        </p:txBody>
      </p:sp>
      <p:sp>
        <p:nvSpPr>
          <p:cNvPr id="28" name="Text 28"/>
          <p:cNvSpPr txBox="1"/>
          <p:nvPr/>
        </p:nvSpPr>
        <p:spPr>
          <a:xfrm>
            <a:off x="914400" y="544068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300" b="1">
                <a:solidFill>
                  <a:srgbClr val="F2A93B"/>
                </a:solidFill>
                <a:latin typeface="Aptos"/>
              </a:rPr>
              <a:t>Questo non dimostra che i tempi reali siano inutili: abbiamo provato soltanto quelli simulati.</a:t>
            </a:r>
            <a:endParaRPr lang="it-IT" sz="1300"/>
          </a:p>
        </p:txBody>
      </p:sp>
      <p:sp>
        <p:nvSpPr>
          <p:cNvPr id="29" name="Text 29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47/68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PERCHÉ A4 MIGLIORA?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Guardare la posizione dopo la mossa fa la differenza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Rispetto ad A3, A4 corregge 1.652 risposte sbagliate e ne peggiora soltanto 115.</a:t>
            </a:r>
            <a:endParaRPr lang="it-IT" sz="1300"/>
          </a:p>
        </p:txBody>
      </p:sp>
      <p:sp>
        <p:nvSpPr>
          <p:cNvPr id="6" name="Box"/>
          <p:cNvSpPr/>
          <p:nvPr/>
        </p:nvSpPr>
        <p:spPr>
          <a:xfrm>
            <a:off x="685800" y="1572768"/>
            <a:ext cx="3703320" cy="4023360"/>
          </a:xfrm>
          <a:prstGeom prst="roundRect">
            <a:avLst/>
          </a:prstGeom>
          <a:solidFill>
            <a:srgbClr val="142033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7"/>
          <p:cNvSpPr txBox="1"/>
          <p:nvPr/>
        </p:nvSpPr>
        <p:spPr>
          <a:xfrm>
            <a:off x="960120" y="184708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600" b="1">
                <a:solidFill>
                  <a:srgbClr val="8EA0B2"/>
                </a:solidFill>
                <a:latin typeface="Aptos"/>
              </a:rPr>
              <a:t>Top‑1</a:t>
            </a:r>
            <a:endParaRPr lang="it-IT" sz="1600"/>
          </a:p>
        </p:txBody>
      </p:sp>
      <p:sp>
        <p:nvSpPr>
          <p:cNvPr id="8" name="Text 8"/>
          <p:cNvSpPr txBox="1"/>
          <p:nvPr/>
        </p:nvSpPr>
        <p:spPr>
          <a:xfrm>
            <a:off x="960120" y="2542032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3000" b="1">
                <a:solidFill>
                  <a:srgbClr val="35BDE7"/>
                </a:solidFill>
                <a:latin typeface="Aptos"/>
              </a:rPr>
              <a:t>67,561%</a:t>
            </a:r>
            <a:endParaRPr lang="it-IT" sz="3000"/>
          </a:p>
        </p:txBody>
      </p:sp>
      <p:sp>
        <p:nvSpPr>
          <p:cNvPr id="9" name="Text 9"/>
          <p:cNvSpPr txBox="1"/>
          <p:nvPr/>
        </p:nvSpPr>
        <p:spPr>
          <a:xfrm>
            <a:off x="960120" y="315468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300" b="1">
                <a:solidFill>
                  <a:srgbClr val="8EA0B2"/>
                </a:solidFill>
                <a:latin typeface="Aptos"/>
              </a:rPr>
              <a:t>A3</a:t>
            </a:r>
            <a:endParaRPr lang="it-IT" sz="1300"/>
          </a:p>
        </p:txBody>
      </p:sp>
      <p:sp>
        <p:nvSpPr>
          <p:cNvPr id="10" name="Connector 10"/>
          <p:cNvSpPr/>
          <p:nvPr/>
        </p:nvSpPr>
        <p:spPr>
          <a:xfrm>
            <a:off x="2532888" y="3703320"/>
            <a:ext cx="914" cy="548640"/>
          </a:xfrm>
          <a:prstGeom prst="line">
            <a:avLst/>
          </a:prstGeom>
          <a:ln w="25400">
            <a:solidFill>
              <a:srgbClr val="FFFFFF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11"/>
          <p:cNvSpPr txBox="1"/>
          <p:nvPr/>
        </p:nvSpPr>
        <p:spPr>
          <a:xfrm>
            <a:off x="960120" y="4352544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3000" b="1">
                <a:solidFill>
                  <a:srgbClr val="FFFFFF"/>
                </a:solidFill>
                <a:latin typeface="Aptos"/>
              </a:rPr>
              <a:t>85,412%</a:t>
            </a:r>
            <a:endParaRPr lang="it-IT" sz="3000"/>
          </a:p>
        </p:txBody>
      </p:sp>
      <p:sp>
        <p:nvSpPr>
          <p:cNvPr id="12" name="Text 12"/>
          <p:cNvSpPr txBox="1"/>
          <p:nvPr/>
        </p:nvSpPr>
        <p:spPr>
          <a:xfrm>
            <a:off x="960120" y="496519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300" b="1">
                <a:solidFill>
                  <a:srgbClr val="E85D75"/>
                </a:solidFill>
                <a:latin typeface="Aptos"/>
              </a:rPr>
              <a:t>A4 · +17,851 pp</a:t>
            </a:r>
            <a:endParaRPr lang="it-IT" sz="1300"/>
          </a:p>
        </p:txBody>
      </p:sp>
      <p:sp>
        <p:nvSpPr>
          <p:cNvPr id="13" name="Box"/>
          <p:cNvSpPr/>
          <p:nvPr/>
        </p:nvSpPr>
        <p:spPr>
          <a:xfrm>
            <a:off x="4800600" y="1627632"/>
            <a:ext cx="63550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4" name="Box"/>
          <p:cNvSpPr/>
          <p:nvPr/>
        </p:nvSpPr>
        <p:spPr>
          <a:xfrm>
            <a:off x="4800600" y="1627632"/>
            <a:ext cx="91440" cy="685800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5"/>
          <p:cNvSpPr txBox="1"/>
          <p:nvPr/>
        </p:nvSpPr>
        <p:spPr>
          <a:xfrm>
            <a:off x="5074920" y="1792224"/>
            <a:ext cx="3977639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200" b="1">
                <a:solidFill>
                  <a:srgbClr val="172033"/>
                </a:solidFill>
                <a:latin typeface="Aptos"/>
              </a:rPr>
              <a:t>Giuste per entrambi</a:t>
            </a:r>
            <a:endParaRPr lang="it-IT" sz="1200"/>
          </a:p>
        </p:txBody>
      </p:sp>
      <p:sp>
        <p:nvSpPr>
          <p:cNvPr id="16" name="Text 16"/>
          <p:cNvSpPr txBox="1"/>
          <p:nvPr/>
        </p:nvSpPr>
        <p:spPr>
          <a:xfrm>
            <a:off x="9738360" y="1764792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r"/>
            <a:r>
              <a:rPr lang="it-IT" sz="1600" b="1">
                <a:solidFill>
                  <a:srgbClr val="18A6A6"/>
                </a:solidFill>
                <a:latin typeface="Aptos"/>
              </a:rPr>
              <a:t>5702</a:t>
            </a:r>
            <a:endParaRPr lang="it-IT" sz="1600"/>
          </a:p>
        </p:txBody>
      </p:sp>
      <p:sp>
        <p:nvSpPr>
          <p:cNvPr id="17" name="Box"/>
          <p:cNvSpPr/>
          <p:nvPr/>
        </p:nvSpPr>
        <p:spPr>
          <a:xfrm>
            <a:off x="4800600" y="2587752"/>
            <a:ext cx="63550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8" name="Box"/>
          <p:cNvSpPr/>
          <p:nvPr/>
        </p:nvSpPr>
        <p:spPr>
          <a:xfrm>
            <a:off x="4800600" y="2587752"/>
            <a:ext cx="91440" cy="685800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9"/>
          <p:cNvSpPr txBox="1"/>
          <p:nvPr/>
        </p:nvSpPr>
        <p:spPr>
          <a:xfrm>
            <a:off x="5074920" y="2752344"/>
            <a:ext cx="3977639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200" b="1">
                <a:solidFill>
                  <a:srgbClr val="172033"/>
                </a:solidFill>
                <a:latin typeface="Aptos"/>
              </a:rPr>
              <a:t>A4 corregge A3</a:t>
            </a:r>
            <a:endParaRPr lang="it-IT" sz="1200"/>
          </a:p>
        </p:txBody>
      </p:sp>
      <p:sp>
        <p:nvSpPr>
          <p:cNvPr id="20" name="Text 20"/>
          <p:cNvSpPr txBox="1"/>
          <p:nvPr/>
        </p:nvSpPr>
        <p:spPr>
          <a:xfrm>
            <a:off x="9738360" y="2724912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r"/>
            <a:r>
              <a:rPr lang="it-IT" sz="1600" b="1">
                <a:solidFill>
                  <a:srgbClr val="E85D75"/>
                </a:solidFill>
                <a:latin typeface="Aptos"/>
              </a:rPr>
              <a:t>1652</a:t>
            </a:r>
            <a:endParaRPr lang="it-IT" sz="1600"/>
          </a:p>
        </p:txBody>
      </p:sp>
      <p:sp>
        <p:nvSpPr>
          <p:cNvPr id="21" name="Box"/>
          <p:cNvSpPr/>
          <p:nvPr/>
        </p:nvSpPr>
        <p:spPr>
          <a:xfrm>
            <a:off x="4800600" y="3547872"/>
            <a:ext cx="63550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2" name="Box"/>
          <p:cNvSpPr/>
          <p:nvPr/>
        </p:nvSpPr>
        <p:spPr>
          <a:xfrm>
            <a:off x="4800600" y="3547872"/>
            <a:ext cx="91440" cy="685800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3"/>
          <p:cNvSpPr txBox="1"/>
          <p:nvPr/>
        </p:nvSpPr>
        <p:spPr>
          <a:xfrm>
            <a:off x="5074920" y="3712463"/>
            <a:ext cx="3977639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200" b="1">
                <a:solidFill>
                  <a:srgbClr val="172033"/>
                </a:solidFill>
                <a:latin typeface="Aptos"/>
              </a:rPr>
              <a:t>A4 peggiora A3</a:t>
            </a:r>
            <a:endParaRPr lang="it-IT" sz="1200"/>
          </a:p>
        </p:txBody>
      </p:sp>
      <p:sp>
        <p:nvSpPr>
          <p:cNvPr id="24" name="Text 24"/>
          <p:cNvSpPr txBox="1"/>
          <p:nvPr/>
        </p:nvSpPr>
        <p:spPr>
          <a:xfrm>
            <a:off x="9738360" y="3685032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r"/>
            <a:r>
              <a:rPr lang="it-IT" sz="1600" b="1">
                <a:solidFill>
                  <a:srgbClr val="F2A93B"/>
                </a:solidFill>
                <a:latin typeface="Aptos"/>
              </a:rPr>
              <a:t>115</a:t>
            </a:r>
            <a:endParaRPr lang="it-IT" sz="1600"/>
          </a:p>
        </p:txBody>
      </p:sp>
      <p:sp>
        <p:nvSpPr>
          <p:cNvPr id="25" name="Box"/>
          <p:cNvSpPr/>
          <p:nvPr/>
        </p:nvSpPr>
        <p:spPr>
          <a:xfrm>
            <a:off x="4800600" y="4507992"/>
            <a:ext cx="63550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6" name="Box"/>
          <p:cNvSpPr/>
          <p:nvPr/>
        </p:nvSpPr>
        <p:spPr>
          <a:xfrm>
            <a:off x="4800600" y="4507992"/>
            <a:ext cx="91440" cy="685800"/>
          </a:xfrm>
          <a:prstGeom prst="roundRect">
            <a:avLst/>
          </a:prstGeom>
          <a:solidFill>
            <a:srgbClr val="8EA0B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7"/>
          <p:cNvSpPr txBox="1"/>
          <p:nvPr/>
        </p:nvSpPr>
        <p:spPr>
          <a:xfrm>
            <a:off x="5074920" y="4672584"/>
            <a:ext cx="3977639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200" b="1">
                <a:solidFill>
                  <a:srgbClr val="172033"/>
                </a:solidFill>
                <a:latin typeface="Aptos"/>
              </a:rPr>
              <a:t>Sbagliate per entrambi</a:t>
            </a:r>
            <a:endParaRPr lang="it-IT" sz="1200"/>
          </a:p>
        </p:txBody>
      </p:sp>
      <p:sp>
        <p:nvSpPr>
          <p:cNvPr id="28" name="Text 28"/>
          <p:cNvSpPr txBox="1"/>
          <p:nvPr/>
        </p:nvSpPr>
        <p:spPr>
          <a:xfrm>
            <a:off x="9738360" y="4645152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r"/>
            <a:r>
              <a:rPr lang="it-IT" sz="1600" b="1">
                <a:solidFill>
                  <a:srgbClr val="8EA0B2"/>
                </a:solidFill>
                <a:latin typeface="Aptos"/>
              </a:rPr>
              <a:t>1141</a:t>
            </a:r>
            <a:endParaRPr lang="it-IT" sz="1600"/>
          </a:p>
        </p:txBody>
      </p:sp>
      <p:sp>
        <p:nvSpPr>
          <p:cNvPr id="29" name="Text 29"/>
          <p:cNvSpPr txBox="1"/>
          <p:nvPr/>
        </p:nvSpPr>
        <p:spPr>
          <a:xfrm>
            <a:off x="4892040" y="5550408"/>
            <a:ext cx="598932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000" b="0">
                <a:solidFill>
                  <a:srgbClr val="5C6B7A"/>
                </a:solidFill>
                <a:latin typeface="Aptos"/>
              </a:rPr>
              <a:t>Stesse posizioni di test e confronto diretto.</a:t>
            </a:r>
            <a:endParaRPr lang="it-IT" sz="1000"/>
          </a:p>
        </p:txBody>
      </p:sp>
      <p:sp>
        <p:nvSpPr>
          <p:cNvPr id="30" name="Text 30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48/68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E QUANDO I PUZZLE SONO DIFFICILI?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Più il puzzle è impegnativo, più cala la precisione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A4 resta migliore di A3 in ogni gruppo, ma entrambi faticano di più con matto più lunghi e rating elevati.</a:t>
            </a:r>
            <a:endParaRPr lang="it-IT" sz="1300"/>
          </a:p>
        </p:txBody>
      </p:sp>
      <p:sp>
        <p:nvSpPr>
          <p:cNvPr id="6" name="Connector 6"/>
          <p:cNvSpPr/>
          <p:nvPr/>
        </p:nvSpPr>
        <p:spPr>
          <a:xfrm>
            <a:off x="731520" y="5029200"/>
            <a:ext cx="4983480" cy="914"/>
          </a:xfrm>
          <a:prstGeom prst="line">
            <a:avLst/>
          </a:prstGeom>
          <a:ln w="12700">
            <a:solidFill>
              <a:srgbClr val="8EA0B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Connector 7"/>
          <p:cNvSpPr/>
          <p:nvPr/>
        </p:nvSpPr>
        <p:spPr>
          <a:xfrm>
            <a:off x="731520" y="1783080"/>
            <a:ext cx="914" cy="3246120"/>
          </a:xfrm>
          <a:prstGeom prst="line">
            <a:avLst/>
          </a:prstGeom>
          <a:ln w="12700">
            <a:solidFill>
              <a:srgbClr val="8EA0B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8" name="Connector 8"/>
          <p:cNvSpPr/>
          <p:nvPr/>
        </p:nvSpPr>
        <p:spPr>
          <a:xfrm>
            <a:off x="731520" y="5029200"/>
            <a:ext cx="4983480" cy="914"/>
          </a:xfrm>
          <a:prstGeom prst="line">
            <a:avLst/>
          </a:prstGeom>
          <a:ln w="889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9"/>
          <p:cNvSpPr txBox="1"/>
          <p:nvPr/>
        </p:nvSpPr>
        <p:spPr>
          <a:xfrm>
            <a:off x="347472" y="4919472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800" b="0">
                <a:solidFill>
                  <a:srgbClr val="5C6B7A"/>
                </a:solidFill>
                <a:latin typeface="Aptos"/>
              </a:rPr>
              <a:t>0</a:t>
            </a:r>
            <a:endParaRPr lang="it-IT" sz="800"/>
          </a:p>
        </p:txBody>
      </p:sp>
      <p:sp>
        <p:nvSpPr>
          <p:cNvPr id="10" name="Connector 10"/>
          <p:cNvSpPr/>
          <p:nvPr/>
        </p:nvSpPr>
        <p:spPr>
          <a:xfrm>
            <a:off x="731520" y="4217670"/>
            <a:ext cx="4983480" cy="914"/>
          </a:xfrm>
          <a:prstGeom prst="line">
            <a:avLst/>
          </a:prstGeom>
          <a:ln w="889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11"/>
          <p:cNvSpPr txBox="1"/>
          <p:nvPr/>
        </p:nvSpPr>
        <p:spPr>
          <a:xfrm>
            <a:off x="347472" y="4107941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800" b="0">
                <a:solidFill>
                  <a:srgbClr val="5C6B7A"/>
                </a:solidFill>
                <a:latin typeface="Aptos"/>
              </a:rPr>
              <a:t>25</a:t>
            </a:r>
            <a:endParaRPr lang="it-IT" sz="800"/>
          </a:p>
        </p:txBody>
      </p:sp>
      <p:sp>
        <p:nvSpPr>
          <p:cNvPr id="12" name="Connector 12"/>
          <p:cNvSpPr/>
          <p:nvPr/>
        </p:nvSpPr>
        <p:spPr>
          <a:xfrm>
            <a:off x="731520" y="3406140"/>
            <a:ext cx="4983480" cy="914"/>
          </a:xfrm>
          <a:prstGeom prst="line">
            <a:avLst/>
          </a:prstGeom>
          <a:ln w="889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3"/>
          <p:cNvSpPr txBox="1"/>
          <p:nvPr/>
        </p:nvSpPr>
        <p:spPr>
          <a:xfrm>
            <a:off x="347472" y="3296412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800" b="0">
                <a:solidFill>
                  <a:srgbClr val="5C6B7A"/>
                </a:solidFill>
                <a:latin typeface="Aptos"/>
              </a:rPr>
              <a:t>50</a:t>
            </a:r>
            <a:endParaRPr lang="it-IT" sz="800"/>
          </a:p>
        </p:txBody>
      </p:sp>
      <p:sp>
        <p:nvSpPr>
          <p:cNvPr id="14" name="Connector 14"/>
          <p:cNvSpPr/>
          <p:nvPr/>
        </p:nvSpPr>
        <p:spPr>
          <a:xfrm>
            <a:off x="731520" y="2594610"/>
            <a:ext cx="4983480" cy="914"/>
          </a:xfrm>
          <a:prstGeom prst="line">
            <a:avLst/>
          </a:prstGeom>
          <a:ln w="889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5"/>
          <p:cNvSpPr txBox="1"/>
          <p:nvPr/>
        </p:nvSpPr>
        <p:spPr>
          <a:xfrm>
            <a:off x="347472" y="2484882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800" b="0">
                <a:solidFill>
                  <a:srgbClr val="5C6B7A"/>
                </a:solidFill>
                <a:latin typeface="Aptos"/>
              </a:rPr>
              <a:t>75</a:t>
            </a:r>
            <a:endParaRPr lang="it-IT" sz="800"/>
          </a:p>
        </p:txBody>
      </p:sp>
      <p:sp>
        <p:nvSpPr>
          <p:cNvPr id="16" name="Connector 16"/>
          <p:cNvSpPr/>
          <p:nvPr/>
        </p:nvSpPr>
        <p:spPr>
          <a:xfrm>
            <a:off x="731520" y="1783080"/>
            <a:ext cx="4983480" cy="914"/>
          </a:xfrm>
          <a:prstGeom prst="line">
            <a:avLst/>
          </a:prstGeom>
          <a:ln w="889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7"/>
          <p:cNvSpPr txBox="1"/>
          <p:nvPr/>
        </p:nvSpPr>
        <p:spPr>
          <a:xfrm>
            <a:off x="347472" y="1673352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800" b="0">
                <a:solidFill>
                  <a:srgbClr val="5C6B7A"/>
                </a:solidFill>
                <a:latin typeface="Aptos"/>
              </a:rPr>
              <a:t>100</a:t>
            </a:r>
            <a:endParaRPr lang="it-IT" sz="800"/>
          </a:p>
        </p:txBody>
      </p:sp>
      <p:sp>
        <p:nvSpPr>
          <p:cNvPr id="18" name="Text 18"/>
          <p:cNvSpPr txBox="1"/>
          <p:nvPr/>
        </p:nvSpPr>
        <p:spPr>
          <a:xfrm>
            <a:off x="457200" y="51023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800" b="0">
                <a:solidFill>
                  <a:srgbClr val="5C6B7A"/>
                </a:solidFill>
                <a:latin typeface="Aptos"/>
              </a:rPr>
              <a:t>M1</a:t>
            </a:r>
            <a:endParaRPr lang="it-IT" sz="800"/>
          </a:p>
        </p:txBody>
      </p:sp>
      <p:sp>
        <p:nvSpPr>
          <p:cNvPr id="19" name="Text 19"/>
          <p:cNvSpPr txBox="1"/>
          <p:nvPr/>
        </p:nvSpPr>
        <p:spPr>
          <a:xfrm>
            <a:off x="1703070" y="51023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800" b="0">
                <a:solidFill>
                  <a:srgbClr val="5C6B7A"/>
                </a:solidFill>
                <a:latin typeface="Aptos"/>
              </a:rPr>
              <a:t>M2</a:t>
            </a:r>
            <a:endParaRPr lang="it-IT" sz="800"/>
          </a:p>
        </p:txBody>
      </p:sp>
      <p:sp>
        <p:nvSpPr>
          <p:cNvPr id="20" name="Text 20"/>
          <p:cNvSpPr txBox="1"/>
          <p:nvPr/>
        </p:nvSpPr>
        <p:spPr>
          <a:xfrm>
            <a:off x="2948940" y="51023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800" b="0">
                <a:solidFill>
                  <a:srgbClr val="5C6B7A"/>
                </a:solidFill>
                <a:latin typeface="Aptos"/>
              </a:rPr>
              <a:t>M3</a:t>
            </a:r>
            <a:endParaRPr lang="it-IT" sz="800"/>
          </a:p>
        </p:txBody>
      </p:sp>
      <p:sp>
        <p:nvSpPr>
          <p:cNvPr id="21" name="Text 21"/>
          <p:cNvSpPr txBox="1"/>
          <p:nvPr/>
        </p:nvSpPr>
        <p:spPr>
          <a:xfrm>
            <a:off x="4194810" y="51023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800" b="0">
                <a:solidFill>
                  <a:srgbClr val="5C6B7A"/>
                </a:solidFill>
                <a:latin typeface="Aptos"/>
              </a:rPr>
              <a:t>M4</a:t>
            </a:r>
            <a:endParaRPr lang="it-IT" sz="800"/>
          </a:p>
        </p:txBody>
      </p:sp>
      <p:sp>
        <p:nvSpPr>
          <p:cNvPr id="22" name="Text 22"/>
          <p:cNvSpPr txBox="1"/>
          <p:nvPr/>
        </p:nvSpPr>
        <p:spPr>
          <a:xfrm>
            <a:off x="5440680" y="51023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800" b="0">
                <a:solidFill>
                  <a:srgbClr val="5C6B7A"/>
                </a:solidFill>
                <a:latin typeface="Aptos"/>
              </a:rPr>
              <a:t>M5</a:t>
            </a:r>
            <a:endParaRPr lang="it-IT" sz="800"/>
          </a:p>
        </p:txBody>
      </p:sp>
      <p:sp>
        <p:nvSpPr>
          <p:cNvPr id="23" name="Connector 23"/>
          <p:cNvSpPr/>
          <p:nvPr/>
        </p:nvSpPr>
        <p:spPr>
          <a:xfrm>
            <a:off x="731520" y="2446911"/>
            <a:ext cx="1245870" cy="317145"/>
          </a:xfrm>
          <a:prstGeom prst="line">
            <a:avLst/>
          </a:prstGeom>
          <a:ln w="3175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4" name="Connector 24"/>
          <p:cNvSpPr/>
          <p:nvPr/>
        </p:nvSpPr>
        <p:spPr>
          <a:xfrm>
            <a:off x="1977390" y="2764057"/>
            <a:ext cx="1245870" cy="99006"/>
          </a:xfrm>
          <a:prstGeom prst="line">
            <a:avLst/>
          </a:prstGeom>
          <a:ln w="3175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5" name="Connector 25"/>
          <p:cNvSpPr/>
          <p:nvPr/>
        </p:nvSpPr>
        <p:spPr>
          <a:xfrm>
            <a:off x="3223260" y="2863064"/>
            <a:ext cx="1245869" cy="259689"/>
          </a:xfrm>
          <a:prstGeom prst="line">
            <a:avLst/>
          </a:prstGeom>
          <a:ln w="3175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6" name="Connector 26"/>
          <p:cNvSpPr/>
          <p:nvPr/>
        </p:nvSpPr>
        <p:spPr>
          <a:xfrm>
            <a:off x="4469130" y="3122753"/>
            <a:ext cx="1245869" cy="188924"/>
          </a:xfrm>
          <a:prstGeom prst="line">
            <a:avLst/>
          </a:prstGeom>
          <a:ln w="3175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7" name="Box"/>
          <p:cNvSpPr/>
          <p:nvPr/>
        </p:nvSpPr>
        <p:spPr>
          <a:xfrm>
            <a:off x="676656" y="2392047"/>
            <a:ext cx="109728" cy="1097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8" name="Box"/>
          <p:cNvSpPr/>
          <p:nvPr/>
        </p:nvSpPr>
        <p:spPr>
          <a:xfrm>
            <a:off x="1922526" y="2709193"/>
            <a:ext cx="109728" cy="1097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9" name="Box"/>
          <p:cNvSpPr/>
          <p:nvPr/>
        </p:nvSpPr>
        <p:spPr>
          <a:xfrm>
            <a:off x="3168396" y="2808200"/>
            <a:ext cx="109728" cy="1097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0" name="Box"/>
          <p:cNvSpPr/>
          <p:nvPr/>
        </p:nvSpPr>
        <p:spPr>
          <a:xfrm>
            <a:off x="4414266" y="3067889"/>
            <a:ext cx="109728" cy="1097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1" name="Box"/>
          <p:cNvSpPr/>
          <p:nvPr/>
        </p:nvSpPr>
        <p:spPr>
          <a:xfrm>
            <a:off x="5660136" y="3256813"/>
            <a:ext cx="109728" cy="1097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2" name="Connector 32"/>
          <p:cNvSpPr/>
          <p:nvPr/>
        </p:nvSpPr>
        <p:spPr>
          <a:xfrm>
            <a:off x="731520" y="1980119"/>
            <a:ext cx="1245870" cy="186327"/>
          </a:xfrm>
          <a:prstGeom prst="line">
            <a:avLst/>
          </a:prstGeom>
          <a:ln w="3175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3" name="Connector 33"/>
          <p:cNvSpPr/>
          <p:nvPr/>
        </p:nvSpPr>
        <p:spPr>
          <a:xfrm>
            <a:off x="1977390" y="2166446"/>
            <a:ext cx="1245870" cy="116860"/>
          </a:xfrm>
          <a:prstGeom prst="line">
            <a:avLst/>
          </a:prstGeom>
          <a:ln w="3175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4" name="Connector 34"/>
          <p:cNvSpPr/>
          <p:nvPr/>
        </p:nvSpPr>
        <p:spPr>
          <a:xfrm>
            <a:off x="3223260" y="2283307"/>
            <a:ext cx="1245869" cy="201259"/>
          </a:xfrm>
          <a:prstGeom prst="line">
            <a:avLst/>
          </a:prstGeom>
          <a:ln w="3175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5" name="Connector 35"/>
          <p:cNvSpPr/>
          <p:nvPr/>
        </p:nvSpPr>
        <p:spPr>
          <a:xfrm>
            <a:off x="4469130" y="2484566"/>
            <a:ext cx="1245869" cy="133740"/>
          </a:xfrm>
          <a:prstGeom prst="line">
            <a:avLst/>
          </a:prstGeom>
          <a:ln w="3175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6" name="Box"/>
          <p:cNvSpPr/>
          <p:nvPr/>
        </p:nvSpPr>
        <p:spPr>
          <a:xfrm>
            <a:off x="676656" y="1925255"/>
            <a:ext cx="109728" cy="109728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7" name="Box"/>
          <p:cNvSpPr/>
          <p:nvPr/>
        </p:nvSpPr>
        <p:spPr>
          <a:xfrm>
            <a:off x="1922526" y="2111582"/>
            <a:ext cx="109728" cy="109728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8" name="Box"/>
          <p:cNvSpPr/>
          <p:nvPr/>
        </p:nvSpPr>
        <p:spPr>
          <a:xfrm>
            <a:off x="3168396" y="2228443"/>
            <a:ext cx="109728" cy="109728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9" name="Box"/>
          <p:cNvSpPr/>
          <p:nvPr/>
        </p:nvSpPr>
        <p:spPr>
          <a:xfrm>
            <a:off x="4414266" y="2429702"/>
            <a:ext cx="109728" cy="109728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0" name="Box"/>
          <p:cNvSpPr/>
          <p:nvPr/>
        </p:nvSpPr>
        <p:spPr>
          <a:xfrm>
            <a:off x="5660136" y="2563442"/>
            <a:ext cx="109728" cy="109728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1" name="Box"/>
          <p:cNvSpPr/>
          <p:nvPr/>
        </p:nvSpPr>
        <p:spPr>
          <a:xfrm>
            <a:off x="731520" y="1490472"/>
            <a:ext cx="182880" cy="73152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2"/>
          <p:cNvSpPr txBox="1"/>
          <p:nvPr/>
        </p:nvSpPr>
        <p:spPr>
          <a:xfrm>
            <a:off x="987552" y="1435607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72033"/>
                </a:solidFill>
                <a:latin typeface="Aptos"/>
              </a:rPr>
              <a:t>A3</a:t>
            </a:r>
            <a:endParaRPr lang="it-IT" sz="900"/>
          </a:p>
        </p:txBody>
      </p:sp>
      <p:sp>
        <p:nvSpPr>
          <p:cNvPr id="43" name="Box"/>
          <p:cNvSpPr/>
          <p:nvPr/>
        </p:nvSpPr>
        <p:spPr>
          <a:xfrm>
            <a:off x="2240280" y="1490472"/>
            <a:ext cx="182880" cy="73152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4"/>
          <p:cNvSpPr txBox="1"/>
          <p:nvPr/>
        </p:nvSpPr>
        <p:spPr>
          <a:xfrm>
            <a:off x="2496312" y="1435607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72033"/>
                </a:solidFill>
                <a:latin typeface="Aptos"/>
              </a:rPr>
              <a:t>A4</a:t>
            </a:r>
            <a:endParaRPr lang="it-IT" sz="900"/>
          </a:p>
        </p:txBody>
      </p:sp>
      <p:sp>
        <p:nvSpPr>
          <p:cNvPr id="45" name="Connector 45"/>
          <p:cNvSpPr/>
          <p:nvPr/>
        </p:nvSpPr>
        <p:spPr>
          <a:xfrm>
            <a:off x="6355080" y="5029200"/>
            <a:ext cx="4983480" cy="914"/>
          </a:xfrm>
          <a:prstGeom prst="line">
            <a:avLst/>
          </a:prstGeom>
          <a:ln w="12700">
            <a:solidFill>
              <a:srgbClr val="8EA0B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6" name="Connector 46"/>
          <p:cNvSpPr/>
          <p:nvPr/>
        </p:nvSpPr>
        <p:spPr>
          <a:xfrm>
            <a:off x="6355080" y="1783080"/>
            <a:ext cx="914" cy="3246120"/>
          </a:xfrm>
          <a:prstGeom prst="line">
            <a:avLst/>
          </a:prstGeom>
          <a:ln w="12700">
            <a:solidFill>
              <a:srgbClr val="8EA0B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7" name="Connector 47"/>
          <p:cNvSpPr/>
          <p:nvPr/>
        </p:nvSpPr>
        <p:spPr>
          <a:xfrm>
            <a:off x="6355080" y="5029200"/>
            <a:ext cx="4983480" cy="914"/>
          </a:xfrm>
          <a:prstGeom prst="line">
            <a:avLst/>
          </a:prstGeom>
          <a:ln w="889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8"/>
          <p:cNvSpPr txBox="1"/>
          <p:nvPr/>
        </p:nvSpPr>
        <p:spPr>
          <a:xfrm>
            <a:off x="5971032" y="4919472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800" b="0">
                <a:solidFill>
                  <a:srgbClr val="5C6B7A"/>
                </a:solidFill>
                <a:latin typeface="Aptos"/>
              </a:rPr>
              <a:t>0</a:t>
            </a:r>
            <a:endParaRPr lang="it-IT" sz="800"/>
          </a:p>
        </p:txBody>
      </p:sp>
      <p:sp>
        <p:nvSpPr>
          <p:cNvPr id="49" name="Connector 49"/>
          <p:cNvSpPr/>
          <p:nvPr/>
        </p:nvSpPr>
        <p:spPr>
          <a:xfrm>
            <a:off x="6355080" y="4217670"/>
            <a:ext cx="4983480" cy="914"/>
          </a:xfrm>
          <a:prstGeom prst="line">
            <a:avLst/>
          </a:prstGeom>
          <a:ln w="889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50"/>
          <p:cNvSpPr txBox="1"/>
          <p:nvPr/>
        </p:nvSpPr>
        <p:spPr>
          <a:xfrm>
            <a:off x="5971032" y="4107941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800" b="0">
                <a:solidFill>
                  <a:srgbClr val="5C6B7A"/>
                </a:solidFill>
                <a:latin typeface="Aptos"/>
              </a:rPr>
              <a:t>25</a:t>
            </a:r>
            <a:endParaRPr lang="it-IT" sz="800"/>
          </a:p>
        </p:txBody>
      </p:sp>
      <p:sp>
        <p:nvSpPr>
          <p:cNvPr id="51" name="Connector 51"/>
          <p:cNvSpPr/>
          <p:nvPr/>
        </p:nvSpPr>
        <p:spPr>
          <a:xfrm>
            <a:off x="6355080" y="3406140"/>
            <a:ext cx="4983480" cy="914"/>
          </a:xfrm>
          <a:prstGeom prst="line">
            <a:avLst/>
          </a:prstGeom>
          <a:ln w="889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2"/>
          <p:cNvSpPr txBox="1"/>
          <p:nvPr/>
        </p:nvSpPr>
        <p:spPr>
          <a:xfrm>
            <a:off x="5971032" y="3296412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800" b="0">
                <a:solidFill>
                  <a:srgbClr val="5C6B7A"/>
                </a:solidFill>
                <a:latin typeface="Aptos"/>
              </a:rPr>
              <a:t>50</a:t>
            </a:r>
            <a:endParaRPr lang="it-IT" sz="800"/>
          </a:p>
        </p:txBody>
      </p:sp>
      <p:sp>
        <p:nvSpPr>
          <p:cNvPr id="53" name="Connector 53"/>
          <p:cNvSpPr/>
          <p:nvPr/>
        </p:nvSpPr>
        <p:spPr>
          <a:xfrm>
            <a:off x="6355080" y="2594610"/>
            <a:ext cx="4983480" cy="914"/>
          </a:xfrm>
          <a:prstGeom prst="line">
            <a:avLst/>
          </a:prstGeom>
          <a:ln w="889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4"/>
          <p:cNvSpPr txBox="1"/>
          <p:nvPr/>
        </p:nvSpPr>
        <p:spPr>
          <a:xfrm>
            <a:off x="5971032" y="2484882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800" b="0">
                <a:solidFill>
                  <a:srgbClr val="5C6B7A"/>
                </a:solidFill>
                <a:latin typeface="Aptos"/>
              </a:rPr>
              <a:t>75</a:t>
            </a:r>
            <a:endParaRPr lang="it-IT" sz="800"/>
          </a:p>
        </p:txBody>
      </p:sp>
      <p:sp>
        <p:nvSpPr>
          <p:cNvPr id="55" name="Connector 55"/>
          <p:cNvSpPr/>
          <p:nvPr/>
        </p:nvSpPr>
        <p:spPr>
          <a:xfrm>
            <a:off x="6355080" y="1783080"/>
            <a:ext cx="4983480" cy="914"/>
          </a:xfrm>
          <a:prstGeom prst="line">
            <a:avLst/>
          </a:prstGeom>
          <a:ln w="889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6"/>
          <p:cNvSpPr txBox="1"/>
          <p:nvPr/>
        </p:nvSpPr>
        <p:spPr>
          <a:xfrm>
            <a:off x="5971032" y="1673352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800" b="0">
                <a:solidFill>
                  <a:srgbClr val="5C6B7A"/>
                </a:solidFill>
                <a:latin typeface="Aptos"/>
              </a:rPr>
              <a:t>100</a:t>
            </a:r>
            <a:endParaRPr lang="it-IT" sz="800"/>
          </a:p>
        </p:txBody>
      </p:sp>
      <p:sp>
        <p:nvSpPr>
          <p:cNvPr id="57" name="Text 57"/>
          <p:cNvSpPr txBox="1"/>
          <p:nvPr/>
        </p:nvSpPr>
        <p:spPr>
          <a:xfrm>
            <a:off x="6080760" y="51023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800" b="0">
                <a:solidFill>
                  <a:srgbClr val="5C6B7A"/>
                </a:solidFill>
                <a:latin typeface="Aptos"/>
              </a:rPr>
              <a:t>&lt;1200</a:t>
            </a:r>
            <a:endParaRPr lang="it-IT" sz="800"/>
          </a:p>
        </p:txBody>
      </p:sp>
      <p:sp>
        <p:nvSpPr>
          <p:cNvPr id="58" name="Text 58"/>
          <p:cNvSpPr txBox="1"/>
          <p:nvPr/>
        </p:nvSpPr>
        <p:spPr>
          <a:xfrm>
            <a:off x="7326629" y="51023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800" b="0">
                <a:solidFill>
                  <a:srgbClr val="5C6B7A"/>
                </a:solidFill>
                <a:latin typeface="Aptos"/>
              </a:rPr>
              <a:t>1200</a:t>
            </a:r>
            <a:endParaRPr lang="it-IT" sz="800"/>
          </a:p>
        </p:txBody>
      </p:sp>
      <p:sp>
        <p:nvSpPr>
          <p:cNvPr id="59" name="Text 59"/>
          <p:cNvSpPr txBox="1"/>
          <p:nvPr/>
        </p:nvSpPr>
        <p:spPr>
          <a:xfrm>
            <a:off x="8572500" y="51023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800" b="0">
                <a:solidFill>
                  <a:srgbClr val="5C6B7A"/>
                </a:solidFill>
                <a:latin typeface="Aptos"/>
              </a:rPr>
              <a:t>1600</a:t>
            </a:r>
            <a:endParaRPr lang="it-IT" sz="800"/>
          </a:p>
        </p:txBody>
      </p:sp>
      <p:sp>
        <p:nvSpPr>
          <p:cNvPr id="60" name="Text 60"/>
          <p:cNvSpPr txBox="1"/>
          <p:nvPr/>
        </p:nvSpPr>
        <p:spPr>
          <a:xfrm>
            <a:off x="9818370" y="51023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800" b="0">
                <a:solidFill>
                  <a:srgbClr val="5C6B7A"/>
                </a:solidFill>
                <a:latin typeface="Aptos"/>
              </a:rPr>
              <a:t>2000</a:t>
            </a:r>
            <a:endParaRPr lang="it-IT" sz="800"/>
          </a:p>
        </p:txBody>
      </p:sp>
      <p:sp>
        <p:nvSpPr>
          <p:cNvPr id="61" name="Text 61"/>
          <p:cNvSpPr txBox="1"/>
          <p:nvPr/>
        </p:nvSpPr>
        <p:spPr>
          <a:xfrm>
            <a:off x="11064240" y="51023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800" b="0">
                <a:solidFill>
                  <a:srgbClr val="5C6B7A"/>
                </a:solidFill>
                <a:latin typeface="Aptos"/>
              </a:rPr>
              <a:t>2400+</a:t>
            </a:r>
            <a:endParaRPr lang="it-IT" sz="800"/>
          </a:p>
        </p:txBody>
      </p:sp>
      <p:sp>
        <p:nvSpPr>
          <p:cNvPr id="62" name="Connector 62"/>
          <p:cNvSpPr/>
          <p:nvPr/>
        </p:nvSpPr>
        <p:spPr>
          <a:xfrm>
            <a:off x="6355080" y="2365433"/>
            <a:ext cx="1245869" cy="526196"/>
          </a:xfrm>
          <a:prstGeom prst="line">
            <a:avLst/>
          </a:prstGeom>
          <a:ln w="3175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63" name="Connector 63"/>
          <p:cNvSpPr/>
          <p:nvPr/>
        </p:nvSpPr>
        <p:spPr>
          <a:xfrm>
            <a:off x="7600950" y="2891629"/>
            <a:ext cx="1245870" cy="471012"/>
          </a:xfrm>
          <a:prstGeom prst="line">
            <a:avLst/>
          </a:prstGeom>
          <a:ln w="3175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64" name="Connector 64"/>
          <p:cNvSpPr/>
          <p:nvPr/>
        </p:nvSpPr>
        <p:spPr>
          <a:xfrm>
            <a:off x="8846820" y="3362641"/>
            <a:ext cx="1245870" cy="265532"/>
          </a:xfrm>
          <a:prstGeom prst="line">
            <a:avLst/>
          </a:prstGeom>
          <a:ln w="3175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65" name="Connector 65"/>
          <p:cNvSpPr/>
          <p:nvPr/>
        </p:nvSpPr>
        <p:spPr>
          <a:xfrm>
            <a:off x="10092690" y="3628174"/>
            <a:ext cx="1245869" cy="535285"/>
          </a:xfrm>
          <a:prstGeom prst="line">
            <a:avLst/>
          </a:prstGeom>
          <a:ln w="3175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66" name="Box"/>
          <p:cNvSpPr/>
          <p:nvPr/>
        </p:nvSpPr>
        <p:spPr>
          <a:xfrm>
            <a:off x="6300216" y="2310569"/>
            <a:ext cx="109728" cy="1097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7" name="Box"/>
          <p:cNvSpPr/>
          <p:nvPr/>
        </p:nvSpPr>
        <p:spPr>
          <a:xfrm>
            <a:off x="7546086" y="2836765"/>
            <a:ext cx="109728" cy="1097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8" name="Box"/>
          <p:cNvSpPr/>
          <p:nvPr/>
        </p:nvSpPr>
        <p:spPr>
          <a:xfrm>
            <a:off x="8791956" y="3307777"/>
            <a:ext cx="109728" cy="1097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9" name="Box"/>
          <p:cNvSpPr/>
          <p:nvPr/>
        </p:nvSpPr>
        <p:spPr>
          <a:xfrm>
            <a:off x="10037826" y="3573310"/>
            <a:ext cx="109728" cy="1097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0" name="Box"/>
          <p:cNvSpPr/>
          <p:nvPr/>
        </p:nvSpPr>
        <p:spPr>
          <a:xfrm>
            <a:off x="11283696" y="4108595"/>
            <a:ext cx="109728" cy="1097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" name="Connector 71"/>
          <p:cNvSpPr/>
          <p:nvPr/>
        </p:nvSpPr>
        <p:spPr>
          <a:xfrm>
            <a:off x="6355080" y="1927856"/>
            <a:ext cx="1245869" cy="280464"/>
          </a:xfrm>
          <a:prstGeom prst="line">
            <a:avLst/>
          </a:prstGeom>
          <a:ln w="3175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2" name="Connector 72"/>
          <p:cNvSpPr/>
          <p:nvPr/>
        </p:nvSpPr>
        <p:spPr>
          <a:xfrm>
            <a:off x="7600950" y="2208321"/>
            <a:ext cx="1245870" cy="359345"/>
          </a:xfrm>
          <a:prstGeom prst="line">
            <a:avLst/>
          </a:prstGeom>
          <a:ln w="3175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3" name="Connector 73"/>
          <p:cNvSpPr/>
          <p:nvPr/>
        </p:nvSpPr>
        <p:spPr>
          <a:xfrm>
            <a:off x="8846820" y="2567667"/>
            <a:ext cx="1245870" cy="500227"/>
          </a:xfrm>
          <a:prstGeom prst="line">
            <a:avLst/>
          </a:prstGeom>
          <a:ln w="3175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4" name="Connector 74"/>
          <p:cNvSpPr/>
          <p:nvPr/>
        </p:nvSpPr>
        <p:spPr>
          <a:xfrm>
            <a:off x="10092690" y="3067894"/>
            <a:ext cx="1245869" cy="500551"/>
          </a:xfrm>
          <a:prstGeom prst="line">
            <a:avLst/>
          </a:prstGeom>
          <a:ln w="3175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5" name="Box"/>
          <p:cNvSpPr/>
          <p:nvPr/>
        </p:nvSpPr>
        <p:spPr>
          <a:xfrm>
            <a:off x="6300216" y="1872992"/>
            <a:ext cx="109728" cy="109728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6" name="Box"/>
          <p:cNvSpPr/>
          <p:nvPr/>
        </p:nvSpPr>
        <p:spPr>
          <a:xfrm>
            <a:off x="7546086" y="2153457"/>
            <a:ext cx="109728" cy="109728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7" name="Box"/>
          <p:cNvSpPr/>
          <p:nvPr/>
        </p:nvSpPr>
        <p:spPr>
          <a:xfrm>
            <a:off x="8791956" y="2512803"/>
            <a:ext cx="109728" cy="109728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8" name="Box"/>
          <p:cNvSpPr/>
          <p:nvPr/>
        </p:nvSpPr>
        <p:spPr>
          <a:xfrm>
            <a:off x="10037826" y="3013030"/>
            <a:ext cx="109728" cy="109728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9" name="Box"/>
          <p:cNvSpPr/>
          <p:nvPr/>
        </p:nvSpPr>
        <p:spPr>
          <a:xfrm>
            <a:off x="11283696" y="3513582"/>
            <a:ext cx="109728" cy="109728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" name="Box"/>
          <p:cNvSpPr/>
          <p:nvPr/>
        </p:nvSpPr>
        <p:spPr>
          <a:xfrm>
            <a:off x="6355080" y="1490472"/>
            <a:ext cx="182880" cy="73152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1" name="Text 81"/>
          <p:cNvSpPr txBox="1"/>
          <p:nvPr/>
        </p:nvSpPr>
        <p:spPr>
          <a:xfrm>
            <a:off x="6611112" y="1435607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72033"/>
                </a:solidFill>
                <a:latin typeface="Aptos"/>
              </a:rPr>
              <a:t>A3</a:t>
            </a:r>
            <a:endParaRPr lang="it-IT" sz="900"/>
          </a:p>
        </p:txBody>
      </p:sp>
      <p:sp>
        <p:nvSpPr>
          <p:cNvPr id="82" name="Box"/>
          <p:cNvSpPr/>
          <p:nvPr/>
        </p:nvSpPr>
        <p:spPr>
          <a:xfrm>
            <a:off x="7863840" y="1490472"/>
            <a:ext cx="182880" cy="73152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3" name="Text 83"/>
          <p:cNvSpPr txBox="1"/>
          <p:nvPr/>
        </p:nvSpPr>
        <p:spPr>
          <a:xfrm>
            <a:off x="8119871" y="1435607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72033"/>
                </a:solidFill>
                <a:latin typeface="Aptos"/>
              </a:rPr>
              <a:t>A4</a:t>
            </a:r>
            <a:endParaRPr lang="it-IT" sz="900"/>
          </a:p>
        </p:txBody>
      </p:sp>
      <p:sp>
        <p:nvSpPr>
          <p:cNvPr id="84" name="Text 84"/>
          <p:cNvSpPr txBox="1"/>
          <p:nvPr/>
        </p:nvSpPr>
        <p:spPr>
          <a:xfrm>
            <a:off x="2514600" y="528523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300" b="1">
                <a:solidFill>
                  <a:srgbClr val="172033"/>
                </a:solidFill>
                <a:latin typeface="Aptos"/>
              </a:rPr>
              <a:t>Mosse fino al matto</a:t>
            </a:r>
            <a:endParaRPr lang="it-IT" sz="1300"/>
          </a:p>
        </p:txBody>
      </p:sp>
      <p:sp>
        <p:nvSpPr>
          <p:cNvPr id="85" name="Text 85"/>
          <p:cNvSpPr txBox="1"/>
          <p:nvPr/>
        </p:nvSpPr>
        <p:spPr>
          <a:xfrm>
            <a:off x="8138160" y="528523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300" b="1">
                <a:solidFill>
                  <a:srgbClr val="172033"/>
                </a:solidFill>
                <a:latin typeface="Aptos"/>
              </a:rPr>
              <a:t>Difficoltà (rating)</a:t>
            </a:r>
            <a:endParaRPr lang="it-IT" sz="1300"/>
          </a:p>
        </p:txBody>
      </p:sp>
      <p:sp>
        <p:nvSpPr>
          <p:cNvPr id="86" name="Text 86"/>
          <p:cNvSpPr txBox="1"/>
          <p:nvPr/>
        </p:nvSpPr>
        <p:spPr>
          <a:xfrm>
            <a:off x="868680" y="580644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000" b="0">
                <a:solidFill>
                  <a:srgbClr val="5C6B7A"/>
                </a:solidFill>
                <a:latin typeface="Aptos"/>
              </a:rPr>
              <a:t>I gruppi più difficili hanno meno esempi: le percentuali vanno lette con cautela.</a:t>
            </a:r>
            <a:endParaRPr lang="it-IT" sz="1000"/>
          </a:p>
        </p:txBody>
      </p:sp>
      <p:sp>
        <p:nvSpPr>
          <p:cNvPr id="87" name="Text 8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49/68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MODELLI LINGUISTICI · MOTIVAZIONE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Perché abbiamo coinvolto anche Qwen?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Volevamo confrontare una rete costruita per le regole degli scacchi con un modello linguistico generalista eseguito in locale.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01952"/>
            <a:ext cx="5129784" cy="33741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01952"/>
            <a:ext cx="68580" cy="3374136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4690872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Come sono stati utilizzati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24328"/>
            <a:ext cx="4690872" cy="25511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Abbiamo eseguito in locale Qwen 3.5 4B e 9B tramite Ollama. Forniamo solo il FEN e la richiesta di restituire una singola mossa in notazione UCI.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901952"/>
            <a:ext cx="5129784" cy="33741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901952"/>
            <a:ext cx="68580" cy="3374136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2084832"/>
            <a:ext cx="4690872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Perché questo è importante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624328"/>
            <a:ext cx="4690872" cy="25511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I Qwen non ricevono mosse legali già elencate e non usano un motore scacchistico esterno nel protocollo descritto. Il confronto misura anche la capacità di rispettare il formato richiesto.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696712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È il risultato di questo protocollo, non un giudizio universale sulla capacità delle LLM di giocare a scacchi.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50/68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CONFRONTO CON I MODELLI LINGUISTICI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Abbiamo chiesto ai modelli Qwen di scegliere una mossa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Ricevono solo la posizione FEN e devono rispondere con una singola mossa in formato UCI.</a:t>
            </a:r>
            <a:endParaRPr lang="it-IT" sz="1300"/>
          </a:p>
        </p:txBody>
      </p:sp>
      <p:sp>
        <p:nvSpPr>
          <p:cNvPr id="6" name="Box"/>
          <p:cNvSpPr/>
          <p:nvPr/>
        </p:nvSpPr>
        <p:spPr>
          <a:xfrm>
            <a:off x="411480" y="1874519"/>
            <a:ext cx="15087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7DFF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7"/>
          <p:cNvSpPr txBox="1"/>
          <p:nvPr/>
        </p:nvSpPr>
        <p:spPr>
          <a:xfrm>
            <a:off x="466344" y="1947672"/>
            <a:ext cx="1399031" cy="4572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377DFF"/>
                </a:solidFill>
                <a:latin typeface="Aptos"/>
              </a:rPr>
              <a:t>FEN</a:t>
            </a:r>
            <a:endParaRPr lang="it-IT" sz="1200"/>
          </a:p>
        </p:txBody>
      </p:sp>
      <p:sp>
        <p:nvSpPr>
          <p:cNvPr id="8" name="Text 8"/>
          <p:cNvSpPr txBox="1"/>
          <p:nvPr/>
        </p:nvSpPr>
        <p:spPr>
          <a:xfrm>
            <a:off x="411480" y="256032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>
                <a:solidFill>
                  <a:srgbClr val="5C6B7A"/>
                </a:solidFill>
                <a:latin typeface="Aptos"/>
              </a:rPr>
              <a:t>Posizione</a:t>
            </a:r>
            <a:endParaRPr lang="it-IT" sz="900"/>
          </a:p>
        </p:txBody>
      </p:sp>
      <p:sp>
        <p:nvSpPr>
          <p:cNvPr id="9" name="Connector 9"/>
          <p:cNvSpPr/>
          <p:nvPr/>
        </p:nvSpPr>
        <p:spPr>
          <a:xfrm>
            <a:off x="1947672" y="2167128"/>
            <a:ext cx="329184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Box"/>
          <p:cNvSpPr/>
          <p:nvPr/>
        </p:nvSpPr>
        <p:spPr>
          <a:xfrm>
            <a:off x="2350008" y="1874519"/>
            <a:ext cx="15087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68E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11"/>
          <p:cNvSpPr txBox="1"/>
          <p:nvPr/>
        </p:nvSpPr>
        <p:spPr>
          <a:xfrm>
            <a:off x="2404872" y="1947672"/>
            <a:ext cx="1399031" cy="4572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7868E6"/>
                </a:solidFill>
                <a:latin typeface="Aptos"/>
              </a:rPr>
              <a:t>prompt v1</a:t>
            </a:r>
            <a:endParaRPr lang="it-IT" sz="1200"/>
          </a:p>
        </p:txBody>
      </p:sp>
      <p:sp>
        <p:nvSpPr>
          <p:cNvPr id="12" name="Text 12"/>
          <p:cNvSpPr txBox="1"/>
          <p:nvPr/>
        </p:nvSpPr>
        <p:spPr>
          <a:xfrm>
            <a:off x="2350008" y="256032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>
                <a:solidFill>
                  <a:srgbClr val="5C6B7A"/>
                </a:solidFill>
                <a:latin typeface="Aptos"/>
              </a:rPr>
              <a:t>Istruzioni fisse</a:t>
            </a:r>
            <a:endParaRPr lang="it-IT" sz="900"/>
          </a:p>
        </p:txBody>
      </p:sp>
      <p:sp>
        <p:nvSpPr>
          <p:cNvPr id="13" name="Connector 13"/>
          <p:cNvSpPr/>
          <p:nvPr/>
        </p:nvSpPr>
        <p:spPr>
          <a:xfrm>
            <a:off x="3886200" y="2167128"/>
            <a:ext cx="329184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Box"/>
          <p:cNvSpPr/>
          <p:nvPr/>
        </p:nvSpPr>
        <p:spPr>
          <a:xfrm>
            <a:off x="4288536" y="1874519"/>
            <a:ext cx="15087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93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5"/>
          <p:cNvSpPr txBox="1"/>
          <p:nvPr/>
        </p:nvSpPr>
        <p:spPr>
          <a:xfrm>
            <a:off x="4343400" y="1947672"/>
            <a:ext cx="1399031" cy="4572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F2A93B"/>
                </a:solidFill>
                <a:latin typeface="Aptos"/>
              </a:rPr>
              <a:t>Ollama</a:t>
            </a:r>
            <a:endParaRPr lang="it-IT" sz="1200"/>
          </a:p>
        </p:txBody>
      </p:sp>
      <p:sp>
        <p:nvSpPr>
          <p:cNvPr id="16" name="Text 16"/>
          <p:cNvSpPr txBox="1"/>
          <p:nvPr/>
        </p:nvSpPr>
        <p:spPr>
          <a:xfrm>
            <a:off x="4288536" y="256032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>
                <a:solidFill>
                  <a:srgbClr val="5C6B7A"/>
                </a:solidFill>
                <a:latin typeface="Aptos"/>
              </a:rPr>
              <a:t>Qwen 4B / 9B</a:t>
            </a:r>
            <a:endParaRPr lang="it-IT" sz="900"/>
          </a:p>
        </p:txBody>
      </p:sp>
      <p:sp>
        <p:nvSpPr>
          <p:cNvPr id="17" name="Connector 17"/>
          <p:cNvSpPr/>
          <p:nvPr/>
        </p:nvSpPr>
        <p:spPr>
          <a:xfrm>
            <a:off x="5824728" y="2167128"/>
            <a:ext cx="329184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Box"/>
          <p:cNvSpPr/>
          <p:nvPr/>
        </p:nvSpPr>
        <p:spPr>
          <a:xfrm>
            <a:off x="6227064" y="1874519"/>
            <a:ext cx="15087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9"/>
          <p:cNvSpPr txBox="1"/>
          <p:nvPr/>
        </p:nvSpPr>
        <p:spPr>
          <a:xfrm>
            <a:off x="6281928" y="1947672"/>
            <a:ext cx="1399031" cy="4572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18A6A6"/>
                </a:solidFill>
                <a:latin typeface="Aptos"/>
              </a:rPr>
              <a:t>parser</a:t>
            </a:r>
            <a:endParaRPr lang="it-IT" sz="1200"/>
          </a:p>
        </p:txBody>
      </p:sp>
      <p:sp>
        <p:nvSpPr>
          <p:cNvPr id="20" name="Text 20"/>
          <p:cNvSpPr txBox="1"/>
          <p:nvPr/>
        </p:nvSpPr>
        <p:spPr>
          <a:xfrm>
            <a:off x="6227064" y="256032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>
                <a:solidFill>
                  <a:srgbClr val="5C6B7A"/>
                </a:solidFill>
                <a:latin typeface="Aptos"/>
              </a:rPr>
              <a:t>Legge la risposta</a:t>
            </a:r>
            <a:endParaRPr lang="it-IT" sz="900"/>
          </a:p>
        </p:txBody>
      </p:sp>
      <p:sp>
        <p:nvSpPr>
          <p:cNvPr id="21" name="Connector 21"/>
          <p:cNvSpPr/>
          <p:nvPr/>
        </p:nvSpPr>
        <p:spPr>
          <a:xfrm>
            <a:off x="7763256" y="2167128"/>
            <a:ext cx="329184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2" name="Box"/>
          <p:cNvSpPr/>
          <p:nvPr/>
        </p:nvSpPr>
        <p:spPr>
          <a:xfrm>
            <a:off x="8165592" y="1874519"/>
            <a:ext cx="15087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3"/>
          <p:cNvSpPr txBox="1"/>
          <p:nvPr/>
        </p:nvSpPr>
        <p:spPr>
          <a:xfrm>
            <a:off x="8220456" y="1947672"/>
            <a:ext cx="1399031" cy="4572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E85D75"/>
                </a:solidFill>
                <a:latin typeface="Aptos"/>
              </a:rPr>
              <a:t>python-chess</a:t>
            </a:r>
            <a:endParaRPr lang="it-IT" sz="1200"/>
          </a:p>
        </p:txBody>
      </p:sp>
      <p:sp>
        <p:nvSpPr>
          <p:cNvPr id="24" name="Text 24"/>
          <p:cNvSpPr txBox="1"/>
          <p:nvPr/>
        </p:nvSpPr>
        <p:spPr>
          <a:xfrm>
            <a:off x="8165592" y="256032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>
                <a:solidFill>
                  <a:srgbClr val="5C6B7A"/>
                </a:solidFill>
                <a:latin typeface="Aptos"/>
              </a:rPr>
              <a:t>Verifica se è legale</a:t>
            </a:r>
            <a:endParaRPr lang="it-IT" sz="900"/>
          </a:p>
        </p:txBody>
      </p:sp>
      <p:sp>
        <p:nvSpPr>
          <p:cNvPr id="25" name="Connector 25"/>
          <p:cNvSpPr/>
          <p:nvPr/>
        </p:nvSpPr>
        <p:spPr>
          <a:xfrm>
            <a:off x="9701784" y="2167128"/>
            <a:ext cx="329183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6" name="Box"/>
          <p:cNvSpPr/>
          <p:nvPr/>
        </p:nvSpPr>
        <p:spPr>
          <a:xfrm>
            <a:off x="10104120" y="1874519"/>
            <a:ext cx="15087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7"/>
          <p:cNvSpPr txBox="1"/>
          <p:nvPr/>
        </p:nvSpPr>
        <p:spPr>
          <a:xfrm>
            <a:off x="10158984" y="1947672"/>
            <a:ext cx="1399031" cy="4572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18A6A6"/>
                </a:solidFill>
                <a:latin typeface="Aptos"/>
              </a:rPr>
              <a:t>Confronta</a:t>
            </a:r>
            <a:endParaRPr lang="it-IT" sz="1200"/>
          </a:p>
        </p:txBody>
      </p:sp>
      <p:sp>
        <p:nvSpPr>
          <p:cNvPr id="28" name="Text 28"/>
          <p:cNvSpPr txBox="1"/>
          <p:nvPr/>
        </p:nvSpPr>
        <p:spPr>
          <a:xfrm>
            <a:off x="10104120" y="256032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>
                <a:solidFill>
                  <a:srgbClr val="5C6B7A"/>
                </a:solidFill>
                <a:latin typeface="Aptos"/>
              </a:rPr>
              <a:t>Con la soluzione</a:t>
            </a:r>
            <a:endParaRPr lang="it-IT" sz="900"/>
          </a:p>
        </p:txBody>
      </p:sp>
      <p:sp>
        <p:nvSpPr>
          <p:cNvPr id="29" name="Text 29"/>
          <p:cNvSpPr txBox="1"/>
          <p:nvPr/>
        </p:nvSpPr>
        <p:spPr>
          <a:xfrm>
            <a:off x="713232" y="327355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500" b="1">
                <a:solidFill>
                  <a:srgbClr val="172033"/>
                </a:solidFill>
                <a:latin typeface="Aptos"/>
              </a:rPr>
              <a:t>Risultati con regole rigide · 8.610 puzzle</a:t>
            </a:r>
            <a:endParaRPr lang="it-IT" sz="1500"/>
          </a:p>
        </p:txBody>
      </p:sp>
      <p:sp>
        <p:nvSpPr>
          <p:cNvPr id="30" name="Box"/>
          <p:cNvSpPr/>
          <p:nvPr/>
        </p:nvSpPr>
        <p:spPr>
          <a:xfrm>
            <a:off x="713232" y="3703320"/>
            <a:ext cx="51663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1" name="Box"/>
          <p:cNvSpPr/>
          <p:nvPr/>
        </p:nvSpPr>
        <p:spPr>
          <a:xfrm>
            <a:off x="713232" y="3703320"/>
            <a:ext cx="73152" cy="1463040"/>
          </a:xfrm>
          <a:prstGeom prst="roundRect">
            <a:avLst/>
          </a:prstGeom>
          <a:solidFill>
            <a:srgbClr val="7B879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2"/>
          <p:cNvSpPr txBox="1"/>
          <p:nvPr/>
        </p:nvSpPr>
        <p:spPr>
          <a:xfrm>
            <a:off x="941832" y="3867911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Qwen 3.5 4B</a:t>
            </a:r>
            <a:endParaRPr lang="it-IT" sz="1600"/>
          </a:p>
        </p:txBody>
      </p:sp>
      <p:sp>
        <p:nvSpPr>
          <p:cNvPr id="33" name="Text 33"/>
          <p:cNvSpPr txBox="1"/>
          <p:nvPr/>
        </p:nvSpPr>
        <p:spPr>
          <a:xfrm>
            <a:off x="941832" y="4361688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Corretta: 0,070% · legale ma errata: 1,510%
Illegale: 68,455% · risposta non valida: 29,965%</a:t>
            </a:r>
            <a:endParaRPr lang="it-IT" sz="1150"/>
          </a:p>
        </p:txBody>
      </p:sp>
      <p:sp>
        <p:nvSpPr>
          <p:cNvPr id="34" name="Box"/>
          <p:cNvSpPr/>
          <p:nvPr/>
        </p:nvSpPr>
        <p:spPr>
          <a:xfrm>
            <a:off x="6199632" y="3703320"/>
            <a:ext cx="51663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5" name="Box"/>
          <p:cNvSpPr/>
          <p:nvPr/>
        </p:nvSpPr>
        <p:spPr>
          <a:xfrm>
            <a:off x="6199632" y="3703320"/>
            <a:ext cx="73152" cy="1463040"/>
          </a:xfrm>
          <a:prstGeom prst="roundRect">
            <a:avLst/>
          </a:prstGeom>
          <a:solidFill>
            <a:srgbClr val="B0BAC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6"/>
          <p:cNvSpPr txBox="1"/>
          <p:nvPr/>
        </p:nvSpPr>
        <p:spPr>
          <a:xfrm>
            <a:off x="6428232" y="3867911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Qwen 3.5 9B</a:t>
            </a:r>
            <a:endParaRPr lang="it-IT" sz="1600"/>
          </a:p>
        </p:txBody>
      </p:sp>
      <p:sp>
        <p:nvSpPr>
          <p:cNvPr id="37" name="Text 37"/>
          <p:cNvSpPr txBox="1"/>
          <p:nvPr/>
        </p:nvSpPr>
        <p:spPr>
          <a:xfrm>
            <a:off x="6428232" y="4361688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Corretta: 0,116% · legale ma errata: 4,797%
Illegale: 33,670% · risposta non valida: 61,417%</a:t>
            </a:r>
            <a:endParaRPr lang="it-IT" sz="1150"/>
          </a:p>
        </p:txBody>
      </p:sp>
      <p:sp>
        <p:nvSpPr>
          <p:cNvPr id="38" name="Text 38"/>
          <p:cNvSpPr txBox="1"/>
          <p:nvPr/>
        </p:nvSpPr>
        <p:spPr>
          <a:xfrm>
            <a:off x="868680" y="5669280"/>
            <a:ext cx="1046988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100" b="1">
                <a:solidFill>
                  <a:srgbClr val="E85D75"/>
                </a:solidFill>
                <a:latin typeface="Aptos"/>
              </a:rPr>
              <a:t>Conta anche saper rispettare il formato richiesto: è una limitazione importante di questo confronto.</a:t>
            </a:r>
            <a:endParaRPr lang="it-IT" sz="1100"/>
          </a:p>
        </p:txBody>
      </p:sp>
      <p:sp>
        <p:nvSpPr>
          <p:cNvPr id="39" name="Text 39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51/68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PROTOCOLLO QWEN · UN ESEMPIO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Come giudichiamo una risposta del modello linguistico?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Non basta che il testo “sembri una mossa”: deve essere una singola mossa UCI valida e legale.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828800"/>
            <a:ext cx="5157216" cy="1636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" y="1828800"/>
            <a:ext cx="68580" cy="1636776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2011680"/>
            <a:ext cx="4718304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Risposta corretta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551176"/>
            <a:ext cx="4718304" cy="8138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La mossa è ben formata, legale e coincide con la mossa della soluzione.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828800"/>
            <a:ext cx="5157216" cy="1636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6208" y="1828800"/>
            <a:ext cx="68580" cy="1636776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2011680"/>
            <a:ext cx="4718304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Legale ma errata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551176"/>
            <a:ext cx="4718304" cy="8138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La sintassi e la legalità sono corrette, ma la soluzione attesa è diversa.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" y="3685031"/>
            <a:ext cx="5157216" cy="1636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4088" y="3685031"/>
            <a:ext cx="68580" cy="1636776"/>
          </a:xfrm>
          <a:prstGeom prst="rect">
            <a:avLst/>
          </a:prstGeom>
          <a:solidFill>
            <a:srgbClr val="E65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" y="3867911"/>
            <a:ext cx="4718304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Mossa illegale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4407407"/>
            <a:ext cx="4718304" cy="8138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Il modello propone una mossa che non è consentita nella posizione.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685031"/>
            <a:ext cx="5157216" cy="1636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36208" y="3685031"/>
            <a:ext cx="68580" cy="1636776"/>
          </a:xfrm>
          <a:prstGeom prst="rect">
            <a:avLst/>
          </a:prstGeom>
          <a:solidFill>
            <a:srgbClr val="E65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55664" y="3867911"/>
            <a:ext cx="4718304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Risposta non interpretabile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407407"/>
            <a:ext cx="4718304" cy="8138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La risposta non contiene esattamente una mossa UCI nel formato previsto.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52/68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RISULTATI QWEN · INTERPRETAZIONE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Perché l’accuratezza dei Qwen è così bassa in questo test?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Gli errori non sono tutti uguali: molti risultati falliscono prima ancora del confronto con la mossa corretta.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901952"/>
            <a:ext cx="5120640" cy="3401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8952" y="1901952"/>
            <a:ext cx="68580" cy="3401568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2084832"/>
            <a:ext cx="4681727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Qwen 3.5 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624328"/>
            <a:ext cx="4681727" cy="2578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C2A40"/>
                </a:solidFill>
                <a:latin typeface="Aptos"/>
              </a:rPr>
              <a:t>Top-1 esatta: 0,070%.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55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C2A40"/>
                </a:solidFill>
                <a:latin typeface="Aptos"/>
              </a:rPr>
              <a:t>La quota più grande è costituita da mosse illegali (68,46%); un’altra parte non supera il parser rigoroso (29,97%).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901952"/>
            <a:ext cx="5120640" cy="3401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81344" y="1901952"/>
            <a:ext cx="68580" cy="3401568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084832"/>
            <a:ext cx="4681727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Qwen 3.5 9B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24328"/>
            <a:ext cx="4681727" cy="2578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C2A40"/>
                </a:solidFill>
                <a:latin typeface="Aptos"/>
              </a:rPr>
              <a:t>Top-1 esatta: 0,116%.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550" b="0">
              <a:solidFill>
                <a:srgbClr val="1C2A4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C2A40"/>
                </a:solidFill>
                <a:latin typeface="Aptos"/>
              </a:rPr>
              <a:t>Diminuiscono le mosse illegali (33,67%), ma aumentano le risposte non interpretabili nel formato richiesto (61,42%).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50992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724144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I dati supportano il confronto eseguito, non la superiorità assoluta di una famiglia di modelli.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53/68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TEST ESTERNO · PERCHÉ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Perché abbiamo cercato puzzle fuori da Lichess?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Un modello può riuscire bene su puzzle simili al training e meno bene su problemi di origine diversa.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9384"/>
            <a:ext cx="5148072" cy="3419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29384"/>
            <a:ext cx="68580" cy="3419856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112264"/>
            <a:ext cx="470916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Che cosa significa held-out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51760"/>
            <a:ext cx="4709160" cy="2596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A40"/>
                </a:solidFill>
                <a:latin typeface="Aptos"/>
              </a:rPr>
              <a:t>Una raccolta separata: non usata per addestrare, scegliere iperparametri o selezionare il checkpoint. Serve a verificare il comportamento su esempi esterni.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929384"/>
            <a:ext cx="5148072" cy="3419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929384"/>
            <a:ext cx="68580" cy="3419856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2112264"/>
            <a:ext cx="470916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Perché YACPDB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709160" cy="2596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A40"/>
                </a:solidFill>
                <a:latin typeface="Aptos"/>
              </a:rPr>
              <a:t>YACPDB raccoglie composizioni scacchistiche, non semplici ritagli da partite Lichess. Abbiamo scelto problemi di matto diretto dal matto in 1 fino al matto in 10.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69280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742432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La differenza rispetto a Lichess riguarda distribuzione, origine e stile, non soltanto la difficoltà.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54/68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VERIFICA DELLE SOLUZIONI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Che cos’è Popeye e perché ci è servito?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Popeye è un software specializzato nell’analisi e nella verifica di problemi scacchistici di composizione.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92807"/>
            <a:ext cx="51389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92807"/>
            <a:ext cx="68580" cy="3383280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75688"/>
            <a:ext cx="470001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253B"/>
                </a:solidFill>
                <a:latin typeface="Aptos"/>
              </a:rPr>
              <a:t>Perché non bastava fidarci del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15184"/>
            <a:ext cx="4700016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Le composizioni possono avere chiavi alternative, più soluzioni o casi complessi da interpretare. Volevamo un controllo indipendente delle soluzioni registrate.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892807"/>
            <a:ext cx="51389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0488" y="1892807"/>
            <a:ext cx="68580" cy="3383280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9944" y="2075688"/>
            <a:ext cx="470001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253B"/>
                </a:solidFill>
                <a:latin typeface="Aptos"/>
              </a:rPr>
              <a:t>Che cosa abbiamo verificato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615184"/>
            <a:ext cx="4700016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Abbiamo fatto controllare le composizioni a Popeye: 193 su 200 sono state verificate nel tempo disponibile. Le 7 con timeout non sono state classificate come errate.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696712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188 verifiche con chiave unica · 5 con più chiavi · 7 timeout da documentare.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55/68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UN TEST FUORI DA LICHESS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YACPDB: puzzle classici mai usati in addestramento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200 problemi di composizione, dal matto in 1 al matto in 10: un test molto diverso da Lichess.</a:t>
            </a:r>
            <a:endParaRPr lang="it-IT" sz="1300"/>
          </a:p>
        </p:txBody>
      </p:sp>
      <p:sp>
        <p:nvSpPr>
          <p:cNvPr id="6" name="Box"/>
          <p:cNvSpPr/>
          <p:nvPr/>
        </p:nvSpPr>
        <p:spPr>
          <a:xfrm>
            <a:off x="457200" y="1664208"/>
            <a:ext cx="14813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7DFF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7"/>
          <p:cNvSpPr txBox="1"/>
          <p:nvPr/>
        </p:nvSpPr>
        <p:spPr>
          <a:xfrm>
            <a:off x="512064" y="173736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377DFF"/>
                </a:solidFill>
                <a:latin typeface="Aptos"/>
              </a:rPr>
              <a:t>YACPDB</a:t>
            </a:r>
            <a:endParaRPr lang="it-IT" sz="1200"/>
          </a:p>
        </p:txBody>
      </p:sp>
      <p:sp>
        <p:nvSpPr>
          <p:cNvPr id="8" name="Text 8"/>
          <p:cNvSpPr txBox="1"/>
          <p:nvPr/>
        </p:nvSpPr>
        <p:spPr>
          <a:xfrm>
            <a:off x="457200" y="2304288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>
                <a:solidFill>
                  <a:srgbClr val="5C6B7A"/>
                </a:solidFill>
                <a:latin typeface="Aptos"/>
              </a:rPr>
              <a:t>2.000 esaminati</a:t>
            </a:r>
            <a:endParaRPr lang="it-IT" sz="900"/>
          </a:p>
        </p:txBody>
      </p:sp>
      <p:sp>
        <p:nvSpPr>
          <p:cNvPr id="9" name="Connector 9"/>
          <p:cNvSpPr/>
          <p:nvPr/>
        </p:nvSpPr>
        <p:spPr>
          <a:xfrm>
            <a:off x="1965960" y="1947672"/>
            <a:ext cx="320040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Box"/>
          <p:cNvSpPr/>
          <p:nvPr/>
        </p:nvSpPr>
        <p:spPr>
          <a:xfrm>
            <a:off x="2377440" y="1664208"/>
            <a:ext cx="14813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11"/>
          <p:cNvSpPr txBox="1"/>
          <p:nvPr/>
        </p:nvSpPr>
        <p:spPr>
          <a:xfrm>
            <a:off x="2432304" y="173736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18A6A6"/>
                </a:solidFill>
                <a:latin typeface="Aptos"/>
              </a:rPr>
              <a:t>Filtra i validi</a:t>
            </a:r>
            <a:endParaRPr lang="it-IT" sz="1200"/>
          </a:p>
        </p:txBody>
      </p:sp>
      <p:sp>
        <p:nvSpPr>
          <p:cNvPr id="12" name="Text 12"/>
          <p:cNvSpPr txBox="1"/>
          <p:nvPr/>
        </p:nvSpPr>
        <p:spPr>
          <a:xfrm>
            <a:off x="2377440" y="2304288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>
                <a:solidFill>
                  <a:srgbClr val="5C6B7A"/>
                </a:solidFill>
                <a:latin typeface="Aptos"/>
              </a:rPr>
              <a:t>1.540</a:t>
            </a:r>
            <a:endParaRPr lang="it-IT" sz="900"/>
          </a:p>
        </p:txBody>
      </p:sp>
      <p:sp>
        <p:nvSpPr>
          <p:cNvPr id="13" name="Connector 13"/>
          <p:cNvSpPr/>
          <p:nvPr/>
        </p:nvSpPr>
        <p:spPr>
          <a:xfrm>
            <a:off x="3886200" y="1947672"/>
            <a:ext cx="320039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Box"/>
          <p:cNvSpPr/>
          <p:nvPr/>
        </p:nvSpPr>
        <p:spPr>
          <a:xfrm>
            <a:off x="4297680" y="1664208"/>
            <a:ext cx="14813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93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5"/>
          <p:cNvSpPr txBox="1"/>
          <p:nvPr/>
        </p:nvSpPr>
        <p:spPr>
          <a:xfrm>
            <a:off x="4352544" y="173736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F2A93B"/>
                </a:solidFill>
                <a:latin typeface="Aptos"/>
              </a:rPr>
              <a:t>Ne sceglie 200</a:t>
            </a:r>
            <a:endParaRPr lang="it-IT" sz="1200"/>
          </a:p>
        </p:txBody>
      </p:sp>
      <p:sp>
        <p:nvSpPr>
          <p:cNvPr id="16" name="Text 16"/>
          <p:cNvSpPr txBox="1"/>
          <p:nvPr/>
        </p:nvSpPr>
        <p:spPr>
          <a:xfrm>
            <a:off x="4297680" y="2304288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>
                <a:solidFill>
                  <a:srgbClr val="5C6B7A"/>
                </a:solidFill>
                <a:latin typeface="Aptos"/>
              </a:rPr>
              <a:t>200</a:t>
            </a:r>
            <a:endParaRPr lang="it-IT" sz="900"/>
          </a:p>
        </p:txBody>
      </p:sp>
      <p:sp>
        <p:nvSpPr>
          <p:cNvPr id="17" name="Connector 17"/>
          <p:cNvSpPr/>
          <p:nvPr/>
        </p:nvSpPr>
        <p:spPr>
          <a:xfrm>
            <a:off x="5806440" y="1947672"/>
            <a:ext cx="320040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Box"/>
          <p:cNvSpPr/>
          <p:nvPr/>
        </p:nvSpPr>
        <p:spPr>
          <a:xfrm>
            <a:off x="6217920" y="1664208"/>
            <a:ext cx="14813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68E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9"/>
          <p:cNvSpPr txBox="1"/>
          <p:nvPr/>
        </p:nvSpPr>
        <p:spPr>
          <a:xfrm>
            <a:off x="6272784" y="173736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7868E6"/>
                </a:solidFill>
                <a:latin typeface="Aptos"/>
              </a:rPr>
              <a:t>Verifica con Popeye</a:t>
            </a:r>
            <a:endParaRPr lang="it-IT" sz="1200"/>
          </a:p>
        </p:txBody>
      </p:sp>
      <p:sp>
        <p:nvSpPr>
          <p:cNvPr id="20" name="Text 20"/>
          <p:cNvSpPr txBox="1"/>
          <p:nvPr/>
        </p:nvSpPr>
        <p:spPr>
          <a:xfrm>
            <a:off x="6217920" y="2304288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>
                <a:solidFill>
                  <a:srgbClr val="5C6B7A"/>
                </a:solidFill>
                <a:latin typeface="Aptos"/>
              </a:rPr>
              <a:t>193 verificati</a:t>
            </a:r>
            <a:endParaRPr lang="it-IT" sz="900"/>
          </a:p>
        </p:txBody>
      </p:sp>
      <p:sp>
        <p:nvSpPr>
          <p:cNvPr id="21" name="Connector 21"/>
          <p:cNvSpPr/>
          <p:nvPr/>
        </p:nvSpPr>
        <p:spPr>
          <a:xfrm>
            <a:off x="7726680" y="1947672"/>
            <a:ext cx="320039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2" name="Box"/>
          <p:cNvSpPr/>
          <p:nvPr/>
        </p:nvSpPr>
        <p:spPr>
          <a:xfrm>
            <a:off x="8138160" y="1664208"/>
            <a:ext cx="14813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3"/>
          <p:cNvSpPr txBox="1"/>
          <p:nvPr/>
        </p:nvSpPr>
        <p:spPr>
          <a:xfrm>
            <a:off x="8193024" y="173736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E85D75"/>
                </a:solidFill>
                <a:latin typeface="Aptos"/>
              </a:rPr>
              <a:t>Blocca il dataset</a:t>
            </a:r>
            <a:endParaRPr lang="it-IT" sz="1200"/>
          </a:p>
        </p:txBody>
      </p:sp>
      <p:sp>
        <p:nvSpPr>
          <p:cNvPr id="24" name="Text 24"/>
          <p:cNvSpPr txBox="1"/>
          <p:nvPr/>
        </p:nvSpPr>
        <p:spPr>
          <a:xfrm>
            <a:off x="8138160" y="2304288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>
                <a:solidFill>
                  <a:srgbClr val="5C6B7A"/>
                </a:solidFill>
                <a:latin typeface="Aptos"/>
              </a:rPr>
              <a:t>v1</a:t>
            </a:r>
            <a:endParaRPr lang="it-IT" sz="900"/>
          </a:p>
        </p:txBody>
      </p:sp>
      <p:sp>
        <p:nvSpPr>
          <p:cNvPr id="25" name="Connector 25"/>
          <p:cNvSpPr/>
          <p:nvPr/>
        </p:nvSpPr>
        <p:spPr>
          <a:xfrm>
            <a:off x="9646920" y="1947672"/>
            <a:ext cx="320039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6" name="Box"/>
          <p:cNvSpPr/>
          <p:nvPr/>
        </p:nvSpPr>
        <p:spPr>
          <a:xfrm>
            <a:off x="10058400" y="1664208"/>
            <a:ext cx="14813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7"/>
          <p:cNvSpPr txBox="1"/>
          <p:nvPr/>
        </p:nvSpPr>
        <p:spPr>
          <a:xfrm>
            <a:off x="10113264" y="173736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200" b="1">
                <a:solidFill>
                  <a:srgbClr val="18A6A6"/>
                </a:solidFill>
                <a:latin typeface="Aptos"/>
              </a:rPr>
              <a:t>Confronta le mosse</a:t>
            </a:r>
            <a:endParaRPr lang="it-IT" sz="1200"/>
          </a:p>
        </p:txBody>
      </p:sp>
      <p:sp>
        <p:nvSpPr>
          <p:cNvPr id="28" name="Text 28"/>
          <p:cNvSpPr txBox="1"/>
          <p:nvPr/>
        </p:nvSpPr>
        <p:spPr>
          <a:xfrm>
            <a:off x="10058400" y="2304288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900" b="0">
                <a:solidFill>
                  <a:srgbClr val="5C6B7A"/>
                </a:solidFill>
                <a:latin typeface="Aptos"/>
              </a:rPr>
              <a:t>Prima mossa accettata</a:t>
            </a:r>
            <a:endParaRPr lang="it-IT" sz="900"/>
          </a:p>
        </p:txBody>
      </p:sp>
      <p:sp>
        <p:nvSpPr>
          <p:cNvPr id="29" name="Text 29"/>
          <p:cNvSpPr txBox="1"/>
          <p:nvPr/>
        </p:nvSpPr>
        <p:spPr>
          <a:xfrm>
            <a:off x="777240" y="3063240"/>
            <a:ext cx="1417320" cy="4846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A3</a:t>
            </a:r>
            <a:endParaRPr lang="it-IT" sz="1050"/>
          </a:p>
        </p:txBody>
      </p:sp>
      <p:sp>
        <p:nvSpPr>
          <p:cNvPr id="30" name="Box"/>
          <p:cNvSpPr/>
          <p:nvPr/>
        </p:nvSpPr>
        <p:spPr>
          <a:xfrm>
            <a:off x="2331720" y="3136392"/>
            <a:ext cx="4297680" cy="338328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1" name="Box"/>
          <p:cNvSpPr/>
          <p:nvPr/>
        </p:nvSpPr>
        <p:spPr>
          <a:xfrm>
            <a:off x="2331720" y="3136392"/>
            <a:ext cx="2363724" cy="3383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2"/>
          <p:cNvSpPr txBox="1"/>
          <p:nvPr/>
        </p:nvSpPr>
        <p:spPr>
          <a:xfrm>
            <a:off x="6675120" y="3063240"/>
            <a:ext cx="822960" cy="484632"/>
          </a:xfrm>
          <a:prstGeom prst="rect">
            <a:avLst/>
          </a:prstGeom>
          <a:noFill/>
          <a:ln>
            <a:noFill/>
          </a:ln>
        </p:spPr>
        <p:txBody>
          <a:bodyPr wrap="none" lIns="0" tIns="64008" rIns="0" bIns="64008" anchor="ctr"/>
          <a:lstStyle/>
          <a:p>
            <a:pPr algn="r"/>
            <a:r>
              <a:rPr lang="it-IT" sz="1000" b="1">
                <a:solidFill>
                  <a:srgbClr val="172033"/>
                </a:solidFill>
                <a:latin typeface="Aptos"/>
              </a:rPr>
              <a:t>11.0%</a:t>
            </a:r>
            <a:endParaRPr lang="it-IT" sz="1000"/>
          </a:p>
        </p:txBody>
      </p:sp>
      <p:sp>
        <p:nvSpPr>
          <p:cNvPr id="33" name="Text 33"/>
          <p:cNvSpPr txBox="1"/>
          <p:nvPr/>
        </p:nvSpPr>
        <p:spPr>
          <a:xfrm>
            <a:off x="777240" y="3694176"/>
            <a:ext cx="1417320" cy="4846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A4</a:t>
            </a:r>
            <a:endParaRPr lang="it-IT" sz="1050"/>
          </a:p>
        </p:txBody>
      </p:sp>
      <p:sp>
        <p:nvSpPr>
          <p:cNvPr id="34" name="Box"/>
          <p:cNvSpPr/>
          <p:nvPr/>
        </p:nvSpPr>
        <p:spPr>
          <a:xfrm>
            <a:off x="2331720" y="3767328"/>
            <a:ext cx="4297680" cy="338328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5" name="Box"/>
          <p:cNvSpPr/>
          <p:nvPr/>
        </p:nvSpPr>
        <p:spPr>
          <a:xfrm>
            <a:off x="2331720" y="3767328"/>
            <a:ext cx="3330702" cy="338328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6"/>
          <p:cNvSpPr txBox="1"/>
          <p:nvPr/>
        </p:nvSpPr>
        <p:spPr>
          <a:xfrm>
            <a:off x="6675120" y="3694176"/>
            <a:ext cx="822960" cy="484632"/>
          </a:xfrm>
          <a:prstGeom prst="rect">
            <a:avLst/>
          </a:prstGeom>
          <a:noFill/>
          <a:ln>
            <a:noFill/>
          </a:ln>
        </p:spPr>
        <p:txBody>
          <a:bodyPr wrap="none" lIns="0" tIns="64008" rIns="0" bIns="64008" anchor="ctr"/>
          <a:lstStyle/>
          <a:p>
            <a:pPr algn="r"/>
            <a:r>
              <a:rPr lang="it-IT" sz="1000" b="1">
                <a:solidFill>
                  <a:srgbClr val="172033"/>
                </a:solidFill>
                <a:latin typeface="Aptos"/>
              </a:rPr>
              <a:t>15.5%</a:t>
            </a:r>
            <a:endParaRPr lang="it-IT" sz="1000"/>
          </a:p>
        </p:txBody>
      </p:sp>
      <p:sp>
        <p:nvSpPr>
          <p:cNvPr id="37" name="Text 37"/>
          <p:cNvSpPr txBox="1"/>
          <p:nvPr/>
        </p:nvSpPr>
        <p:spPr>
          <a:xfrm>
            <a:off x="777240" y="4325112"/>
            <a:ext cx="1417320" cy="4846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Qwen 4B</a:t>
            </a:r>
            <a:endParaRPr lang="it-IT" sz="1050"/>
          </a:p>
        </p:txBody>
      </p:sp>
      <p:sp>
        <p:nvSpPr>
          <p:cNvPr id="38" name="Box"/>
          <p:cNvSpPr/>
          <p:nvPr/>
        </p:nvSpPr>
        <p:spPr>
          <a:xfrm>
            <a:off x="2331720" y="4398264"/>
            <a:ext cx="4297680" cy="338328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9" name="Box"/>
          <p:cNvSpPr/>
          <p:nvPr/>
        </p:nvSpPr>
        <p:spPr>
          <a:xfrm>
            <a:off x="2331720" y="4398264"/>
            <a:ext cx="18288" cy="338328"/>
          </a:xfrm>
          <a:prstGeom prst="roundRect">
            <a:avLst/>
          </a:prstGeom>
          <a:solidFill>
            <a:srgbClr val="7B879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40"/>
          <p:cNvSpPr txBox="1"/>
          <p:nvPr/>
        </p:nvSpPr>
        <p:spPr>
          <a:xfrm>
            <a:off x="6675120" y="4325112"/>
            <a:ext cx="822960" cy="484632"/>
          </a:xfrm>
          <a:prstGeom prst="rect">
            <a:avLst/>
          </a:prstGeom>
          <a:noFill/>
          <a:ln>
            <a:noFill/>
          </a:ln>
        </p:spPr>
        <p:txBody>
          <a:bodyPr wrap="none" lIns="0" tIns="64008" rIns="0" bIns="64008" anchor="ctr"/>
          <a:lstStyle/>
          <a:p>
            <a:pPr algn="r"/>
            <a:r>
              <a:rPr lang="it-IT" sz="1000" b="1">
                <a:solidFill>
                  <a:srgbClr val="172033"/>
                </a:solidFill>
                <a:latin typeface="Aptos"/>
              </a:rPr>
              <a:t>0.0%</a:t>
            </a:r>
            <a:endParaRPr lang="it-IT" sz="1000"/>
          </a:p>
        </p:txBody>
      </p:sp>
      <p:sp>
        <p:nvSpPr>
          <p:cNvPr id="41" name="Text 41"/>
          <p:cNvSpPr txBox="1"/>
          <p:nvPr/>
        </p:nvSpPr>
        <p:spPr>
          <a:xfrm>
            <a:off x="777240" y="4956048"/>
            <a:ext cx="1417320" cy="4846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r"/>
            <a:r>
              <a:rPr lang="it-IT" sz="1050" b="1">
                <a:solidFill>
                  <a:srgbClr val="172033"/>
                </a:solidFill>
                <a:latin typeface="Aptos"/>
              </a:rPr>
              <a:t>Qwen 9B</a:t>
            </a:r>
            <a:endParaRPr lang="it-IT" sz="1050"/>
          </a:p>
        </p:txBody>
      </p:sp>
      <p:sp>
        <p:nvSpPr>
          <p:cNvPr id="42" name="Box"/>
          <p:cNvSpPr/>
          <p:nvPr/>
        </p:nvSpPr>
        <p:spPr>
          <a:xfrm>
            <a:off x="2331720" y="5029200"/>
            <a:ext cx="4297680" cy="338328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3" name="Box"/>
          <p:cNvSpPr/>
          <p:nvPr/>
        </p:nvSpPr>
        <p:spPr>
          <a:xfrm>
            <a:off x="2331720" y="5029200"/>
            <a:ext cx="107442" cy="338328"/>
          </a:xfrm>
          <a:prstGeom prst="roundRect">
            <a:avLst/>
          </a:prstGeom>
          <a:solidFill>
            <a:srgbClr val="B0BAC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4"/>
          <p:cNvSpPr txBox="1"/>
          <p:nvPr/>
        </p:nvSpPr>
        <p:spPr>
          <a:xfrm>
            <a:off x="6675120" y="4956048"/>
            <a:ext cx="822960" cy="484632"/>
          </a:xfrm>
          <a:prstGeom prst="rect">
            <a:avLst/>
          </a:prstGeom>
          <a:noFill/>
          <a:ln>
            <a:noFill/>
          </a:ln>
        </p:spPr>
        <p:txBody>
          <a:bodyPr wrap="none" lIns="0" tIns="64008" rIns="0" bIns="64008" anchor="ctr"/>
          <a:lstStyle/>
          <a:p>
            <a:pPr algn="r"/>
            <a:r>
              <a:rPr lang="it-IT" sz="1000" b="1">
                <a:solidFill>
                  <a:srgbClr val="172033"/>
                </a:solidFill>
                <a:latin typeface="Aptos"/>
              </a:rPr>
              <a:t>0.5%</a:t>
            </a:r>
            <a:endParaRPr lang="it-IT" sz="1000"/>
          </a:p>
        </p:txBody>
      </p:sp>
      <p:sp>
        <p:nvSpPr>
          <p:cNvPr id="45" name="Box"/>
          <p:cNvSpPr/>
          <p:nvPr/>
        </p:nvSpPr>
        <p:spPr>
          <a:xfrm>
            <a:off x="7726679" y="3127248"/>
            <a:ext cx="3474720" cy="2121408"/>
          </a:xfrm>
          <a:prstGeom prst="roundRect">
            <a:avLst/>
          </a:prstGeom>
          <a:solidFill>
            <a:srgbClr val="FFF4DD"/>
          </a:solidFill>
          <a:ln w="12700">
            <a:solidFill>
              <a:srgbClr val="F2A93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6"/>
          <p:cNvSpPr txBox="1"/>
          <p:nvPr/>
        </p:nvSpPr>
        <p:spPr>
          <a:xfrm>
            <a:off x="7973568" y="3474720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700" b="1">
                <a:solidFill>
                  <a:srgbClr val="F2A93B"/>
                </a:solidFill>
                <a:latin typeface="Aptos"/>
              </a:rPr>
              <a:t>20 problemi per livello</a:t>
            </a:r>
            <a:endParaRPr lang="it-IT" sz="1700"/>
          </a:p>
        </p:txBody>
      </p:sp>
      <p:sp>
        <p:nvSpPr>
          <p:cNvPr id="47" name="Text 47"/>
          <p:cNvSpPr txBox="1"/>
          <p:nvPr/>
        </p:nvSpPr>
        <p:spPr>
          <a:xfrm>
            <a:off x="8028431" y="4041648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100" b="1">
                <a:solidFill>
                  <a:srgbClr val="172033"/>
                </a:solidFill>
                <a:latin typeface="Aptos"/>
              </a:rPr>
              <a:t>7 problemi non verificati in tempo da Popeye: usiamo la soluzione registrata da YACPDB.</a:t>
            </a:r>
            <a:endParaRPr lang="it-IT" sz="1100"/>
          </a:p>
        </p:txBody>
      </p:sp>
      <p:sp>
        <p:nvSpPr>
          <p:cNvPr id="48" name="Text 48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56/68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PERCHÉ I RISULTATI CALANO?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Su puzzle diversi, i modelli faticano di più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I puzzle classici cambiano stile, origine e profondità: i modelli non li hanno incontrati in addestramento.</a:t>
            </a:r>
            <a:endParaRPr lang="it-IT" sz="1300"/>
          </a:p>
        </p:txBody>
      </p:sp>
      <p:sp>
        <p:nvSpPr>
          <p:cNvPr id="6" name="Box"/>
          <p:cNvSpPr/>
          <p:nvPr/>
        </p:nvSpPr>
        <p:spPr>
          <a:xfrm>
            <a:off x="777240" y="1691640"/>
            <a:ext cx="4983480" cy="3611880"/>
          </a:xfrm>
          <a:prstGeom prst="roundRect">
            <a:avLst/>
          </a:prstGeom>
          <a:solidFill>
            <a:srgbClr val="E7F7F5"/>
          </a:solidFill>
          <a:ln w="12700">
            <a:solidFill>
              <a:srgbClr val="18A6A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7"/>
          <p:cNvSpPr txBox="1"/>
          <p:nvPr/>
        </p:nvSpPr>
        <p:spPr>
          <a:xfrm>
            <a:off x="1051560" y="2011680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700" b="1">
                <a:solidFill>
                  <a:srgbClr val="18A6A6"/>
                </a:solidFill>
                <a:latin typeface="Aptos"/>
              </a:rPr>
              <a:t>A3</a:t>
            </a:r>
            <a:endParaRPr lang="it-IT" sz="1700"/>
          </a:p>
        </p:txBody>
      </p:sp>
      <p:sp>
        <p:nvSpPr>
          <p:cNvPr id="8" name="Text 8"/>
          <p:cNvSpPr txBox="1"/>
          <p:nvPr/>
        </p:nvSpPr>
        <p:spPr>
          <a:xfrm>
            <a:off x="1143000" y="267004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2800" b="1">
                <a:solidFill>
                  <a:srgbClr val="172033"/>
                </a:solidFill>
                <a:latin typeface="Aptos"/>
              </a:rPr>
              <a:t>67,561%</a:t>
            </a:r>
            <a:endParaRPr lang="it-IT" sz="2800"/>
          </a:p>
        </p:txBody>
      </p:sp>
      <p:sp>
        <p:nvSpPr>
          <p:cNvPr id="9" name="Connector 9"/>
          <p:cNvSpPr/>
          <p:nvPr/>
        </p:nvSpPr>
        <p:spPr>
          <a:xfrm>
            <a:off x="3246120" y="2926080"/>
            <a:ext cx="640080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10"/>
          <p:cNvSpPr txBox="1"/>
          <p:nvPr/>
        </p:nvSpPr>
        <p:spPr>
          <a:xfrm>
            <a:off x="3886200" y="2670048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2800" b="1">
                <a:solidFill>
                  <a:srgbClr val="E85D75"/>
                </a:solidFill>
                <a:latin typeface="Aptos"/>
              </a:rPr>
              <a:t>11,0%</a:t>
            </a:r>
            <a:endParaRPr lang="it-IT" sz="2800"/>
          </a:p>
        </p:txBody>
      </p:sp>
      <p:sp>
        <p:nvSpPr>
          <p:cNvPr id="11" name="Text 11"/>
          <p:cNvSpPr txBox="1"/>
          <p:nvPr/>
        </p:nvSpPr>
        <p:spPr>
          <a:xfrm>
            <a:off x="1417320" y="395020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800" b="1">
                <a:solidFill>
                  <a:srgbClr val="E85D75"/>
                </a:solidFill>
                <a:latin typeface="Aptos"/>
              </a:rPr>
              <a:t>−56,56 pp</a:t>
            </a:r>
            <a:endParaRPr lang="it-IT" sz="1800"/>
          </a:p>
        </p:txBody>
      </p:sp>
      <p:sp>
        <p:nvSpPr>
          <p:cNvPr id="12" name="Box"/>
          <p:cNvSpPr/>
          <p:nvPr/>
        </p:nvSpPr>
        <p:spPr>
          <a:xfrm>
            <a:off x="6400800" y="1691640"/>
            <a:ext cx="4983480" cy="3611880"/>
          </a:xfrm>
          <a:prstGeom prst="roundRect">
            <a:avLst/>
          </a:prstGeom>
          <a:solidFill>
            <a:srgbClr val="FDECEF"/>
          </a:solidFill>
          <a:ln w="12700">
            <a:solidFill>
              <a:srgbClr val="E85D75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3"/>
          <p:cNvSpPr txBox="1"/>
          <p:nvPr/>
        </p:nvSpPr>
        <p:spPr>
          <a:xfrm>
            <a:off x="6675120" y="2011680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700" b="1">
                <a:solidFill>
                  <a:srgbClr val="E85D75"/>
                </a:solidFill>
                <a:latin typeface="Aptos"/>
              </a:rPr>
              <a:t>A4</a:t>
            </a:r>
            <a:endParaRPr lang="it-IT" sz="1700"/>
          </a:p>
        </p:txBody>
      </p:sp>
      <p:sp>
        <p:nvSpPr>
          <p:cNvPr id="14" name="Text 14"/>
          <p:cNvSpPr txBox="1"/>
          <p:nvPr/>
        </p:nvSpPr>
        <p:spPr>
          <a:xfrm>
            <a:off x="6766560" y="267004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2800" b="1">
                <a:solidFill>
                  <a:srgbClr val="172033"/>
                </a:solidFill>
                <a:latin typeface="Aptos"/>
              </a:rPr>
              <a:t>85,412%</a:t>
            </a:r>
            <a:endParaRPr lang="it-IT" sz="2800"/>
          </a:p>
        </p:txBody>
      </p:sp>
      <p:sp>
        <p:nvSpPr>
          <p:cNvPr id="15" name="Connector 15"/>
          <p:cNvSpPr/>
          <p:nvPr/>
        </p:nvSpPr>
        <p:spPr>
          <a:xfrm>
            <a:off x="8869680" y="2926080"/>
            <a:ext cx="640080" cy="914"/>
          </a:xfrm>
          <a:prstGeom prst="line">
            <a:avLst/>
          </a:prstGeom>
          <a:ln w="25400">
            <a:solidFill>
              <a:srgbClr val="8EA0B2"/>
            </a:solidFill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6"/>
          <p:cNvSpPr txBox="1"/>
          <p:nvPr/>
        </p:nvSpPr>
        <p:spPr>
          <a:xfrm>
            <a:off x="9509760" y="2670048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2800" b="1">
                <a:solidFill>
                  <a:srgbClr val="E85D75"/>
                </a:solidFill>
                <a:latin typeface="Aptos"/>
              </a:rPr>
              <a:t>15,5%</a:t>
            </a:r>
            <a:endParaRPr lang="it-IT" sz="2800"/>
          </a:p>
        </p:txBody>
      </p:sp>
      <p:sp>
        <p:nvSpPr>
          <p:cNvPr id="17" name="Text 17"/>
          <p:cNvSpPr txBox="1"/>
          <p:nvPr/>
        </p:nvSpPr>
        <p:spPr>
          <a:xfrm>
            <a:off x="7040880" y="395020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800" b="1">
                <a:solidFill>
                  <a:srgbClr val="E85D75"/>
                </a:solidFill>
                <a:latin typeface="Aptos"/>
              </a:rPr>
              <a:t>−69,91 pp</a:t>
            </a:r>
            <a:endParaRPr lang="it-IT" sz="1800"/>
          </a:p>
        </p:txBody>
      </p:sp>
      <p:sp>
        <p:nvSpPr>
          <p:cNvPr id="18" name="Text 18"/>
          <p:cNvSpPr txBox="1"/>
          <p:nvPr/>
        </p:nvSpPr>
        <p:spPr>
          <a:xfrm>
            <a:off x="868680" y="566928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200" b="1">
                <a:solidFill>
                  <a:srgbClr val="5C6B7A"/>
                </a:solidFill>
                <a:latin typeface="Aptos"/>
              </a:rPr>
              <a:t>Lichess nasce da partite reali; YACPDB raccoglie composizioni. È un cambiamento di tipo di problemi, non solo di difficoltà.</a:t>
            </a:r>
            <a:endParaRPr lang="it-IT" sz="1200"/>
          </a:p>
        </p:txBody>
      </p:sp>
      <p:sp>
        <p:nvSpPr>
          <p:cNvPr id="19" name="Text 19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57/68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5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1371600" cy="5120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CA59F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01952"/>
            <a:ext cx="1088136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Aptos"/>
              </a:rPr>
              <a:t>La WebUI di GraphMate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163824"/>
            <a:ext cx="97840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Un’interfaccia per esplorare puzzle, confrontare modelli e capire le relazioni presenti nel grafo.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GRAPHMATE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58/68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WEBUI · OBIETTIVO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Perché abbiamo costruito anche un’interfaccia web?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Un modello non si comprende soltanto osservando numeri: è utile provare posizioni concrete e vedere le mosse proposte.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11095"/>
            <a:ext cx="5138928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1911095"/>
            <a:ext cx="68580" cy="3410712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093976"/>
            <a:ext cx="470001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Per chi usa il progetto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633472"/>
            <a:ext cx="4700016" cy="25877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Si può selezionare un puzzle, visualizzare la scacchiera, leggere una previsione e confrontarla con la soluzione. In questo modo i risultati diventano osservabili su casi specifici.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11095"/>
            <a:ext cx="5138928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0488" y="1911095"/>
            <a:ext cx="68580" cy="3410712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9944" y="2093976"/>
            <a:ext cx="470001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Per chi lo sviluppa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633472"/>
            <a:ext cx="4700016" cy="25877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Il debugger permette di ispezionare la rappresentazione a grafo, attivare filtri sulle relazioni e individuare errori di costruzione dei dati o di inferenza.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696712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È uno strumento di dimostrazione e debug, non un motore autonomo per giocare intere partite.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59/68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COME SI USA IL FRAMEWORK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L’interfaccia permette di esplorare e provare i puzzle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Questa è una rappresentazione delle funzioni implementate, non una schermata reale.</a:t>
            </a:r>
            <a:endParaRPr lang="it-IT" sz="1300"/>
          </a:p>
        </p:txBody>
      </p:sp>
      <p:sp>
        <p:nvSpPr>
          <p:cNvPr id="6" name="Box"/>
          <p:cNvSpPr/>
          <p:nvPr/>
        </p:nvSpPr>
        <p:spPr>
          <a:xfrm>
            <a:off x="685800" y="1463040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Box"/>
          <p:cNvSpPr/>
          <p:nvPr/>
        </p:nvSpPr>
        <p:spPr>
          <a:xfrm>
            <a:off x="685800" y="1463040"/>
            <a:ext cx="2240280" cy="4526280"/>
          </a:xfrm>
          <a:prstGeom prst="roundRect">
            <a:avLst/>
          </a:prstGeom>
          <a:solidFill>
            <a:srgbClr val="142033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8"/>
          <p:cNvSpPr txBox="1"/>
          <p:nvPr/>
        </p:nvSpPr>
        <p:spPr>
          <a:xfrm>
            <a:off x="932688" y="1755648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600" b="1">
                <a:solidFill>
                  <a:srgbClr val="FFFFFF"/>
                </a:solidFill>
                <a:latin typeface="Aptos"/>
              </a:rPr>
              <a:t>Chess GNN Debugger</a:t>
            </a:r>
            <a:endParaRPr lang="it-IT" sz="1600"/>
          </a:p>
        </p:txBody>
      </p:sp>
      <p:sp>
        <p:nvSpPr>
          <p:cNvPr id="9" name="Box"/>
          <p:cNvSpPr/>
          <p:nvPr/>
        </p:nvSpPr>
        <p:spPr>
          <a:xfrm>
            <a:off x="914400" y="2606040"/>
            <a:ext cx="1783080" cy="329184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10"/>
          <p:cNvSpPr txBox="1"/>
          <p:nvPr/>
        </p:nvSpPr>
        <p:spPr>
          <a:xfrm>
            <a:off x="914400" y="2615184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000" b="1">
                <a:solidFill>
                  <a:srgbClr val="35BDE7"/>
                </a:solidFill>
                <a:latin typeface="Aptos"/>
              </a:rPr>
              <a:t>Scegli i puzzle</a:t>
            </a:r>
            <a:endParaRPr lang="it-IT" sz="1000"/>
          </a:p>
        </p:txBody>
      </p:sp>
      <p:sp>
        <p:nvSpPr>
          <p:cNvPr id="11" name="Box"/>
          <p:cNvSpPr/>
          <p:nvPr/>
        </p:nvSpPr>
        <p:spPr>
          <a:xfrm>
            <a:off x="914400" y="3172968"/>
            <a:ext cx="1783080" cy="329184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2"/>
          <p:cNvSpPr txBox="1"/>
          <p:nvPr/>
        </p:nvSpPr>
        <p:spPr>
          <a:xfrm>
            <a:off x="914400" y="3182112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000" b="1">
                <a:solidFill>
                  <a:srgbClr val="35BDE7"/>
                </a:solidFill>
                <a:latin typeface="Aptos"/>
              </a:rPr>
              <a:t>Scacchiera e grafo</a:t>
            </a:r>
            <a:endParaRPr lang="it-IT" sz="1000"/>
          </a:p>
        </p:txBody>
      </p:sp>
      <p:sp>
        <p:nvSpPr>
          <p:cNvPr id="13" name="Box"/>
          <p:cNvSpPr/>
          <p:nvPr/>
        </p:nvSpPr>
        <p:spPr>
          <a:xfrm>
            <a:off x="914400" y="3739896"/>
            <a:ext cx="1783080" cy="329184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4"/>
          <p:cNvSpPr txBox="1"/>
          <p:nvPr/>
        </p:nvSpPr>
        <p:spPr>
          <a:xfrm>
            <a:off x="914400" y="3749039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000" b="1">
                <a:solidFill>
                  <a:srgbClr val="35BDE7"/>
                </a:solidFill>
                <a:latin typeface="Aptos"/>
              </a:rPr>
              <a:t>Mostra le relazioni</a:t>
            </a:r>
            <a:endParaRPr lang="it-IT" sz="1000"/>
          </a:p>
        </p:txBody>
      </p:sp>
      <p:sp>
        <p:nvSpPr>
          <p:cNvPr id="15" name="Box"/>
          <p:cNvSpPr/>
          <p:nvPr/>
        </p:nvSpPr>
        <p:spPr>
          <a:xfrm>
            <a:off x="914400" y="4306824"/>
            <a:ext cx="1783080" cy="329184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6"/>
          <p:cNvSpPr txBox="1"/>
          <p:nvPr/>
        </p:nvSpPr>
        <p:spPr>
          <a:xfrm>
            <a:off x="914400" y="431596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000" b="1">
                <a:solidFill>
                  <a:srgbClr val="35BDE7"/>
                </a:solidFill>
                <a:latin typeface="Aptos"/>
              </a:rPr>
              <a:t>Cambia l’esempio</a:t>
            </a:r>
            <a:endParaRPr lang="it-IT" sz="1000"/>
          </a:p>
        </p:txBody>
      </p:sp>
      <p:pic>
        <p:nvPicPr>
          <p:cNvPr id="17" name="Imag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874519"/>
            <a:ext cx="3017520" cy="3017520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6720840" y="181051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700" b="1">
                <a:solidFill>
                  <a:srgbClr val="172033"/>
                </a:solidFill>
                <a:latin typeface="Aptos"/>
              </a:rPr>
              <a:t>Play, Predict, Compare</a:t>
            </a:r>
            <a:endParaRPr lang="it-IT" sz="1700"/>
          </a:p>
        </p:txBody>
      </p:sp>
      <p:sp>
        <p:nvSpPr>
          <p:cNvPr id="19" name="Box"/>
          <p:cNvSpPr/>
          <p:nvPr/>
        </p:nvSpPr>
        <p:spPr>
          <a:xfrm>
            <a:off x="6720840" y="2331720"/>
            <a:ext cx="960120" cy="329184"/>
          </a:xfrm>
          <a:prstGeom prst="roundRect">
            <a:avLst/>
          </a:prstGeom>
          <a:solidFill>
            <a:srgbClr val="E7F7F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20"/>
          <p:cNvSpPr txBox="1"/>
          <p:nvPr/>
        </p:nvSpPr>
        <p:spPr>
          <a:xfrm>
            <a:off x="6720840" y="2340863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000" b="1">
                <a:solidFill>
                  <a:srgbClr val="18A6A6"/>
                </a:solidFill>
                <a:latin typeface="Aptos"/>
              </a:rPr>
              <a:t>Puzzle</a:t>
            </a:r>
            <a:endParaRPr lang="it-IT" sz="1000"/>
          </a:p>
        </p:txBody>
      </p:sp>
      <p:sp>
        <p:nvSpPr>
          <p:cNvPr id="21" name="Box"/>
          <p:cNvSpPr/>
          <p:nvPr/>
        </p:nvSpPr>
        <p:spPr>
          <a:xfrm>
            <a:off x="7799831" y="2331720"/>
            <a:ext cx="960120" cy="329184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2"/>
          <p:cNvSpPr txBox="1"/>
          <p:nvPr/>
        </p:nvSpPr>
        <p:spPr>
          <a:xfrm>
            <a:off x="7799831" y="2340863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000" b="1">
                <a:solidFill>
                  <a:srgbClr val="18A6A6"/>
                </a:solidFill>
                <a:latin typeface="Aptos"/>
              </a:rPr>
              <a:t>Model</a:t>
            </a:r>
            <a:endParaRPr lang="it-IT" sz="1000"/>
          </a:p>
        </p:txBody>
      </p:sp>
      <p:sp>
        <p:nvSpPr>
          <p:cNvPr id="23" name="Box"/>
          <p:cNvSpPr/>
          <p:nvPr/>
        </p:nvSpPr>
        <p:spPr>
          <a:xfrm>
            <a:off x="8878824" y="2331720"/>
            <a:ext cx="960120" cy="329184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4"/>
          <p:cNvSpPr txBox="1"/>
          <p:nvPr/>
        </p:nvSpPr>
        <p:spPr>
          <a:xfrm>
            <a:off x="8878824" y="2340863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000" b="1">
                <a:solidFill>
                  <a:srgbClr val="18A6A6"/>
                </a:solidFill>
                <a:latin typeface="Aptos"/>
              </a:rPr>
              <a:t>Performance</a:t>
            </a:r>
            <a:endParaRPr lang="it-IT" sz="1000"/>
          </a:p>
        </p:txBody>
      </p:sp>
      <p:sp>
        <p:nvSpPr>
          <p:cNvPr id="25" name="Box"/>
          <p:cNvSpPr/>
          <p:nvPr/>
        </p:nvSpPr>
        <p:spPr>
          <a:xfrm>
            <a:off x="9957816" y="2331720"/>
            <a:ext cx="960120" cy="329184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6"/>
          <p:cNvSpPr txBox="1"/>
          <p:nvPr/>
        </p:nvSpPr>
        <p:spPr>
          <a:xfrm>
            <a:off x="9957816" y="2340863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000" b="1">
                <a:solidFill>
                  <a:srgbClr val="18A6A6"/>
                </a:solidFill>
                <a:latin typeface="Aptos"/>
              </a:rPr>
              <a:t>Advanced</a:t>
            </a:r>
            <a:endParaRPr lang="it-IT" sz="1000"/>
          </a:p>
        </p:txBody>
      </p:sp>
      <p:sp>
        <p:nvSpPr>
          <p:cNvPr id="27" name="Box"/>
          <p:cNvSpPr/>
          <p:nvPr/>
        </p:nvSpPr>
        <p:spPr>
          <a:xfrm>
            <a:off x="6720840" y="2907792"/>
            <a:ext cx="4160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8" name="Box"/>
          <p:cNvSpPr/>
          <p:nvPr/>
        </p:nvSpPr>
        <p:spPr>
          <a:xfrm>
            <a:off x="6720840" y="2907792"/>
            <a:ext cx="73152" cy="960120"/>
          </a:xfrm>
          <a:prstGeom prst="roundRect">
            <a:avLst/>
          </a:prstGeom>
          <a:solidFill>
            <a:srgbClr val="377D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9"/>
          <p:cNvSpPr txBox="1"/>
          <p:nvPr/>
        </p:nvSpPr>
        <p:spPr>
          <a:xfrm>
            <a:off x="6949440" y="3072384"/>
            <a:ext cx="3749039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Situazione attuale</a:t>
            </a:r>
            <a:endParaRPr lang="it-IT" sz="1600"/>
          </a:p>
        </p:txBody>
      </p:sp>
      <p:sp>
        <p:nvSpPr>
          <p:cNvPr id="30" name="Text 30"/>
          <p:cNvSpPr txBox="1"/>
          <p:nvPr/>
        </p:nvSpPr>
        <p:spPr>
          <a:xfrm>
            <a:off x="6949440" y="3566160"/>
            <a:ext cx="3749039" cy="15544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Puoi giocare, chiedere un indizio o vedere la soluzione</a:t>
            </a:r>
            <a:endParaRPr lang="it-IT" sz="1150"/>
          </a:p>
        </p:txBody>
      </p:sp>
      <p:sp>
        <p:nvSpPr>
          <p:cNvPr id="31" name="Box"/>
          <p:cNvSpPr/>
          <p:nvPr/>
        </p:nvSpPr>
        <p:spPr>
          <a:xfrm>
            <a:off x="6720840" y="4096512"/>
            <a:ext cx="4160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2" name="Box"/>
          <p:cNvSpPr/>
          <p:nvPr/>
        </p:nvSpPr>
        <p:spPr>
          <a:xfrm>
            <a:off x="6720840" y="4096512"/>
            <a:ext cx="73152" cy="960120"/>
          </a:xfrm>
          <a:prstGeom prst="roundRect">
            <a:avLst/>
          </a:prstGeom>
          <a:solidFill>
            <a:srgbClr val="7868E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3"/>
          <p:cNvSpPr txBox="1"/>
          <p:nvPr/>
        </p:nvSpPr>
        <p:spPr>
          <a:xfrm>
            <a:off x="6949440" y="4261104"/>
            <a:ext cx="3749039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Modelli disponibili</a:t>
            </a:r>
            <a:endParaRPr lang="it-IT" sz="1600"/>
          </a:p>
        </p:txBody>
      </p:sp>
      <p:sp>
        <p:nvSpPr>
          <p:cNvPr id="34" name="Text 34"/>
          <p:cNvSpPr txBox="1"/>
          <p:nvPr/>
        </p:nvSpPr>
        <p:spPr>
          <a:xfrm>
            <a:off x="6949440" y="4754880"/>
            <a:ext cx="3749039" cy="15544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Prova A, A1, A2 e A3; consulta i risultati degli altri</a:t>
            </a:r>
            <a:endParaRPr lang="it-IT" sz="1150"/>
          </a:p>
        </p:txBody>
      </p:sp>
      <p:sp>
        <p:nvSpPr>
          <p:cNvPr id="35" name="Text 35"/>
          <p:cNvSpPr txBox="1"/>
          <p:nvPr/>
        </p:nvSpPr>
        <p:spPr>
          <a:xfrm>
            <a:off x="3246120" y="5257800"/>
            <a:ext cx="7635240" cy="41148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100" b="1">
                <a:solidFill>
                  <a:srgbClr val="E85D75"/>
                </a:solidFill>
                <a:latin typeface="Aptos"/>
              </a:rPr>
              <a:t>Nella UI B e A4 non sono eseguibili; le risposte avversarie seguono la soluzione registrata.</a:t>
            </a:r>
            <a:endParaRPr lang="it-IT" sz="1100"/>
          </a:p>
        </p:txBody>
      </p:sp>
      <p:sp>
        <p:nvSpPr>
          <p:cNvPr id="36" name="Text 36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60/68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WEBUI · PERCORSO UTENTE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Dalla scelta del puzzle al suggerimento del modello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La stessa posizione corrente viene mostrata sulla scacchiera e usata per fare inferenza.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01952"/>
            <a:ext cx="5093208" cy="1636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1901952"/>
            <a:ext cx="68580" cy="1636776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465429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1. Scegli un puzzle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624328"/>
            <a:ext cx="4654296" cy="8138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Per difficoltà, profondità o campione desiderato.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901952"/>
            <a:ext cx="5093208" cy="1636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6208" y="1901952"/>
            <a:ext cx="68580" cy="1636776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2084832"/>
            <a:ext cx="465429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2. Esamina la scacchiera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624328"/>
            <a:ext cx="4654296" cy="8138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Vedi la posizione corrente, non solo il FEN originale.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749039"/>
            <a:ext cx="5093208" cy="1636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9808" y="3749039"/>
            <a:ext cx="68580" cy="1636776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3931920"/>
            <a:ext cx="465429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3. Chiedi un suggerimento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471416"/>
            <a:ext cx="4654296" cy="8138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Selezioni il modello e visualizzi la mossa prevista.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749039"/>
            <a:ext cx="5093208" cy="1636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36208" y="3749039"/>
            <a:ext cx="68580" cy="1636776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55664" y="3931920"/>
            <a:ext cx="4654296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253B"/>
                </a:solidFill>
                <a:latin typeface="Aptos"/>
              </a:rPr>
              <a:t>4. Confronta con la soluzione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471416"/>
            <a:ext cx="4654296" cy="8138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A40"/>
                </a:solidFill>
                <a:latin typeface="Aptos"/>
              </a:rPr>
              <a:t>Puoi giocare e seguire le risposte dell’avversario registrate nel puzzle.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61/68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WEBUI · VISTE DEDICATE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Che cosa si può osservare oltre alla mossa?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La UI aiuta a collegare risultati, comportamento del modello e struttura dei dati.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01952"/>
            <a:ext cx="3438144" cy="3364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901952"/>
            <a:ext cx="68580" cy="3364992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2"/>
            <a:ext cx="2999232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Puzzle e modelli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24328"/>
            <a:ext cx="2999232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Gioco interattivo, scelta del modello e predizioni nella posizione corrente.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901952"/>
            <a:ext cx="3438144" cy="3364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9976" y="1901952"/>
            <a:ext cx="68580" cy="3364992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2084832"/>
            <a:ext cx="2999232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624328"/>
            <a:ext cx="2999232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Risultati già valutati e confronti fra modelli, con attenzione alla popolazione di test.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01952"/>
            <a:ext cx="3438144" cy="3364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901952"/>
            <a:ext cx="68580" cy="3364992"/>
          </a:xfrm>
          <a:prstGeom prst="rect">
            <a:avLst/>
          </a:prstGeom>
          <a:solidFill>
            <a:srgbClr val="E65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176" y="2084832"/>
            <a:ext cx="2999232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253B"/>
                </a:solidFill>
                <a:latin typeface="Aptos"/>
              </a:rPr>
              <a:t>Advanced / Debug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624328"/>
            <a:ext cx="2999232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Dati FEN, relazioni del grafo, filtri e dettagli tecnici utili alla verifica.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614416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687568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A4 e B non sono disponibili come modelli eseguibili in questa specifica UI.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62/68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5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1371600" cy="5120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CA59F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01952"/>
            <a:ext cx="1088136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Aptos"/>
              </a:rPr>
              <a:t>Conclusioni e limiti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163824"/>
            <a:ext cx="97840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Adesso possiamo interpretare ciò che è stato dimostrato, senza confonderlo con ipotesi ancora aperte.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GRAPHMATE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63/68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IN BREVE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Le tre scoperte principali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GraphMate è un progetto di ricerca e un software per analizzare puzzle di scacchi.</a:t>
            </a:r>
            <a:endParaRPr lang="it-IT" sz="1300"/>
          </a:p>
        </p:txBody>
      </p:sp>
      <p:sp>
        <p:nvSpPr>
          <p:cNvPr id="6" name="Box"/>
          <p:cNvSpPr/>
          <p:nvPr/>
        </p:nvSpPr>
        <p:spPr>
          <a:xfrm>
            <a:off x="640080" y="1783080"/>
            <a:ext cx="34290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Box"/>
          <p:cNvSpPr/>
          <p:nvPr/>
        </p:nvSpPr>
        <p:spPr>
          <a:xfrm>
            <a:off x="640080" y="1783080"/>
            <a:ext cx="73152" cy="3154680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8"/>
          <p:cNvSpPr txBox="1"/>
          <p:nvPr/>
        </p:nvSpPr>
        <p:spPr>
          <a:xfrm>
            <a:off x="859536" y="1965960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800" b="1">
                <a:solidFill>
                  <a:srgbClr val="18A6A6"/>
                </a:solidFill>
                <a:latin typeface="Aptos"/>
              </a:rPr>
              <a:t>01</a:t>
            </a:r>
            <a:endParaRPr lang="it-IT" sz="1800"/>
          </a:p>
        </p:txBody>
      </p:sp>
      <p:sp>
        <p:nvSpPr>
          <p:cNvPr id="9" name="Text 9"/>
          <p:cNvSpPr txBox="1"/>
          <p:nvPr/>
        </p:nvSpPr>
        <p:spPr>
          <a:xfrm>
            <a:off x="1371600" y="194767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Le mosse legali contano</a:t>
            </a:r>
            <a:endParaRPr lang="it-IT" sz="1600"/>
          </a:p>
        </p:txBody>
      </p:sp>
      <p:sp>
        <p:nvSpPr>
          <p:cNvPr id="10" name="Text 10"/>
          <p:cNvSpPr txBox="1"/>
          <p:nvPr/>
        </p:nvSpPr>
        <p:spPr>
          <a:xfrm>
            <a:off x="868680" y="2441448"/>
            <a:ext cx="3017520" cy="235000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Il primo modello (A) riconosce la mossa giusta nel 39,6% dei casi. A3 considera direttamente le mosse consentite e arriva al 67,6%.</a:t>
            </a:r>
            <a:endParaRPr lang="it-IT" sz="1150"/>
          </a:p>
        </p:txBody>
      </p:sp>
      <p:sp>
        <p:nvSpPr>
          <p:cNvPr id="11" name="Box"/>
          <p:cNvSpPr/>
          <p:nvPr/>
        </p:nvSpPr>
        <p:spPr>
          <a:xfrm>
            <a:off x="4370832" y="1783080"/>
            <a:ext cx="34290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"/>
          <p:cNvSpPr/>
          <p:nvPr/>
        </p:nvSpPr>
        <p:spPr>
          <a:xfrm>
            <a:off x="4370832" y="1783080"/>
            <a:ext cx="73152" cy="3154680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3"/>
          <p:cNvSpPr txBox="1"/>
          <p:nvPr/>
        </p:nvSpPr>
        <p:spPr>
          <a:xfrm>
            <a:off x="4590288" y="1965960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800" b="1">
                <a:solidFill>
                  <a:srgbClr val="F2A93B"/>
                </a:solidFill>
                <a:latin typeface="Aptos"/>
              </a:rPr>
              <a:t>02</a:t>
            </a:r>
            <a:endParaRPr lang="it-IT" sz="1800"/>
          </a:p>
        </p:txBody>
      </p:sp>
      <p:sp>
        <p:nvSpPr>
          <p:cNvPr id="14" name="Text 14"/>
          <p:cNvSpPr txBox="1"/>
          <p:nvPr/>
        </p:nvSpPr>
        <p:spPr>
          <a:xfrm>
            <a:off x="5102352" y="194767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Il tempo non aiuta, per ora</a:t>
            </a:r>
            <a:endParaRPr lang="it-IT" sz="1600"/>
          </a:p>
        </p:txBody>
      </p:sp>
      <p:sp>
        <p:nvSpPr>
          <p:cNvPr id="15" name="Text 15"/>
          <p:cNvSpPr txBox="1"/>
          <p:nvPr/>
        </p:nvSpPr>
        <p:spPr>
          <a:xfrm>
            <a:off x="4599432" y="2441448"/>
            <a:ext cx="3017520" cy="235000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Abbiamo aggiunto tempi di riflessione simulati nel modello B. In questo esperimento, però, B va leggermente peggio di A3 (−1,58 punti).</a:t>
            </a:r>
            <a:endParaRPr lang="it-IT" sz="1150"/>
          </a:p>
        </p:txBody>
      </p:sp>
      <p:sp>
        <p:nvSpPr>
          <p:cNvPr id="16" name="Box"/>
          <p:cNvSpPr/>
          <p:nvPr/>
        </p:nvSpPr>
        <p:spPr>
          <a:xfrm>
            <a:off x="8101583" y="1783080"/>
            <a:ext cx="34290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7" name="Box"/>
          <p:cNvSpPr/>
          <p:nvPr/>
        </p:nvSpPr>
        <p:spPr>
          <a:xfrm>
            <a:off x="8101583" y="1783080"/>
            <a:ext cx="73152" cy="3154680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8"/>
          <p:cNvSpPr txBox="1"/>
          <p:nvPr/>
        </p:nvSpPr>
        <p:spPr>
          <a:xfrm>
            <a:off x="8321040" y="1965960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800" b="1">
                <a:solidFill>
                  <a:srgbClr val="E85D75"/>
                </a:solidFill>
                <a:latin typeface="Aptos"/>
              </a:rPr>
              <a:t>03</a:t>
            </a:r>
            <a:endParaRPr lang="it-IT" sz="1800"/>
          </a:p>
        </p:txBody>
      </p:sp>
      <p:sp>
        <p:nvSpPr>
          <p:cNvPr id="19" name="Text 19"/>
          <p:cNvSpPr txBox="1"/>
          <p:nvPr/>
        </p:nvSpPr>
        <p:spPr>
          <a:xfrm>
            <a:off x="8833104" y="194767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Conta anche cosa succede dopo</a:t>
            </a:r>
            <a:endParaRPr lang="it-IT" sz="1600"/>
          </a:p>
        </p:txBody>
      </p:sp>
      <p:sp>
        <p:nvSpPr>
          <p:cNvPr id="20" name="Text 20"/>
          <p:cNvSpPr txBox="1"/>
          <p:nvPr/>
        </p:nvSpPr>
        <p:spPr>
          <a:xfrm>
            <a:off x="8330183" y="2441448"/>
            <a:ext cx="3017520" cy="235000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A4 osserva le posizioni create dalle cinque mosse migliori di A3 e sceglie di nuovo: raggiunge l’85,4% su Lichess.</a:t>
            </a:r>
            <a:endParaRPr lang="it-IT" sz="1150"/>
          </a:p>
        </p:txBody>
      </p:sp>
      <p:sp>
        <p:nvSpPr>
          <p:cNvPr id="21" name="Text 21"/>
          <p:cNvSpPr txBox="1"/>
          <p:nvPr/>
        </p:nvSpPr>
        <p:spPr>
          <a:xfrm>
            <a:off x="822960" y="5376672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/>
          <a:lstStyle/>
          <a:p>
            <a:pPr algn="ctr"/>
            <a:r>
              <a:rPr lang="it-IT" sz="1800" b="1">
                <a:solidFill>
                  <a:srgbClr val="172033"/>
                </a:solidFill>
                <a:latin typeface="Aptos"/>
              </a:rPr>
              <a:t>Il messaggio centrale: rispettare le regole e osservare le conseguenze migliora le predizioni.</a:t>
            </a:r>
            <a:endParaRPr lang="it-IT" sz="1800"/>
          </a:p>
        </p:txBody>
      </p:sp>
      <p:sp>
        <p:nvSpPr>
          <p:cNvPr id="22" name="Text 22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64/68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RISPOSTE ALLE DUE DOMANDE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Che cosa possiamo concludere?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Le risposte valgono per i modelli, i puzzle e le regole di valutazione realmente usati.</a:t>
            </a:r>
            <a:endParaRPr lang="it-IT" sz="1300"/>
          </a:p>
        </p:txBody>
      </p:sp>
      <p:sp>
        <p:nvSpPr>
          <p:cNvPr id="6" name="Box"/>
          <p:cNvSpPr/>
          <p:nvPr/>
        </p:nvSpPr>
        <p:spPr>
          <a:xfrm>
            <a:off x="685800" y="1600200"/>
            <a:ext cx="5303520" cy="36118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377DFF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7"/>
          <p:cNvSpPr txBox="1"/>
          <p:nvPr/>
        </p:nvSpPr>
        <p:spPr>
          <a:xfrm>
            <a:off x="960120" y="1874519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000" b="1">
                <a:solidFill>
                  <a:srgbClr val="377DFF"/>
                </a:solidFill>
                <a:latin typeface="Aptos"/>
              </a:rPr>
              <a:t>RQ1</a:t>
            </a:r>
            <a:endParaRPr lang="it-IT" sz="2000"/>
          </a:p>
        </p:txBody>
      </p:sp>
      <p:sp>
        <p:nvSpPr>
          <p:cNvPr id="8" name="Text 8"/>
          <p:cNvSpPr txBox="1"/>
          <p:nvPr/>
        </p:nvSpPr>
        <p:spPr>
          <a:xfrm>
            <a:off x="960120" y="251460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800" b="1">
                <a:solidFill>
                  <a:srgbClr val="172033"/>
                </a:solidFill>
                <a:latin typeface="Aptos"/>
              </a:rPr>
              <a:t>Sui puzzle Lichess, B sceglie la mossa esatta molto più spesso dei due Qwen testati con il formato rigoroso.</a:t>
            </a:r>
            <a:endParaRPr lang="it-IT" sz="1800"/>
          </a:p>
        </p:txBody>
      </p:sp>
      <p:sp>
        <p:nvSpPr>
          <p:cNvPr id="9" name="Text 9"/>
          <p:cNvSpPr txBox="1"/>
          <p:nvPr/>
        </p:nvSpPr>
        <p:spPr>
          <a:xfrm>
            <a:off x="960120" y="3794760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400" b="1">
                <a:solidFill>
                  <a:srgbClr val="5C6B7A"/>
                </a:solidFill>
                <a:latin typeface="Aptos"/>
              </a:rPr>
              <a:t>B Top‑1 65,981%</a:t>
            </a:r>
            <a:endParaRPr lang="it-IT" sz="1400"/>
          </a:p>
          <a:p>
            <a:pPr algn="ctr"/>
            <a:r>
              <a:rPr lang="it-IT" sz="1400" b="1">
                <a:solidFill>
                  <a:srgbClr val="5C6B7A"/>
                </a:solidFill>
                <a:latin typeface="Aptos"/>
              </a:rPr>
              <a:t>Qwen 4B 0,070% · Qwen 9B 0,116%</a:t>
            </a:r>
            <a:endParaRPr lang="it-IT" sz="1400"/>
          </a:p>
        </p:txBody>
      </p:sp>
      <p:sp>
        <p:nvSpPr>
          <p:cNvPr id="10" name="Text 10"/>
          <p:cNvSpPr txBox="1"/>
          <p:nvPr/>
        </p:nvSpPr>
        <p:spPr>
          <a:xfrm>
            <a:off x="960120" y="466344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000" b="1">
                <a:solidFill>
                  <a:srgbClr val="E85D75"/>
                </a:solidFill>
                <a:latin typeface="Aptos"/>
              </a:rPr>
              <a:t>Per i puzzle classici manca il timing: il confronto non si estende a YACPDB.</a:t>
            </a:r>
            <a:endParaRPr lang="it-IT" sz="1000"/>
          </a:p>
        </p:txBody>
      </p:sp>
      <p:sp>
        <p:nvSpPr>
          <p:cNvPr id="11" name="Box"/>
          <p:cNvSpPr/>
          <p:nvPr/>
        </p:nvSpPr>
        <p:spPr>
          <a:xfrm>
            <a:off x="6217920" y="1600200"/>
            <a:ext cx="5303520" cy="3611880"/>
          </a:xfrm>
          <a:prstGeom prst="roundRect">
            <a:avLst/>
          </a:prstGeom>
          <a:solidFill>
            <a:srgbClr val="FFF4DD"/>
          </a:solidFill>
          <a:ln w="12700">
            <a:solidFill>
              <a:srgbClr val="F2A93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2"/>
          <p:cNvSpPr txBox="1"/>
          <p:nvPr/>
        </p:nvSpPr>
        <p:spPr>
          <a:xfrm>
            <a:off x="6492240" y="1874519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000" b="1">
                <a:solidFill>
                  <a:srgbClr val="F2A93B"/>
                </a:solidFill>
                <a:latin typeface="Aptos"/>
              </a:rPr>
              <a:t>RQ2</a:t>
            </a:r>
            <a:endParaRPr lang="it-IT" sz="2000"/>
          </a:p>
        </p:txBody>
      </p:sp>
      <p:sp>
        <p:nvSpPr>
          <p:cNvPr id="13" name="Text 13"/>
          <p:cNvSpPr txBox="1"/>
          <p:nvPr/>
        </p:nvSpPr>
        <p:spPr>
          <a:xfrm>
            <a:off x="6492240" y="251460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800" b="1">
                <a:solidFill>
                  <a:srgbClr val="172033"/>
                </a:solidFill>
                <a:latin typeface="Aptos"/>
              </a:rPr>
              <a:t>No: i tempi simulati introdotti in B non migliorano A3.</a:t>
            </a:r>
            <a:endParaRPr lang="it-IT" sz="1800"/>
          </a:p>
        </p:txBody>
      </p:sp>
      <p:sp>
        <p:nvSpPr>
          <p:cNvPr id="14" name="Text 14"/>
          <p:cNvSpPr txBox="1"/>
          <p:nvPr/>
        </p:nvSpPr>
        <p:spPr>
          <a:xfrm>
            <a:off x="6492240" y="3794760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400" b="1">
                <a:solidFill>
                  <a:srgbClr val="5C6B7A"/>
                </a:solidFill>
                <a:latin typeface="Aptos"/>
              </a:rPr>
              <a:t>Δ Top‑1 = −1,580 pp</a:t>
            </a:r>
            <a:endParaRPr lang="it-IT" sz="1400"/>
          </a:p>
          <a:p>
            <a:pPr algn="ctr"/>
            <a:r>
              <a:rPr lang="it-IT" sz="1400" b="1">
                <a:solidFill>
                  <a:srgbClr val="5C6B7A"/>
                </a:solidFill>
                <a:latin typeface="Aptos"/>
              </a:rPr>
              <a:t>p = 1,2238×10⁻⁶</a:t>
            </a:r>
            <a:endParaRPr lang="it-IT" sz="1400"/>
          </a:p>
        </p:txBody>
      </p:sp>
      <p:sp>
        <p:nvSpPr>
          <p:cNvPr id="15" name="Text 15"/>
          <p:cNvSpPr txBox="1"/>
          <p:nvPr/>
        </p:nvSpPr>
        <p:spPr>
          <a:xfrm>
            <a:off x="6492240" y="466344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ctr"/>
            <a:r>
              <a:rPr lang="it-IT" sz="1000" b="1">
                <a:solidFill>
                  <a:srgbClr val="E85D75"/>
                </a:solidFill>
                <a:latin typeface="Aptos"/>
              </a:rPr>
              <a:t>Non abbiamo dimostrato che il tempo reale sia inutile.</a:t>
            </a:r>
            <a:endParaRPr lang="it-IT" sz="1000"/>
          </a:p>
        </p:txBody>
      </p:sp>
      <p:sp>
        <p:nvSpPr>
          <p:cNvPr id="16" name="Text 16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65/68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3"/>
          <p:cNvSpPr txBox="1"/>
          <p:nvPr/>
        </p:nvSpPr>
        <p:spPr>
          <a:xfrm>
            <a:off x="594360" y="29260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900" b="1">
                <a:solidFill>
                  <a:srgbClr val="18A6A6"/>
                </a:solidFill>
                <a:latin typeface="Aptos"/>
              </a:rPr>
              <a:t>COSA NON DIMOSTRANO GLI ESPERIMENTI</a:t>
            </a:r>
            <a:endParaRPr lang="it-IT" sz="900"/>
          </a:p>
        </p:txBody>
      </p:sp>
      <p:sp>
        <p:nvSpPr>
          <p:cNvPr id="4" name="Text 4"/>
          <p:cNvSpPr txBox="1"/>
          <p:nvPr/>
        </p:nvSpPr>
        <p:spPr>
          <a:xfrm>
            <a:off x="594360" y="61264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2600" b="1">
                <a:solidFill>
                  <a:srgbClr val="172033"/>
                </a:solidFill>
                <a:latin typeface="Aptos"/>
              </a:rPr>
              <a:t>I limiti da tenere presenti</a:t>
            </a:r>
            <a:endParaRPr lang="it-IT" sz="2600"/>
          </a:p>
        </p:txBody>
      </p:sp>
      <p:sp>
        <p:nvSpPr>
          <p:cNvPr id="5" name="Text 5"/>
          <p:cNvSpPr txBox="1"/>
          <p:nvPr/>
        </p:nvSpPr>
        <p:spPr>
          <a:xfrm>
            <a:off x="612648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300" b="0">
                <a:solidFill>
                  <a:srgbClr val="5C6B7A"/>
                </a:solidFill>
                <a:latin typeface="Aptos"/>
              </a:rPr>
              <a:t>I risultati sono solidi nel contesto studiato, ma non vanno estesi automaticamente a ogni partita o modello.</a:t>
            </a:r>
            <a:endParaRPr lang="it-IT" sz="1300"/>
          </a:p>
        </p:txBody>
      </p:sp>
      <p:sp>
        <p:nvSpPr>
          <p:cNvPr id="6" name="Box"/>
          <p:cNvSpPr/>
          <p:nvPr/>
        </p:nvSpPr>
        <p:spPr>
          <a:xfrm>
            <a:off x="685800" y="1536192"/>
            <a:ext cx="342900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Box"/>
          <p:cNvSpPr/>
          <p:nvPr/>
        </p:nvSpPr>
        <p:spPr>
          <a:xfrm>
            <a:off x="685800" y="1536192"/>
            <a:ext cx="73152" cy="1481328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8"/>
          <p:cNvSpPr txBox="1"/>
          <p:nvPr/>
        </p:nvSpPr>
        <p:spPr>
          <a:xfrm>
            <a:off x="914400" y="170078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Timing sintetico</a:t>
            </a:r>
            <a:endParaRPr lang="it-IT" sz="1600"/>
          </a:p>
        </p:txBody>
      </p:sp>
      <p:sp>
        <p:nvSpPr>
          <p:cNvPr id="9" name="Text 9"/>
          <p:cNvSpPr txBox="1"/>
          <p:nvPr/>
        </p:nvSpPr>
        <p:spPr>
          <a:xfrm>
            <a:off x="914400" y="2194560"/>
            <a:ext cx="3017520" cy="6766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Sono tempi simulati dal rating, non osservazioni reali.</a:t>
            </a:r>
            <a:endParaRPr lang="it-IT" sz="1150"/>
          </a:p>
        </p:txBody>
      </p:sp>
      <p:sp>
        <p:nvSpPr>
          <p:cNvPr id="10" name="Box"/>
          <p:cNvSpPr/>
          <p:nvPr/>
        </p:nvSpPr>
        <p:spPr>
          <a:xfrm>
            <a:off x="4370832" y="1536192"/>
            <a:ext cx="342900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Box"/>
          <p:cNvSpPr/>
          <p:nvPr/>
        </p:nvSpPr>
        <p:spPr>
          <a:xfrm>
            <a:off x="4370832" y="1536192"/>
            <a:ext cx="73152" cy="1481328"/>
          </a:xfrm>
          <a:prstGeom prst="roundRect">
            <a:avLst/>
          </a:prstGeom>
          <a:solidFill>
            <a:srgbClr val="377D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2"/>
          <p:cNvSpPr txBox="1"/>
          <p:nvPr/>
        </p:nvSpPr>
        <p:spPr>
          <a:xfrm>
            <a:off x="4599432" y="170078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Una sola mossa</a:t>
            </a:r>
            <a:endParaRPr lang="it-IT" sz="1600"/>
          </a:p>
        </p:txBody>
      </p:sp>
      <p:sp>
        <p:nvSpPr>
          <p:cNvPr id="13" name="Text 13"/>
          <p:cNvSpPr txBox="1"/>
          <p:nvPr/>
        </p:nvSpPr>
        <p:spPr>
          <a:xfrm>
            <a:off x="4599432" y="2194560"/>
            <a:ext cx="3017520" cy="6766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Prevedere la prima mossa non significa risolvere da soli tutta la variante.</a:t>
            </a:r>
            <a:endParaRPr lang="it-IT" sz="1150"/>
          </a:p>
        </p:txBody>
      </p:sp>
      <p:sp>
        <p:nvSpPr>
          <p:cNvPr id="14" name="Box"/>
          <p:cNvSpPr/>
          <p:nvPr/>
        </p:nvSpPr>
        <p:spPr>
          <a:xfrm>
            <a:off x="8055864" y="1536192"/>
            <a:ext cx="342900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5" name="Box"/>
          <p:cNvSpPr/>
          <p:nvPr/>
        </p:nvSpPr>
        <p:spPr>
          <a:xfrm>
            <a:off x="8055864" y="1536192"/>
            <a:ext cx="73152" cy="1481328"/>
          </a:xfrm>
          <a:prstGeom prst="roundRect">
            <a:avLst/>
          </a:prstGeom>
          <a:solidFill>
            <a:srgbClr val="7868E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6"/>
          <p:cNvSpPr txBox="1"/>
          <p:nvPr/>
        </p:nvSpPr>
        <p:spPr>
          <a:xfrm>
            <a:off x="8284464" y="170078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Puzzle diversi</a:t>
            </a:r>
            <a:endParaRPr lang="it-IT" sz="1600"/>
          </a:p>
        </p:txBody>
      </p:sp>
      <p:sp>
        <p:nvSpPr>
          <p:cNvPr id="17" name="Text 17"/>
          <p:cNvSpPr txBox="1"/>
          <p:nvPr/>
        </p:nvSpPr>
        <p:spPr>
          <a:xfrm>
            <a:off x="8284464" y="2194560"/>
            <a:ext cx="3017520" cy="6766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YACPDB ha problemi con caratteristiche differenti da Lichess.</a:t>
            </a:r>
            <a:endParaRPr lang="it-IT" sz="1150"/>
          </a:p>
        </p:txBody>
      </p:sp>
      <p:sp>
        <p:nvSpPr>
          <p:cNvPr id="18" name="Box"/>
          <p:cNvSpPr/>
          <p:nvPr/>
        </p:nvSpPr>
        <p:spPr>
          <a:xfrm>
            <a:off x="685800" y="3364991"/>
            <a:ext cx="342900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9" name="Box"/>
          <p:cNvSpPr/>
          <p:nvPr/>
        </p:nvSpPr>
        <p:spPr>
          <a:xfrm>
            <a:off x="685800" y="3364991"/>
            <a:ext cx="73152" cy="1481328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20"/>
          <p:cNvSpPr txBox="1"/>
          <p:nvPr/>
        </p:nvSpPr>
        <p:spPr>
          <a:xfrm>
            <a:off x="914400" y="352958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Campione limitato</a:t>
            </a:r>
            <a:endParaRPr lang="it-IT" sz="1600"/>
          </a:p>
        </p:txBody>
      </p:sp>
      <p:sp>
        <p:nvSpPr>
          <p:cNvPr id="21" name="Text 21"/>
          <p:cNvSpPr txBox="1"/>
          <p:nvPr/>
        </p:nvSpPr>
        <p:spPr>
          <a:xfrm>
            <a:off x="914400" y="4023359"/>
            <a:ext cx="3017520" cy="6766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200 composizioni, soltanto 20 per profondità.</a:t>
            </a:r>
            <a:endParaRPr lang="it-IT" sz="1150"/>
          </a:p>
        </p:txBody>
      </p:sp>
      <p:sp>
        <p:nvSpPr>
          <p:cNvPr id="22" name="Box"/>
          <p:cNvSpPr/>
          <p:nvPr/>
        </p:nvSpPr>
        <p:spPr>
          <a:xfrm>
            <a:off x="4370832" y="3364991"/>
            <a:ext cx="342900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3" name="Box"/>
          <p:cNvSpPr/>
          <p:nvPr/>
        </p:nvSpPr>
        <p:spPr>
          <a:xfrm>
            <a:off x="4370832" y="3364991"/>
            <a:ext cx="73152" cy="1481328"/>
          </a:xfrm>
          <a:prstGeom prst="roundRect">
            <a:avLst/>
          </a:prstGeom>
          <a:solidFill>
            <a:srgbClr val="18A6A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4"/>
          <p:cNvSpPr txBox="1"/>
          <p:nvPr/>
        </p:nvSpPr>
        <p:spPr>
          <a:xfrm>
            <a:off x="4599432" y="352958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Confronto con LLM</a:t>
            </a:r>
            <a:endParaRPr lang="it-IT" sz="1600"/>
          </a:p>
        </p:txBody>
      </p:sp>
      <p:sp>
        <p:nvSpPr>
          <p:cNvPr id="25" name="Text 25"/>
          <p:cNvSpPr txBox="1"/>
          <p:nvPr/>
        </p:nvSpPr>
        <p:spPr>
          <a:xfrm>
            <a:off x="4599432" y="4023359"/>
            <a:ext cx="3017520" cy="6766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La prova richiede una singola mossa in un formato molto preciso.</a:t>
            </a:r>
            <a:endParaRPr lang="it-IT" sz="1150"/>
          </a:p>
        </p:txBody>
      </p:sp>
      <p:sp>
        <p:nvSpPr>
          <p:cNvPr id="26" name="Box"/>
          <p:cNvSpPr/>
          <p:nvPr/>
        </p:nvSpPr>
        <p:spPr>
          <a:xfrm>
            <a:off x="8055864" y="3364991"/>
            <a:ext cx="342900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7" name="Box"/>
          <p:cNvSpPr/>
          <p:nvPr/>
        </p:nvSpPr>
        <p:spPr>
          <a:xfrm>
            <a:off x="8055864" y="3364991"/>
            <a:ext cx="73152" cy="1481328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8"/>
          <p:cNvSpPr txBox="1"/>
          <p:nvPr/>
        </p:nvSpPr>
        <p:spPr>
          <a:xfrm>
            <a:off x="8284464" y="352958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600" b="1">
                <a:solidFill>
                  <a:srgbClr val="172033"/>
                </a:solidFill>
                <a:latin typeface="Aptos"/>
              </a:rPr>
              <a:t>Solo cinque proposte</a:t>
            </a:r>
            <a:endParaRPr lang="it-IT" sz="1600"/>
          </a:p>
        </p:txBody>
      </p:sp>
      <p:sp>
        <p:nvSpPr>
          <p:cNvPr id="29" name="Text 29"/>
          <p:cNvSpPr txBox="1"/>
          <p:nvPr/>
        </p:nvSpPr>
        <p:spPr>
          <a:xfrm>
            <a:off x="8284464" y="4023359"/>
            <a:ext cx="3017520" cy="6766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t"/>
          <a:lstStyle/>
          <a:p>
            <a:pPr algn="l"/>
            <a:r>
              <a:rPr lang="it-IT" sz="1150" b="0">
                <a:solidFill>
                  <a:srgbClr val="5C6B7A"/>
                </a:solidFill>
                <a:latin typeface="Aptos"/>
              </a:rPr>
              <a:t>A4 dipende dalle cinque mosse selezionate da A3.</a:t>
            </a:r>
            <a:endParaRPr lang="it-IT" sz="1150"/>
          </a:p>
        </p:txBody>
      </p:sp>
      <p:sp>
        <p:nvSpPr>
          <p:cNvPr id="30" name="Text 30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66/68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/>
          <a:lstStyle/>
          <a:p>
            <a:pPr algn="l"/>
            <a:r>
              <a:rPr lang="it-IT" sz="800" b="1">
                <a:solidFill>
                  <a:srgbClr val="5C6B7A"/>
                </a:solidFill>
                <a:latin typeface="Aptos"/>
              </a:rPr>
              <a:t>GRAPHMATE</a:t>
            </a:r>
            <a:endParaRPr lang="it-IT" sz="8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A59F"/>
                </a:solidFill>
                <a:latin typeface="Aptos"/>
              </a:rPr>
              <a:t>ARTEFATTI E RIPRODUCIBILITÀ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972800" cy="5852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53B"/>
                </a:solidFill>
                <a:latin typeface="Aptos"/>
              </a:rPr>
              <a:t>Come abbiamo conservato i modelli addestrati?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927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97789"/>
                </a:solidFill>
                <a:latin typeface="Aptos"/>
              </a:rPr>
              <a:t>Per ogni modello abbiamo mantenuto una versione ufficiale, distinta dai nuovi tentativi di riaddestramento.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C6B7A"/>
                </a:solidFill>
                <a:latin typeface="Aptos"/>
              </a:rPr>
              <a:t>GRAPHMATE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1920240"/>
            <a:ext cx="5129784" cy="33741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2376" y="1920240"/>
            <a:ext cx="68580" cy="3374136"/>
          </a:xfrm>
          <a:prstGeom prst="rect">
            <a:avLst/>
          </a:prstGeom>
          <a:solidFill>
            <a:srgbClr val="3C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103120"/>
            <a:ext cx="4690872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253B"/>
                </a:solidFill>
                <a:latin typeface="Aptos"/>
              </a:rPr>
              <a:t>Checkpoint congelati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642616"/>
            <a:ext cx="4690872" cy="25511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I checkpoint best.pt si trovano sotto checkpoints/model_a, model_a2, model_a3, model_b e model_a4. Gli hash SHA-256 permettono di verificare l’identità del file.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20240"/>
            <a:ext cx="5129784" cy="33741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0488" y="1920240"/>
            <a:ext cx="68580" cy="3374136"/>
          </a:xfrm>
          <a:prstGeom prst="rect">
            <a:avLst/>
          </a:prstGeom>
          <a:solidFill>
            <a:srgbClr val="1CA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9944" y="2103120"/>
            <a:ext cx="4690872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253B"/>
                </a:solidFill>
                <a:latin typeface="Aptos"/>
              </a:rPr>
              <a:t>Come ripetere il lavoro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642616"/>
            <a:ext cx="4690872" cy="25511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A40"/>
                </a:solidFill>
                <a:latin typeface="Aptos"/>
              </a:rPr>
              <a:t>Le configurazioni ufficiali sono in configs/. Il README documenta le procedure di preparazione dati, addestramento, valutazione e analisi. I nuovi run sono salvati separatamente.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808208" cy="402336"/>
          </a:xfrm>
          <a:prstGeom prst="roundRect">
            <a:avLst>
              <a:gd name="adj" fmla="val 17000"/>
            </a:avLst>
          </a:prstGeom>
          <a:solidFill>
            <a:srgbClr val="E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696712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53B"/>
                </a:solidFill>
                <a:latin typeface="Aptos"/>
              </a:rPr>
              <a:t>Ripetere la configurazione non garantisce un checkpoint identico al byte.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697789"/>
                </a:solidFill>
                <a:latin typeface="Aptos"/>
              </a:rPr>
              <a:t>67/68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5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27432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A59F"/>
                </a:solidFill>
                <a:latin typeface="Aptos"/>
              </a:rPr>
              <a:t>GRAPHMATE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0241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ptos"/>
              </a:rPr>
              <a:t>Grazie!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4901184"/>
            <a:ext cx="950976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A59F"/>
                </a:solidFill>
                <a:latin typeface="Aptos"/>
              </a:rPr>
              <a:t>Modelli · dataset · WebUI · esperimenti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37376"/>
            <a:ext cx="137160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GRAPHMATE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68/68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Mate">
  <a:themeElements>
    <a:clrScheme name="GraphMate">
      <a:dk1>
        <a:srgbClr val="172033"/>
      </a:dk1>
      <a:lt1>
        <a:srgbClr val="FFFFFF"/>
      </a:lt1>
      <a:dk2>
        <a:srgbClr val="142033"/>
      </a:dk2>
      <a:lt2>
        <a:srgbClr val="F7F8FA"/>
      </a:lt2>
      <a:accent1>
        <a:srgbClr val="18A6A6"/>
      </a:accent1>
      <a:accent2>
        <a:srgbClr val="377DFF"/>
      </a:accent2>
      <a:accent3>
        <a:srgbClr val="7868E6"/>
      </a:accent3>
      <a:accent4>
        <a:srgbClr val="F2A93B"/>
      </a:accent4>
      <a:accent5>
        <a:srgbClr val="E85D75"/>
      </a:accent5>
      <a:accent6>
        <a:srgbClr val="35B779"/>
      </a:accent6>
      <a:hlink>
        <a:srgbClr val="377DFF"/>
      </a:hlink>
      <a:folHlink>
        <a:srgbClr val="7868E6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GraphMate">
      <a: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tint val="90000"/>
            <a:satMod val="120000"/>
          </a:schemeClr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b55eef-7018-4674-a3d7-cc0db06d545c}" enabled="0" method="" siteId="{13b55eef-7018-4674-a3d7-cc0db06d54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6955</Words>
  <Application>Microsoft Office PowerPoint</Application>
  <PresentationFormat>Widescreen</PresentationFormat>
  <Paragraphs>1042</Paragraphs>
  <Slides>68</Slides>
  <Notes>68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68</vt:i4>
      </vt:variant>
    </vt:vector>
  </HeadingPairs>
  <TitlesOfParts>
    <vt:vector size="70" baseType="lpstr">
      <vt:lpstr>Aptos</vt:lpstr>
      <vt:lpstr>GraphMate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GraphMate — Presentazione tecnica</dc:title>
  <dc:creator>GraphMate project</dc:creator>
  <cp:keywords>GNN, GAT, chess, PyTorch Geometric</cp:keywords>
  <dc:description>Presentazione tecnica editabile in italiano.</dc:description>
  <cp:lastModifiedBy>Alessandro Zappavigna</cp:lastModifiedBy>
  <cp:revision>2</cp:revision>
  <dcterms:modified xsi:type="dcterms:W3CDTF">2026-10-17T07:16:12Z</dcterms:modified>
</cp:coreProperties>
</file>